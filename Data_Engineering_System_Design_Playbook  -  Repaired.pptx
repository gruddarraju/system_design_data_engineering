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3438" autoAdjust="0"/>
  </p:normalViewPr>
  <p:slideViewPr>
    <p:cSldViewPr snapToGrid="0" snapToObjects="1">
      <p:cViewPr varScale="1">
        <p:scale>
          <a:sx n="70" d="100"/>
          <a:sy n="70" d="100"/>
        </p:scale>
        <p:origin x="2154"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8979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Introduce the topic and set expectations for the presentation.</a:t>
            </a:r>
          </a:p>
          <a:p>
            <a:endParaRPr/>
          </a:p>
          <a:p>
            <a:r>
              <a:t>How to explain it:</a:t>
            </a:r>
          </a:p>
          <a:p>
            <a:r>
              <a:t>This presentation is a practical guide for data engineering system design. The goal is not to memorize one architecture. The goal is to learn a repeatable way to take an unclear business problem and turn it into a design that is scalable, reliable, and understandable.</a:t>
            </a:r>
          </a:p>
          <a:p>
            <a:endParaRPr/>
          </a:p>
          <a:p>
            <a:r>
              <a:t>Tell the audience that the deck moves from requirements to architecture, data modeling, storage, quality, and operations. It also includes an end-to-end food-delivery example and working Spark/Delta Lake patterns.</a:t>
            </a:r>
          </a:p>
          <a:p>
            <a:endParaRPr/>
          </a:p>
          <a:p>
            <a:r>
              <a:t>Key takeaway:</a:t>
            </a:r>
          </a:p>
          <a:p>
            <a:r>
              <a:t>Good system design begins with understanding the problem. Technology choices come later.</a:t>
            </a:r>
          </a:p>
          <a:p>
            <a:endParaRPr/>
          </a:p>
          <a:p>
            <a:r>
              <a:t>AI ERP relevance:</a:t>
            </a:r>
          </a:p>
          <a:p>
            <a:r>
              <a:t>For an AI ERP company, this framework connects systems of record such as finance, HR, procurement, and inventory to analytics, forecasting, copilots, and controlled automation.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what the learner should be able to do after using the deck.</a:t>
            </a:r>
          </a:p>
          <a:p>
            <a:endParaRPr/>
          </a:p>
          <a:p>
            <a:r>
              <a:t>How to explain it:</a:t>
            </a:r>
          </a:p>
          <a:p>
            <a:r>
              <a:t>There are four main skills. First, frame the problem by asking who needs the data and how quickly they need it. Second, estimate the size of the system using simple calculations. Third, choose an architecture by comparing trade-offs instead of choosing favorite tools. Fourth, design for real production conditions such as failures, duplicates, late data, schema changes, and backfills.</a:t>
            </a:r>
          </a:p>
          <a:p>
            <a:endParaRPr/>
          </a:p>
          <a:p>
            <a:r>
              <a:t>Simple example:</a:t>
            </a:r>
          </a:p>
          <a:p>
            <a:r>
              <a:t>A daily finance report and a live fraud alert need very different pipelines even if both use the same source data.</a:t>
            </a:r>
          </a:p>
          <a:p>
            <a:endParaRPr/>
          </a:p>
          <a:p>
            <a:r>
              <a:t>Key takeaway:</a:t>
            </a:r>
          </a:p>
          <a:p>
            <a:r>
              <a:t>A complete answer covers both the normal data flow and how the system behaves when something goes wrong.</a:t>
            </a:r>
          </a:p>
          <a:p>
            <a:endParaRPr/>
          </a:p>
          <a:p>
            <a:r>
              <a:t>AI ERP relevance:</a:t>
            </a:r>
          </a:p>
          <a:p>
            <a:r>
              <a:t>Apply the four skills to ERP by clarifying each module and persona, sizing both tenant-fleet and largest-tenant load, and treating financial correctness and tenant isolation as design invariants.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Show that a system design interview tests reasoning, not diagram-drawing skill.</a:t>
            </a:r>
          </a:p>
          <a:p>
            <a:endParaRPr/>
          </a:p>
          <a:p>
            <a:r>
              <a:t>How to explain it:</a:t>
            </a:r>
          </a:p>
          <a:p>
            <a:r>
              <a:t>Every important architecture decision should form a clear chain. Start with a requirement, identify the constraint, make a decision, explain the trade-off, and add a control for the risk.</a:t>
            </a:r>
          </a:p>
          <a:p>
            <a:endParaRPr/>
          </a:p>
          <a:p>
            <a:r>
              <a:t>Use the restaurant dashboard example on the slide. The two-minute freshness requirement leads to streaming. Streaming adds state and operational complexity. Checkpoints, replayable events, monitoring, and a durable lakehouse path control those risks.</a:t>
            </a:r>
          </a:p>
          <a:p>
            <a:endParaRPr/>
          </a:p>
          <a:p>
            <a:r>
              <a:t>Avoid saying only, “I will use Kafka and Spark.” Explain why those components are needed and what disadvantages they introduce.</a:t>
            </a:r>
          </a:p>
          <a:p>
            <a:endParaRPr/>
          </a:p>
          <a:p>
            <a:r>
              <a:t>Key takeaway:</a:t>
            </a:r>
          </a:p>
          <a:p>
            <a:r>
              <a:t>A strong design is a well-supported argument. The diagram is only a visual summary of that argument.</a:t>
            </a:r>
          </a:p>
          <a:p>
            <a:endParaRPr/>
          </a:p>
          <a:p>
            <a:r>
              <a:t>AI ERP relevance:</a:t>
            </a:r>
          </a:p>
          <a:p>
            <a:r>
              <a:t>An ERP answer should explicitly connect a business requirement such as month-end finality or payroll confidentiality to architecture, trade-offs, and controls.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Introduce the six-step framework used throughout the deck.</a:t>
            </a:r>
          </a:p>
          <a:p>
            <a:endParaRPr/>
          </a:p>
          <a:p>
            <a:r>
              <a:t>How to explain it:</a:t>
            </a:r>
          </a:p>
          <a:p>
            <a:r>
              <a:t>Work through the steps in order. Requirements tell us what success means. Pipeline design decides how data moves and is processed. Data modeling gives the information a useful structure. Storage decisions control durability, cost, and query performance. Quality and observability make the output trustworthy. Operations make the system safe to rerun, scale, and recover.</a:t>
            </a:r>
          </a:p>
          <a:p>
            <a:endParaRPr/>
          </a:p>
          <a:p>
            <a:r>
              <a:t>The process is not completely one-way. If a storage estimate becomes too expensive, we may revisit retention requirements. If a strict latency target is not valuable enough, we may replace streaming with cheaper batch processing.</a:t>
            </a:r>
          </a:p>
          <a:p>
            <a:endParaRPr/>
          </a:p>
          <a:p>
            <a:r>
              <a:t>Key takeaway:</a:t>
            </a:r>
          </a:p>
          <a:p>
            <a:r>
              <a:t>Use the six steps as a checklist so that reliability and operations are not forgotten at the end.</a:t>
            </a:r>
          </a:p>
          <a:p>
            <a:endParaRPr/>
          </a:p>
          <a:p>
            <a:r>
              <a:t>AI ERP relevance:</a:t>
            </a:r>
          </a:p>
          <a:p>
            <a:r>
              <a:t>Use the six steps for both the data platform and the AI feature: requirements, movement, semantic model, storage/index, quality/evaluation, and operations/governance.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Provide a simple way to manage time during a 45-minute interview.</a:t>
            </a:r>
          </a:p>
          <a:p>
            <a:endParaRPr/>
          </a:p>
          <a:p>
            <a:r>
              <a:t>How to explain it:</a:t>
            </a:r>
          </a:p>
          <a:p>
            <a:r>
              <a:t>Spend the first few minutes clarifying the problem. Then perform rough sizing calculations. Draw the complete high-level data flow before spending time on details. Deep-dive into the most important components, followed by reliability and scaling. Finish by summarizing trade-offs and open assumptions.</a:t>
            </a:r>
          </a:p>
          <a:p>
            <a:endParaRPr/>
          </a:p>
          <a:p>
            <a:r>
              <a:t>The exact minute values are guidance, not strict rules. The important checkpoint is around minute 20: the interviewer should already understand the end-to-end flow and how it serves the users.</a:t>
            </a:r>
          </a:p>
          <a:p>
            <a:endParaRPr/>
          </a:p>
          <a:p>
            <a:r>
              <a:t>Simple example:</a:t>
            </a:r>
          </a:p>
          <a:p>
            <a:r>
              <a:t>Do not spend 20 minutes choosing Kafka partitions before showing where processed data is stored and how users query it.</a:t>
            </a:r>
          </a:p>
          <a:p>
            <a:endParaRPr/>
          </a:p>
          <a:p>
            <a:r>
              <a:t>Key takeaway:</a:t>
            </a:r>
          </a:p>
          <a:p>
            <a:r>
              <a:t>Breadth first, then depth. Complete the design before optimizing one small area.</a:t>
            </a:r>
          </a:p>
          <a:p>
            <a:endParaRPr/>
          </a:p>
          <a:p>
            <a:r>
              <a:t>AI ERP relevance:</a:t>
            </a:r>
          </a:p>
          <a:p>
            <a:r>
              <a:t>In an ERP interview, reserve time to discuss ledger reconciliation, tenant isolation, authorization-aware AI retrieval, and human approval for write-back actions.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Give a reusable set of questions for requirements gathering.</a:t>
            </a:r>
          </a:p>
          <a:p>
            <a:endParaRPr/>
          </a:p>
          <a:p>
            <a:r>
              <a:t>How to explain it:</a:t>
            </a:r>
          </a:p>
          <a:p>
            <a:r>
              <a:t>Ask WHO consumes the data, WHAT they need, HOW they access it, WHEN it must be available, HOW MUCH data exists, and HOW LONG it must be retained. These questions turn a vague prompt into measurable design inputs.</a:t>
            </a:r>
          </a:p>
          <a:p>
            <a:endParaRPr/>
          </a:p>
          <a:p>
            <a:r>
              <a:t>Write assumptions down when the interviewer does not provide an answer. For example, say, “I will assume the peak load is four times the average and events must be replayable for 30 days.” This makes your reasoning visible and gives the interviewer a chance to correct the assumption.</a:t>
            </a:r>
          </a:p>
          <a:p>
            <a:endParaRPr/>
          </a:p>
          <a:p>
            <a:r>
              <a:t>Key takeaway:</a:t>
            </a:r>
          </a:p>
          <a:p>
            <a:r>
              <a:t>Do not start with tools. First identify the users, outputs, service levels, scale, and constraints that the tools must satisfy.</a:t>
            </a:r>
          </a:p>
          <a:p>
            <a:endParaRPr/>
          </a:p>
          <a:p>
            <a:r>
              <a:t>AI ERP relevance:</a:t>
            </a:r>
          </a:p>
          <a:p>
            <a:r>
              <a:t>Add ERP questions: which modules, legal entities, currencies, fiscal calendars, tenant tiers, user roles, and regulated fields are in scope?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Clarify the difference between functional and non-functional requirements.</a:t>
            </a:r>
          </a:p>
          <a:p>
            <a:endParaRPr/>
          </a:p>
          <a:p>
            <a:r>
              <a:t>How to explain it:</a:t>
            </a:r>
          </a:p>
          <a:p>
            <a:r>
              <a:t>Functional requirements describe what the system produces: dashboards, tables, APIs, alerts, or ML features. Non-functional requirements describe how well the system must work: freshness, availability, correctness, security, retention, and cost.</a:t>
            </a:r>
          </a:p>
          <a:p>
            <a:endParaRPr/>
          </a:p>
          <a:p>
            <a:r>
              <a:t>Convert vague statements into measurable targets. “Real time” might mean under two minutes at the 95th percentile. “Reliable” might mean 99.9 percent serving availability with no silent data loss. “Accurate” might mean daily totals reconcile with the source within 0.1 percent.</a:t>
            </a:r>
          </a:p>
          <a:p>
            <a:endParaRPr/>
          </a:p>
          <a:p>
            <a:r>
              <a:t>Simple example:</a:t>
            </a:r>
          </a:p>
          <a:p>
            <a:r>
              <a:t>“Show restaurant sales” is functional. “Refresh within two minutes and remain available during dinner rush” is non-functional.</a:t>
            </a:r>
          </a:p>
          <a:p>
            <a:endParaRPr/>
          </a:p>
          <a:p>
            <a:r>
              <a:t>Key takeaway:</a:t>
            </a:r>
          </a:p>
          <a:p>
            <a:r>
              <a:t>Non-functional requirements usually create the strongest architecture constraints.</a:t>
            </a:r>
          </a:p>
          <a:p>
            <a:endParaRPr/>
          </a:p>
          <a:p>
            <a:r>
              <a:t>AI ERP relevance:</a:t>
            </a:r>
          </a:p>
          <a:p>
            <a:r>
              <a:t>ERP non-functional requirements include balanced accounting, closed-period immutability, payroll privacy, tenant-level availability, data residency, and explainable AI outputs.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Demonstrate the sizing calculations expected in a data engineering design.</a:t>
            </a:r>
          </a:p>
          <a:p>
            <a:endParaRPr/>
          </a:p>
          <a:p>
            <a:r>
              <a:t>How to explain it:</a:t>
            </a:r>
          </a:p>
          <a:p>
            <a:r>
              <a:t>Start with users and behavior. Five million daily users, two sessions each, and 30 events per session produce 300 million events per day. Divide by 86,400 seconds to get about 3,472 events per second on average. Apply a peak factor; at four times average, plan for about 13,900 events per second.</a:t>
            </a:r>
          </a:p>
          <a:p>
            <a:endParaRPr/>
          </a:p>
          <a:p>
            <a:r>
              <a:t>Next calculate storage. At 700 bytes per event, the raw input is about 210 GB per day and 76.7 TB per year. Compression may reduce this, but replication, table metadata, checkpoints, and derived layers add storage.</a:t>
            </a:r>
          </a:p>
          <a:p>
            <a:endParaRPr/>
          </a:p>
          <a:p>
            <a:r>
              <a:t>Key takeaway:</a:t>
            </a:r>
          </a:p>
          <a:p>
            <a:r>
              <a:t>Show your assumptions and round sensibly. Approximate math is enough when it leads to a clear design decision.</a:t>
            </a:r>
          </a:p>
          <a:p>
            <a:endParaRPr/>
          </a:p>
          <a:p>
            <a:r>
              <a:t>AI ERP relevance:</a:t>
            </a:r>
          </a:p>
          <a:p>
            <a:r>
              <a:t>Repeat the sizing at two levels: total SaaS fleet and largest tenant. Include month-end bursts, document volume, CDC record size, and vector-index growth.</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Connect calculations to actual architecture decisions.</a:t>
            </a:r>
          </a:p>
          <a:p>
            <a:endParaRPr/>
          </a:p>
          <a:p>
            <a:r>
              <a:t>How to explain it:</a:t>
            </a:r>
          </a:p>
          <a:p>
            <a:r>
              <a:t>A number is useful only when it changes the design. Peak events per second influence event-bus partitions and consumer parallelism. Daily bytes influence object storage, file compaction, and incremental processing. High-cardinality or uneven keys can create hot partitions. A two-minute SLA requires continuous processing and a fast serving store. Long retention creates lifecycle and restore requirements.</a:t>
            </a:r>
          </a:p>
          <a:p>
            <a:endParaRPr/>
          </a:p>
          <a:p>
            <a:r>
              <a:t>After every estimate, ask, “What does this number force me to do?” Also ask what must be measured in production, because interview assumptions can be wrong.</a:t>
            </a:r>
          </a:p>
          <a:p>
            <a:endParaRPr/>
          </a:p>
          <a:p>
            <a:r>
              <a:t>Key takeaway:</a:t>
            </a:r>
          </a:p>
          <a:p>
            <a:r>
              <a:t>Translate each estimate into capacity, cost, performance, or reliability consequences. Do not stop after writing the arithmetic.</a:t>
            </a:r>
          </a:p>
          <a:p>
            <a:endParaRPr/>
          </a:p>
          <a:p>
            <a:r>
              <a:t>AI ERP relevance:</a:t>
            </a:r>
          </a:p>
          <a:p>
            <a:r>
              <a:t>For ERP, estimates should influence tenant quotas, hot-ledger partitioning, close-period capacity, cache isolation, index sharding, and per-tenant cost attribution.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how to choose between batch and streaming.</a:t>
            </a:r>
          </a:p>
          <a:p>
            <a:endParaRPr/>
          </a:p>
          <a:p>
            <a:r>
              <a:t>How to explain it:</a:t>
            </a:r>
          </a:p>
          <a:p>
            <a:r>
              <a:t>Start with the freshness requirement. If users can wait hours or a day, batch is usually simpler and cheaper. If they need updates within seconds or minutes, streaming may be required. Then check whether processing is stateful, such as windowed counts, joins, or deduplication. Stateful streaming needs checkpoints, timeouts, watermarks, and careful recovery.</a:t>
            </a:r>
          </a:p>
          <a:p>
            <a:endParaRPr/>
          </a:p>
          <a:p>
            <a:r>
              <a:t>Batch systems still should be incremental. They should process only new or changed partitions rather than rereading all history every time.</a:t>
            </a:r>
          </a:p>
          <a:p>
            <a:endParaRPr/>
          </a:p>
          <a:p>
            <a:r>
              <a:t>Simple example:</a:t>
            </a:r>
          </a:p>
          <a:p>
            <a:r>
              <a:t>A daily executive report fits batch. A dashboard showing active deliveries during dinner rush needs streaming.</a:t>
            </a:r>
          </a:p>
          <a:p>
            <a:endParaRPr/>
          </a:p>
          <a:p>
            <a:r>
              <a:t>Key takeaway:</a:t>
            </a:r>
          </a:p>
          <a:p>
            <a:r>
              <a:t>Choose the simplest processing model that meets the SLA. Streaming is valuable, but it brings additional operational responsibilities.</a:t>
            </a:r>
          </a:p>
          <a:p>
            <a:endParaRPr/>
          </a:p>
          <a:p>
            <a:r>
              <a:t>AI ERP relevance:</a:t>
            </a:r>
          </a:p>
          <a:p>
            <a:r>
              <a:t>ERP often needs streaming for inventory and operations, while financial close and regulatory outputs use controlled batch finalization and reconciliation.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Compare batch and streaming in an easy, practical way.</a:t>
            </a:r>
          </a:p>
          <a:p>
            <a:endParaRPr/>
          </a:p>
          <a:p>
            <a:r>
              <a:t>How to explain it:</a:t>
            </a:r>
          </a:p>
          <a:p>
            <a:r>
              <a:t>Batch processes a bounded set of data on a schedule. It is easier to retry and reason about because the input window can be closed. Streaming processes data continuously. It reduces latency but must handle event time, out-of-order arrival, long-running state, checkpoints, and replay.</a:t>
            </a:r>
          </a:p>
          <a:p>
            <a:endParaRPr/>
          </a:p>
          <a:p>
            <a:r>
              <a:t>Many real systems use both. The live path provides recent operational values, while a batch or lakehouse path produces finalized and reconciled history.</a:t>
            </a:r>
          </a:p>
          <a:p>
            <a:endParaRPr/>
          </a:p>
          <a:p>
            <a:r>
              <a:t>When explaining cost, note that batch compute can often turn off after work completes. Streaming infrastructure is normally always running.</a:t>
            </a:r>
          </a:p>
          <a:p>
            <a:endParaRPr/>
          </a:p>
          <a:p>
            <a:r>
              <a:t>Key takeaway:</a:t>
            </a:r>
          </a:p>
          <a:p>
            <a:r>
              <a:t>Different consumers can justify different paths. A hybrid design is reasonable when it avoids forcing one SLA and cost model onto every use case.</a:t>
            </a:r>
          </a:p>
          <a:p>
            <a:endParaRPr/>
          </a:p>
          <a:p>
            <a:r>
              <a:t>AI ERP relevance:</a:t>
            </a:r>
          </a:p>
          <a:p>
            <a:r>
              <a:t>Use streaming for named operational needs, but retain a durable batch/lakehouse path to restate periods and reproduce reports as of a prior close.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three common architecture styles without treating any one as universally best.</a:t>
            </a:r>
          </a:p>
          <a:p>
            <a:endParaRPr/>
          </a:p>
          <a:p>
            <a:r>
              <a:t>How to explain it:</a:t>
            </a:r>
          </a:p>
          <a:p>
            <a:r>
              <a:t>Lambda has a fast streaming path and a separate batch path. It supports low latency and accurate historical recomputation, but logic can be duplicated. Kappa uses one streaming model and replays retained events when data must be recomputed. It reduces duplicate logic but long replays and stateful processing can be difficult. A lakehouse-centered design stores durable data in object storage with an ACID table format and lets batch and streaming engines work over the same data plane.</a:t>
            </a:r>
          </a:p>
          <a:p>
            <a:endParaRPr/>
          </a:p>
          <a:p>
            <a:r>
              <a:t>Ask two questions: Where is the durable source of truth? How is the system replayed after a bug?</a:t>
            </a:r>
          </a:p>
          <a:p>
            <a:endParaRPr/>
          </a:p>
          <a:p>
            <a:r>
              <a:t>Key takeaway:</a:t>
            </a:r>
          </a:p>
          <a:p>
            <a:r>
              <a:t>Choose an architecture based on the recovery model, operational skills, cost, and SLA—not because a pattern is fashionable.</a:t>
            </a:r>
          </a:p>
          <a:p>
            <a:endParaRPr/>
          </a:p>
          <a:p>
            <a:r>
              <a:t>AI ERP relevance:</a:t>
            </a:r>
          </a:p>
          <a:p>
            <a:r>
              <a:t>A lakehouse-centered pattern is useful for shared governed ERP history, while specialized streaming, warehouse, feature, and vector stores serve distinct workloads.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Provide a high-level architecture that can be explained from left to right.</a:t>
            </a:r>
          </a:p>
          <a:p>
            <a:endParaRPr/>
          </a:p>
          <a:p>
            <a:r>
              <a:t>How to explain it:</a:t>
            </a:r>
          </a:p>
          <a:p>
            <a:r>
              <a:t>Sources create events, database changes, or files. Ingestion safely receives and buffers the data. Processing validates, transforms, joins, and aggregates it. Storage preserves raw and curated history. Serving systems expose the result to SQL, dashboards, APIs, or machine-learning consumers.</a:t>
            </a:r>
          </a:p>
          <a:p>
            <a:endParaRPr/>
          </a:p>
          <a:p>
            <a:r>
              <a:t>Keep stages decoupled so one stage can slow down or fail without immediately breaking all others. Also mention the cross-cutting capabilities at the bottom: security, metadata, lineage, data quality, observability, cost controls, and deployment automation.</a:t>
            </a:r>
          </a:p>
          <a:p>
            <a:endParaRPr/>
          </a:p>
          <a:p>
            <a:r>
              <a:t>Key takeaway:</a:t>
            </a:r>
          </a:p>
          <a:p>
            <a:r>
              <a:t>First show the complete flow. Then choose one or two critical stages for a deeper technical discussion.</a:t>
            </a:r>
          </a:p>
          <a:p>
            <a:endParaRPr/>
          </a:p>
          <a:p>
            <a:r>
              <a:t>AI ERP relevance:</a:t>
            </a:r>
          </a:p>
          <a:p>
            <a:r>
              <a:t>In the ERP version, sources are transactional modules and documents; serving includes BI, forecasts, anomaly detection, copilots, and approval-based actions.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Bronze, Silver, and Gold as clear data contracts.</a:t>
            </a:r>
          </a:p>
          <a:p>
            <a:endParaRPr/>
          </a:p>
          <a:p>
            <a:r>
              <a:t>How to explain it:</a:t>
            </a:r>
          </a:p>
          <a:p>
            <a:r>
              <a:t>Bronze preserves source data and ingestion metadata. Its main purpose is recoverability, so avoid destructive cleaning here. Silver converts raw data into trusted, reusable entities by parsing, casting, deduplicating, and enforcing important rules. Gold provides business-ready products such as stable metrics, aggregates, and consumer-specific tables.</a:t>
            </a:r>
          </a:p>
          <a:p>
            <a:endParaRPr/>
          </a:p>
          <a:p>
            <a:r>
              <a:t>A record that cannot be parsed should normally be retained or quarantined rather than silently dropped. Gold changes should be carefully versioned because dashboards and other consumers may depend on exact names and meanings.</a:t>
            </a:r>
          </a:p>
          <a:p>
            <a:endParaRPr/>
          </a:p>
          <a:p>
            <a:r>
              <a:t>Key takeaway:</a:t>
            </a:r>
          </a:p>
          <a:p>
            <a:r>
              <a:t>Bronze lets us rebuild. Silver gives shared truth. Gold gives consumers an understandable and stable business interface.</a:t>
            </a:r>
          </a:p>
          <a:p>
            <a:endParaRPr/>
          </a:p>
          <a:p>
            <a:r>
              <a:t>AI ERP relevance:</a:t>
            </a:r>
          </a:p>
          <a:p>
            <a:r>
              <a:t>ERP Bronze should preserve CDC order and tenant identity; Silver should create canonical parties, transactions, resources, and ledgers; Gold should expose governed measures.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Show how to begin dimensional modeling with the table grain.</a:t>
            </a:r>
          </a:p>
          <a:p>
            <a:endParaRPr/>
          </a:p>
          <a:p>
            <a:r>
              <a:t>How to explain it:</a:t>
            </a:r>
          </a:p>
          <a:p>
            <a:r>
              <a:t>The grain states exactly what one row represents. In this example, one fact-table row represents one lifecycle event for one order. Measures such as amount or duration belong in the fact. Descriptive context, such as customer segment, restaurant cuisine, date, and location, belongs in dimensions.</a:t>
            </a:r>
          </a:p>
          <a:p>
            <a:endParaRPr/>
          </a:p>
          <a:p>
            <a:r>
              <a:t>After defining grain, identify keys, dimensions, and measures. Then discuss late-arriving facts and dimension history. A fact must join to the dimension version that was valid when the event happened, not necessarily the current version.</a:t>
            </a:r>
          </a:p>
          <a:p>
            <a:endParaRPr/>
          </a:p>
          <a:p>
            <a:r>
              <a:t>Key takeaway:</a:t>
            </a:r>
          </a:p>
          <a:p>
            <a:r>
              <a:t>Always state the grain before listing columns. An unclear grain causes duplicates, incorrect totals, and confusing joins.</a:t>
            </a:r>
          </a:p>
          <a:p>
            <a:endParaRPr/>
          </a:p>
          <a:p>
            <a:r>
              <a:t>AI ERP relevance:</a:t>
            </a:r>
          </a:p>
          <a:p>
            <a:r>
              <a:t>State ERP grain precisely: one journal line, invoice line, inventory movement, employee event, or order status change. Mixing grains creates incorrect balances.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Purpose:</a:t>
            </a:r>
          </a:p>
          <a:p>
            <a:r>
              <a:rPr dirty="0"/>
              <a:t>Compare common analytical modeling choices.</a:t>
            </a:r>
          </a:p>
          <a:p>
            <a:endParaRPr dirty="0"/>
          </a:p>
          <a:p>
            <a:r>
              <a:rPr dirty="0"/>
              <a:t>How to explain it:</a:t>
            </a:r>
          </a:p>
          <a:p>
            <a:r>
              <a:rPr dirty="0"/>
              <a:t>A star schema is a strong default for governed business intelligence because facts and dimensions make grain and reuse clear. A snowflake normalizes dimensions further, reducing duplication but adding joins and user complexity. A one-big-table model can simplify a specific query path but duplicates data and becomes harder to update consistently. Data Vault is useful when auditability and source-history integration are major goals, but business-facing marts are still normally required.</a:t>
            </a:r>
          </a:p>
          <a:p>
            <a:endParaRPr dirty="0"/>
          </a:p>
          <a:p>
            <a:r>
              <a:rPr dirty="0"/>
              <a:t>State both your default and the condition that would make you switch.</a:t>
            </a:r>
          </a:p>
          <a:p>
            <a:endParaRPr dirty="0"/>
          </a:p>
          <a:p>
            <a:r>
              <a:rPr dirty="0"/>
              <a:t>Simple example:</a:t>
            </a:r>
          </a:p>
          <a:p>
            <a:r>
              <a:rPr dirty="0"/>
              <a:t>Use a star for shared sales reporting. Build a carefully managed wide table only if a proven high-volume dashboard benefits from avoiding repeated joins.</a:t>
            </a:r>
          </a:p>
          <a:p>
            <a:endParaRPr dirty="0"/>
          </a:p>
          <a:p>
            <a:r>
              <a:rPr dirty="0"/>
              <a:t>Key takeaway:</a:t>
            </a:r>
          </a:p>
          <a:p>
            <a:r>
              <a:rPr dirty="0"/>
              <a:t>The model should match consumer access patterns and governance needs.</a:t>
            </a:r>
          </a:p>
          <a:p>
            <a:endParaRPr dirty="0"/>
          </a:p>
          <a:p>
            <a:r>
              <a:rPr dirty="0"/>
              <a:t>AI ERP relevance:</a:t>
            </a:r>
          </a:p>
          <a:p>
            <a:r>
              <a:rPr dirty="0"/>
              <a:t>A star schema is strong for finance and operations BI; a canonical integration model can feed it; wide tables should be limited to proven tenant-safe serving paths.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how dimension changes can be stored over time.</a:t>
            </a:r>
          </a:p>
          <a:p>
            <a:endParaRPr/>
          </a:p>
          <a:p>
            <a:r>
              <a:t>How to explain it:</a:t>
            </a:r>
          </a:p>
          <a:p>
            <a:r>
              <a:t>SCD Type 1 overwrites the old value. Use it when history is not needed, such as correcting a spelling error. SCD Type 2 inserts a new version and keeps effective start and end dates. Use it when historical reporting must show the value that was true at that time. SCD Type 3 stores only limited previous information in extra columns.</a:t>
            </a:r>
          </a:p>
          <a:p>
            <a:endParaRPr/>
          </a:p>
          <a:p>
            <a:r>
              <a:t>In the sample table, customer C55 changed from SILVER to GOLD. The old row is closed and a new current row is added. Prevent overlapping date ranges and define how late events find the correct version.</a:t>
            </a:r>
          </a:p>
          <a:p>
            <a:endParaRPr/>
          </a:p>
          <a:p>
            <a:r>
              <a:t>Key takeaway:</a:t>
            </a:r>
          </a:p>
          <a:p>
            <a:r>
              <a:t>Choose history behavior by business meaning. Not every attribute needs the same SCD strategy.</a:t>
            </a:r>
          </a:p>
          <a:p>
            <a:endParaRPr/>
          </a:p>
          <a:p>
            <a:r>
              <a:t>AI ERP relevance:</a:t>
            </a:r>
          </a:p>
          <a:p>
            <a:r>
              <a:t>ERP dimensions such as employee, supplier, chart of accounts, cost center, and legal entity often require SCD2 history for correct as-of reporting.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Distinguish file serialization formats from analytical table formats.</a:t>
            </a:r>
          </a:p>
          <a:p>
            <a:endParaRPr/>
          </a:p>
          <a:p>
            <a:r>
              <a:t>How to explain it:</a:t>
            </a:r>
          </a:p>
          <a:p>
            <a:r>
              <a:t>CSV and JSON are easy to exchange and inspect but are large and weakly typed. Avro is row-oriented and well suited to serializing individual records on event systems. Parquet and ORC are columnar, so analytical engines can read only needed columns and apply compression efficiently. Delta Lake and Iceberg are table layers over data files; they add snapshots, metadata, schema management, and transactional behavior.</a:t>
            </a:r>
          </a:p>
          <a:p>
            <a:endParaRPr/>
          </a:p>
          <a:p>
            <a:r>
              <a:t>A common design uses Avro or Protobuf for events and Parquet files managed by a Delta or Iceberg table for analytics.</a:t>
            </a:r>
          </a:p>
          <a:p>
            <a:endParaRPr/>
          </a:p>
          <a:p>
            <a:r>
              <a:t>Key takeaway:</a:t>
            </a:r>
          </a:p>
          <a:p>
            <a:r>
              <a:t>Choose the event format for safe record exchange, the file format for efficient storage, and the table format for reliable table operations.</a:t>
            </a:r>
          </a:p>
          <a:p>
            <a:endParaRPr/>
          </a:p>
          <a:p>
            <a:r>
              <a:t>AI ERP relevance:</a:t>
            </a:r>
          </a:p>
          <a:p>
            <a:r>
              <a:t>ERP CDC events may use Avro/Protobuf; analytical history may use Parquet with Delta/Iceberg; contracts and version compatibility matter across tenant customizations.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how physical data layout affects query performance and cost.</a:t>
            </a:r>
          </a:p>
          <a:p>
            <a:endParaRPr/>
          </a:p>
          <a:p>
            <a:r>
              <a:t>How to explain it:</a:t>
            </a:r>
          </a:p>
          <a:p>
            <a:r>
              <a:t>Partitioning separates data into directories or logical groups that can be skipped during a query. Date is often useful because many queries filter by time. Avoid very high-cardinality partition columns because they create too many small partitions and files. Clustering or sorting can place similar values together without a huge directory structure. Compaction combines small files, improving listing and read efficiency. Metadata maintenance removes old snapshots only after replay and time-travel requirements are considered.</a:t>
            </a:r>
          </a:p>
          <a:p>
            <a:endParaRPr/>
          </a:p>
          <a:p>
            <a:r>
              <a:t>Walk through the read path: partition pruning, file skipping, column pruning, and decompression.</a:t>
            </a:r>
          </a:p>
          <a:p>
            <a:endParaRPr/>
          </a:p>
          <a:p>
            <a:r>
              <a:t>Key takeaway:</a:t>
            </a:r>
          </a:p>
          <a:p>
            <a:r>
              <a:t>Design layout from real filter patterns and file sizes. More partitions do not automatically mean faster queries.</a:t>
            </a:r>
          </a:p>
          <a:p>
            <a:endParaRPr/>
          </a:p>
          <a:p>
            <a:r>
              <a:t>AI ERP relevance:</a:t>
            </a:r>
          </a:p>
          <a:p>
            <a:r>
              <a:t>Partition first by access and scale needs, often date plus a carefully chosen tenant/legal-entity strategy; prevent one large tenant from creating hot files or partitions.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Show that data quality rules should become stricter as data moves toward consumers.</a:t>
            </a:r>
          </a:p>
          <a:p>
            <a:endParaRPr/>
          </a:p>
          <a:p>
            <a:r>
              <a:t>How to explain it:</a:t>
            </a:r>
          </a:p>
          <a:p>
            <a:r>
              <a:t>Bronze checks whether data can be ingested and replayed. Record parse failures and source counts, and quarantine malformed data. Silver checks whether entities are trustworthy by enforcing types, uniqueness, valid values, references, and freshness. Gold checks business meaning by reconciling metrics, validating business rules, and protecting consumer SLAs.</a:t>
            </a:r>
          </a:p>
          <a:p>
            <a:endParaRPr/>
          </a:p>
          <a:p>
            <a:r>
              <a:t>Every check needs an owner, threshold, and action. Decide whether failure should alert, quarantine records, stop a pipeline, or hold publication. Silent failure is the most dangerous outcome.</a:t>
            </a:r>
          </a:p>
          <a:p>
            <a:endParaRPr/>
          </a:p>
          <a:p>
            <a:r>
              <a:t>Key takeaway:</a:t>
            </a:r>
          </a:p>
          <a:p>
            <a:r>
              <a:t>Quality is not one test at the end. It is a set of controls applied at the right layer with a clear response.</a:t>
            </a:r>
          </a:p>
          <a:p>
            <a:endParaRPr/>
          </a:p>
          <a:p>
            <a:r>
              <a:t>AI ERP relevance:</a:t>
            </a:r>
          </a:p>
          <a:p>
            <a:r>
              <a:t>Add ERP invariants such as debit equals credit, invoice totals equal lines plus tax, valid accounting periods, inventory cannot silently disappear, and tenant IDs are complete.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how data contracts prevent downstream surprises.</a:t>
            </a:r>
          </a:p>
          <a:p>
            <a:endParaRPr/>
          </a:p>
          <a:p>
            <a:r>
              <a:t>How to explain it:</a:t>
            </a:r>
          </a:p>
          <a:p>
            <a:r>
              <a:t>A contract describes structure, meaning, service levels, ownership, and change policy. Schema includes field names, data types, and nullability. Semantics explain what the fields and events mean. SLOs define freshness and availability. Ownership identifies who approves changes and responds to incidents.</a:t>
            </a:r>
          </a:p>
          <a:p>
            <a:endParaRPr/>
          </a:p>
          <a:p>
            <a:r>
              <a:t>A schema registry helps enforce structural compatibility, but it is only part of a full contract. For a breaking change, publish a new version, allow old and new versions to run together, measure migration, and retire the old version only after consumers move.</a:t>
            </a:r>
          </a:p>
          <a:p>
            <a:endParaRPr/>
          </a:p>
          <a:p>
            <a:r>
              <a:t>Key takeaway:</a:t>
            </a:r>
          </a:p>
          <a:p>
            <a:r>
              <a:t>Data contracts move quality checks closer to the producer, where problems are cheaper and easier to correct.</a:t>
            </a:r>
          </a:p>
          <a:p>
            <a:endParaRPr/>
          </a:p>
          <a:p>
            <a:r>
              <a:t>AI ERP relevance:</a:t>
            </a:r>
          </a:p>
          <a:p>
            <a:r>
              <a:t>ERP contracts must define business meaning as well as types—for example currency units, sign conventions, fiscal period, source module, and whether an amount is posted or provisional.</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what must be monitored in a production data platform.</a:t>
            </a:r>
          </a:p>
          <a:p>
            <a:endParaRPr/>
          </a:p>
          <a:p>
            <a:r>
              <a:t>How to explain it:</a:t>
            </a:r>
          </a:p>
          <a:p>
            <a:r>
              <a:t>Data telemetry measures freshness, volume, duplicates, and distribution changes. Pipeline telemetry measures job duration, event lag, watermarks, retries, and dead-letter volume. Platform telemetry measures CPU, memory, disk, shuffle, checkpoints, and service quotas. Business telemetry checks whether important numbers, such as orders or revenue, still make sense.</a:t>
            </a:r>
          </a:p>
          <a:p>
            <a:endParaRPr/>
          </a:p>
          <a:p>
            <a:r>
              <a:t>Alerts should describe user impact and point to an owner and runbook. Include lineage, affected partitions, recent deployments, and recovery steps so an engineer can act quickly.</a:t>
            </a:r>
          </a:p>
          <a:p>
            <a:endParaRPr/>
          </a:p>
          <a:p>
            <a:r>
              <a:t>Key takeaway:</a:t>
            </a:r>
          </a:p>
          <a:p>
            <a:r>
              <a:t>Observability should answer three questions: What is wrong? Who is affected? What should we do next?</a:t>
            </a:r>
          </a:p>
          <a:p>
            <a:endParaRPr/>
          </a:p>
          <a:p>
            <a:r>
              <a:t>AI ERP relevance:</a:t>
            </a:r>
          </a:p>
          <a:p>
            <a:r>
              <a:t>Monitor ERP outcomes per tenant: CDC lag, close freshness, reconciliation differences, policy denials, retrieval quality, model drift, and cost by workload.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idempotency as more than a single write command.</a:t>
            </a:r>
          </a:p>
          <a:p>
            <a:endParaRPr/>
          </a:p>
          <a:p>
            <a:r>
              <a:t>How to explain it:</a:t>
            </a:r>
          </a:p>
          <a:p>
            <a:r>
              <a:t>Idempotency means repeating the same logical work produces the same visible result. It requires a stable event or business key, deterministic transformations, an atomic write, durable progress tracking, safe retries, and reconciliation.</a:t>
            </a:r>
          </a:p>
          <a:p>
            <a:endParaRPr/>
          </a:p>
          <a:p>
            <a:r>
              <a:t>A message system may deliver an event more than once. That is acceptable if the target uses the event identity to deduplicate or upsert so the final table contains one correct record. Do not record source progress before the output commit succeeds, or the system may skip data after a failure.</a:t>
            </a:r>
          </a:p>
          <a:p>
            <a:endParaRPr/>
          </a:p>
          <a:p>
            <a:r>
              <a:t>Key takeaway:</a:t>
            </a:r>
          </a:p>
          <a:p>
            <a:r>
              <a:t>Design the rerun path before the first run. A pipeline is not idempotent merely because one component claims exactly-once behavior.</a:t>
            </a:r>
          </a:p>
          <a:p>
            <a:endParaRPr/>
          </a:p>
          <a:p>
            <a:r>
              <a:t>AI ERP relevance:</a:t>
            </a:r>
          </a:p>
          <a:p>
            <a:r>
              <a:t>ERP idempotency must cover journal postings and AI-initiated actions. Use business transaction IDs and approval/action IDs so retries cannot double-post.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Walk through an idempotent Delta Lake batch upsert.</a:t>
            </a:r>
          </a:p>
          <a:p>
            <a:endParaRPr/>
          </a:p>
          <a:p>
            <a:r>
              <a:t>How to explain it:</a:t>
            </a:r>
          </a:p>
          <a:p>
            <a:r>
              <a:t>The code first defines a compound key using order ID and event timestamp. A window keeps only the newest source row for each key. This source deduplication matters because multiple source rows matching one target row can make a merge ambiguous or incorrect.</a:t>
            </a:r>
          </a:p>
          <a:p>
            <a:endParaRPr/>
          </a:p>
          <a:p>
            <a:r>
              <a:t>The MERGE updates an existing record only when the incoming updated_at value is at least as recent as the target. Otherwise, it inserts a new record. Delta commits the change atomically, so readers do not see a partially updated table.</a:t>
            </a:r>
          </a:p>
          <a:p>
            <a:endParaRPr/>
          </a:p>
          <a:p>
            <a:r>
              <a:t>Mention remaining decisions: deletion behavior, null-safe keys, concurrent writers, and count reconciliation.</a:t>
            </a:r>
          </a:p>
          <a:p>
            <a:endParaRPr/>
          </a:p>
          <a:p>
            <a:r>
              <a:t>Key takeaway:</a:t>
            </a:r>
          </a:p>
          <a:p>
            <a:r>
              <a:t>A safe MERGE needs a correct key, one source winner per key, deterministic update rules, and an atomic target commit.</a:t>
            </a:r>
          </a:p>
          <a:p>
            <a:endParaRPr/>
          </a:p>
          <a:p>
            <a:r>
              <a:t>AI ERP relevance:</a:t>
            </a:r>
          </a:p>
          <a:p>
            <a:r>
              <a:t>For ERP MERGE keys, include tenant identity and the true business grain. Never let records from different tenants collide on a shared order or invoice ID.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a safe method for reprocessing historical data.</a:t>
            </a:r>
          </a:p>
          <a:p>
            <a:endParaRPr/>
          </a:p>
          <a:p>
            <a:r>
              <a:t>How to explain it:</a:t>
            </a:r>
          </a:p>
          <a:p>
            <a:r>
              <a:t>A backfill should use immutable Bronze input and the same transformation logic as the normal pipeline. Select a bounded date range, rebuild the Silver output, and validate row counts, checksums, and business totals. Then use replaceWhere to atomically replace only that date range.</a:t>
            </a:r>
          </a:p>
          <a:p>
            <a:endParaRPr/>
          </a:p>
          <a:p>
            <a:r>
              <a:t>Keep the run ID, code version, date range, and validation results for audit. Ensure every output record satisfies the replacement predicate so records are not accidentally written outside the intended range. Coordinate downstream refreshes because replacing history can change dashboards and aggregates.</a:t>
            </a:r>
          </a:p>
          <a:p>
            <a:endParaRPr/>
          </a:p>
          <a:p>
            <a:r>
              <a:t>Key takeaway:</a:t>
            </a:r>
          </a:p>
          <a:p>
            <a:r>
              <a:t>Backfills are planned production operations, not manual one-off scripts. Scope, validate, publish atomically, and record what changed.</a:t>
            </a:r>
          </a:p>
          <a:p>
            <a:endParaRPr/>
          </a:p>
          <a:p>
            <a:r>
              <a:t>AI ERP relevance:</a:t>
            </a:r>
          </a:p>
          <a:p>
            <a:r>
              <a:t>ERP backfills should respect closed periods, tenant maintenance windows, regulatory retention, downstream consolidations, and a formal restatement/audit process.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how to make a Spark Structured Streaming output idempotent.</a:t>
            </a:r>
          </a:p>
          <a:p>
            <a:endParaRPr/>
          </a:p>
          <a:p>
            <a:r>
              <a:t>How to explain it:</a:t>
            </a:r>
          </a:p>
          <a:p>
            <a:r>
              <a:t>The stream uses a durable checkpoint to track source progress and calls foreachBatch for each micro-batch. Inside the function, records are deduplicated and merged using a stable event ID. If the batch is attempted again, the deterministic MERGE produces the same table outcome.</a:t>
            </a:r>
          </a:p>
          <a:p>
            <a:endParaRPr/>
          </a:p>
          <a:p>
            <a:r>
              <a:t>The note on the right corrects an important API issue. Transaction options such as txnAppId and txnVersion are not normally chained onto DeltaMergeBuilder. For MERGE, rely on checkpointed input progress and idempotent merge logic. A batch ID can also be recorded in an audit ledger.</a:t>
            </a:r>
          </a:p>
          <a:p>
            <a:endParaRPr/>
          </a:p>
          <a:p>
            <a:r>
              <a:t>Key takeaway:</a:t>
            </a:r>
          </a:p>
          <a:p>
            <a:r>
              <a:t>A checkpoint controls progress. The merge key and update rules control the final table result. Both are required.</a:t>
            </a:r>
          </a:p>
          <a:p>
            <a:endParaRPr/>
          </a:p>
          <a:p>
            <a:r>
              <a:t>AI ERP relevance:</a:t>
            </a:r>
          </a:p>
          <a:p>
            <a:r>
              <a:t>A streaming ERP pipeline should preserve source transaction order, checkpoint offsets, deduplicate by tenant plus source identity, and reconcile against module control totals.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Present a safe strategy for handling changing source schemas.</a:t>
            </a:r>
          </a:p>
          <a:p>
            <a:endParaRPr/>
          </a:p>
          <a:p>
            <a:r>
              <a:t>How to explain it:</a:t>
            </a:r>
          </a:p>
          <a:p>
            <a:r>
              <a:t>Bronze should be resilient. Keep the raw payload, schema identifier, ingest timestamp, and unexpected fields so data is not lost. Silver should be explicit: cast expected types, apply defaults, quarantine invalid records, and test compatibility. Gold should be stable because dashboards and applications depend on its names and meanings.</a:t>
            </a:r>
          </a:p>
          <a:p>
            <a:endParaRPr/>
          </a:p>
          <a:p>
            <a:r>
              <a:t>Additive nullable fields are often backward-compatible. Renames, removals, type changes, and semantic changes normally require versioning and migration. Even when a platform can merge schemas automatically, the organization still needs a change policy.</a:t>
            </a:r>
          </a:p>
          <a:p>
            <a:endParaRPr/>
          </a:p>
          <a:p>
            <a:r>
              <a:t>Key takeaway:</a:t>
            </a:r>
          </a:p>
          <a:p>
            <a:r>
              <a:t>Be permissive at the edge so data survives, but strict at the trusted and business-facing layers so consumers are protected.</a:t>
            </a:r>
          </a:p>
          <a:p>
            <a:endParaRPr/>
          </a:p>
          <a:p>
            <a:r>
              <a:t>AI ERP relevance:</a:t>
            </a:r>
          </a:p>
          <a:p>
            <a:r>
              <a:t>Tenant custom fields make schema governance critical: keep a stable core, capture extensions safely, and promote only approved fields into shared semantic products.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Show practical code for controlled schema evolution.</a:t>
            </a:r>
          </a:p>
          <a:p>
            <a:endParaRPr/>
          </a:p>
          <a:p>
            <a:r>
              <a:t>How to explain it:</a:t>
            </a:r>
          </a:p>
          <a:p>
            <a:r>
              <a:t>The Bronze example uses a rescued-data column to capture fields that do not match the known schema. This prevents unexpected data from disappearing and allows the team to investigate drift. The Silver example first validates required columns and compatible types. Only then does it enable mergeSchema for an approved additive change.</a:t>
            </a:r>
          </a:p>
          <a:p>
            <a:endParaRPr/>
          </a:p>
          <a:p>
            <a:r>
              <a:t>Avoid enabling global automatic schema merge as a convenience. It may allow surprising or weakly related data into important tables. Use a production gate: compatibility test, owner approval, migration plan, consumer validation, rollout, and drift monitoring.</a:t>
            </a:r>
          </a:p>
          <a:p>
            <a:endParaRPr/>
          </a:p>
          <a:p>
            <a:r>
              <a:t>Key takeaway:</a:t>
            </a:r>
          </a:p>
          <a:p>
            <a:r>
              <a:t>Automatic schema capability is a tool, not a governance policy. Validate and approve changes before trusted layers evolve.</a:t>
            </a:r>
          </a:p>
          <a:p>
            <a:endParaRPr/>
          </a:p>
          <a:p>
            <a:r>
              <a:t>AI ERP relevance:</a:t>
            </a:r>
          </a:p>
          <a:p>
            <a:r>
              <a:t>Use rescued data for observation, not as a permanent substitute for contracts. ERP schema changes should pass module-owner, data, security, and downstream compatibility checks.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how the system handles failures, disaster recovery, and major growth.</a:t>
            </a:r>
          </a:p>
          <a:p>
            <a:endParaRPr/>
          </a:p>
          <a:p>
            <a:r>
              <a:t>How to explain it:</a:t>
            </a:r>
          </a:p>
          <a:p>
            <a:r>
              <a:t>For each failure, name four things: the failure domain, detection signal, recovery action, and possible data-loss boundary. Consumer crashes need durable checkpoints. Poison records need quarantine and replay. Regional outages need replicated data and tested failover. Ten-times traffic needs partition and consumer scaling plus hot-key analysis. Bad deployments need versioning and rollback. Corrupt output needs snapshots and rebuild from Bronze.</a:t>
            </a:r>
          </a:p>
          <a:p>
            <a:endParaRPr/>
          </a:p>
          <a:p>
            <a:r>
              <a:t>RPO is the maximum acceptable data loss. RTO is the maximum acceptable recovery time. Product features do not prove these targets; recovery drills do.</a:t>
            </a:r>
          </a:p>
          <a:p>
            <a:endParaRPr/>
          </a:p>
          <a:p>
            <a:r>
              <a:t>Key takeaway:</a:t>
            </a:r>
          </a:p>
          <a:p>
            <a:r>
              <a:t>A reliable design includes a tested recovery story for the most important failure modes.</a:t>
            </a:r>
          </a:p>
          <a:p>
            <a:endParaRPr/>
          </a:p>
          <a:p>
            <a:r>
              <a:t>AI ERP relevance:</a:t>
            </a:r>
          </a:p>
          <a:p>
            <a:r>
              <a:t>ERP disaster recovery should classify source ledgers and audit evidence as higher priority than rebuildable dashboards, features, embeddings, and predictions.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Introduce the end-to-end food-delivery design problem and quantify it.</a:t>
            </a:r>
          </a:p>
          <a:p>
            <a:endParaRPr/>
          </a:p>
          <a:p>
            <a:r>
              <a:t>How to explain it:</a:t>
            </a:r>
          </a:p>
          <a:p>
            <a:r>
              <a:t>There are two consumers. Restaurant partners need operational metrics in under two minutes. Executives need accurate daily history. Five million orders with six lifecycle events produce 30 million events per day. This is about 350 events per second on average, with a supplied peak of about 833 events per second. Raw data is roughly 30 GB per day at one KB per event.</a:t>
            </a:r>
          </a:p>
          <a:p>
            <a:endParaRPr/>
          </a:p>
          <a:p>
            <a:r>
              <a:t>Challenge assumptions politely. The stated peak is only about 2.4 times the average, so promotions, regional concentration, retries, and future growth may require more headroom.</a:t>
            </a:r>
          </a:p>
          <a:p>
            <a:endParaRPr/>
          </a:p>
          <a:p>
            <a:r>
              <a:t>Key takeaway:</a:t>
            </a:r>
          </a:p>
          <a:p>
            <a:r>
              <a:t>Different SLAs justify different serving paths, while durable raw data provides one foundation for replay and reconciliation.</a:t>
            </a:r>
          </a:p>
          <a:p>
            <a:endParaRPr/>
          </a:p>
          <a:p>
            <a:r>
              <a:t>AI ERP relevance:</a:t>
            </a:r>
          </a:p>
          <a:p>
            <a:r>
              <a:t>Treat the food-delivery example as an operational ERP analogy: replace restaurants with tenants or business units and orders with invoices, shipments, or work orders.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Walk through the proposed food-delivery architecture from source to consumer.</a:t>
            </a:r>
          </a:p>
          <a:p>
            <a:endParaRPr/>
          </a:p>
          <a:p>
            <a:r>
              <a:t>How to explain it:</a:t>
            </a:r>
          </a:p>
          <a:p>
            <a:r>
              <a:t>Order services publish lifecycle events to Kafka using order ID as the key to preserve per-order ordering. The streaming path parses, validates, deduplicates, and calculates recent metrics. It writes live values to Redis or a low-latency OLAP store for restaurant dashboards.</a:t>
            </a:r>
          </a:p>
          <a:p>
            <a:endParaRPr/>
          </a:p>
          <a:p>
            <a:r>
              <a:t>At the same time, raw events land in Bronze. Silver creates clean, conformed entities, and Gold creates finalized business metrics for executive reporting. The lakehouse path provides history, backfills, and reconciliation when late events revise live values.</a:t>
            </a:r>
          </a:p>
          <a:p>
            <a:endParaRPr/>
          </a:p>
          <a:p>
            <a:r>
              <a:t>Mention the cross-cutting controls: contracts, catalog, lineage, quality, monitoring, checkpoints, replay, and access control.</a:t>
            </a:r>
          </a:p>
          <a:p>
            <a:endParaRPr/>
          </a:p>
          <a:p>
            <a:r>
              <a:t>Key takeaway:</a:t>
            </a:r>
          </a:p>
          <a:p>
            <a:r>
              <a:t>The live path serves speed; the lakehouse path provides durability, correctness, and historical reproducibility.</a:t>
            </a:r>
          </a:p>
          <a:p>
            <a:endParaRPr/>
          </a:p>
          <a:p>
            <a:r>
              <a:t>AI ERP relevance:</a:t>
            </a:r>
          </a:p>
          <a:p>
            <a:r>
              <a:t>For AI ERP, extend the architecture with tenant policy enforcement, canonical business semantics, feature/model lineage, and permission-filtered document retrieval.</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Demonstrate that the design handles more than the happy path.</a:t>
            </a:r>
          </a:p>
          <a:p>
            <a:endParaRPr/>
          </a:p>
          <a:p>
            <a:r>
              <a:t>How to explain it:</a:t>
            </a:r>
          </a:p>
          <a:p>
            <a:r>
              <a:t>Trace six scenarios. A normal event flows through validation, streaming, serving, and Bronze archival. A late event uses event time and may revise a recent window. Duplicate delivery is controlled by the event key and idempotent MERGE. A bad schema is blocked or quarantined. A backfill rebuilds bounded history from Bronze and publishes atomically. A ten-times traffic spike is handled with more partitions and consumers, while stale-but-labeled data can provide graceful degradation.</a:t>
            </a:r>
          </a:p>
          <a:p>
            <a:endParaRPr/>
          </a:p>
          <a:p>
            <a:r>
              <a:t>Use one event as a test: can it be traced, replayed, and explained without creating a duplicate?</a:t>
            </a:r>
          </a:p>
          <a:p>
            <a:endParaRPr/>
          </a:p>
          <a:p>
            <a:r>
              <a:t>Key takeaway:</a:t>
            </a:r>
          </a:p>
          <a:p>
            <a:r>
              <a:t>A credible architecture explains normal flow, late data, duplicates, failure, replay, and scaling.</a:t>
            </a:r>
          </a:p>
          <a:p>
            <a:endParaRPr/>
          </a:p>
          <a:p>
            <a:r>
              <a:t>AI ERP relevance:</a:t>
            </a:r>
          </a:p>
          <a:p>
            <a:r>
              <a:t>Add ERP failure scenarios: late journal corrections, reopened periods, tenant key rotation, role changes during cached AI sessions, and partial multi-module transactions.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Give the presenter a simple sentence pattern for explaining decisions.</a:t>
            </a:r>
          </a:p>
          <a:p>
            <a:endParaRPr/>
          </a:p>
          <a:p>
            <a:r>
              <a:t>How to explain it:</a:t>
            </a:r>
          </a:p>
          <a:p>
            <a:r>
              <a:t>For every major choice, say: Because of this requirement, I choose this component or pattern. This provides a benefit. It also creates a cost or risk. I control that risk with a specific mitigation.</a:t>
            </a:r>
          </a:p>
          <a:p>
            <a:endParaRPr/>
          </a:p>
          <a:p>
            <a:r>
              <a:t>Use the worked example. A two-minute SLA leads to streaming. Streaming gives continuous updates but adds state and always-on operations. Bounded windows, checkpoints, lag alerts, retained events, and lakehouse reconciliation reduce those risks.</a:t>
            </a:r>
          </a:p>
          <a:p>
            <a:endParaRPr/>
          </a:p>
          <a:p>
            <a:r>
              <a:t>This format prevents a tool-list answer and makes trade-offs visible. Also say what is intentionally out of scope until the interviewer asks.</a:t>
            </a:r>
          </a:p>
          <a:p>
            <a:endParaRPr/>
          </a:p>
          <a:p>
            <a:r>
              <a:t>Key takeaway:</a:t>
            </a:r>
          </a:p>
          <a:p>
            <a:r>
              <a:t>Requirement, decision, benefit, cost, mitigation—repeat this structure throughout the interview.</a:t>
            </a:r>
          </a:p>
          <a:p>
            <a:endParaRPr/>
          </a:p>
          <a:p>
            <a:r>
              <a:t>AI ERP relevance:</a:t>
            </a:r>
          </a:p>
          <a:p>
            <a:r>
              <a:t>A strong ERP narration begins with invariants such as tenant isolation and financial balance before naming Kafka, Spark, a lakehouse, a vector store, or an LLM.</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Provide a final completeness check for a design answer.</a:t>
            </a:r>
          </a:p>
          <a:p>
            <a:endParaRPr/>
          </a:p>
          <a:p>
            <a:r>
              <a:t>How to explain it:</a:t>
            </a:r>
          </a:p>
          <a:p>
            <a:r>
              <a:t>Review six categories. Requirements should name users, outputs, measurable SLOs, retention, and security. Scale should cover average and peak throughput, storage, growth, and skew. Architecture should show the complete flow and explain batch or streaming. Data design should state grain, keys, model, format, and layout. Reliability should cover quality, replay, idempotency, backfills, schema change, and disaster recovery. Trade-offs should include cost, complexity, bottlenecks, and alternatives.</a:t>
            </a:r>
          </a:p>
          <a:p>
            <a:endParaRPr/>
          </a:p>
          <a:p>
            <a:r>
              <a:t>If an item is unknown, do not hide it. State it as an assumption or open question and describe how you would validate it.</a:t>
            </a:r>
          </a:p>
          <a:p>
            <a:endParaRPr/>
          </a:p>
          <a:p>
            <a:r>
              <a:t>Key takeaway:</a:t>
            </a:r>
          </a:p>
          <a:p>
            <a:r>
              <a:t>A transparent gap is better than an unsupported claim.</a:t>
            </a:r>
          </a:p>
          <a:p>
            <a:endParaRPr/>
          </a:p>
          <a:p>
            <a:r>
              <a:t>AI ERP relevance:</a:t>
            </a:r>
          </a:p>
          <a:p>
            <a:r>
              <a:t>Use this scorecard per ERP workload and per AI use case; a platform can meet dashboard SLAs while failing authorization, auditability, or financial finality.</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Offer a one-page template that can be copied onto a whiteboard.</a:t>
            </a:r>
          </a:p>
          <a:p>
            <a:endParaRPr/>
          </a:p>
          <a:p>
            <a:r>
              <a:t>How to explain it:</a:t>
            </a:r>
          </a:p>
          <a:p>
            <a:r>
              <a:t>Create six areas before solving the prompt. Write users and outputs first. Add service levels and constraints. Perform scale calculations. Draw the complete data flow. Define data grain, keys, models, formats, and layout. Finally, add operational controls such as quality, monitoring, replay, backfills, schema evolution, and disaster recovery.</a:t>
            </a:r>
          </a:p>
          <a:p>
            <a:endParaRPr/>
          </a:p>
          <a:p>
            <a:r>
              <a:t>At the end, identify the likely bottleneck at ten-times scale, the largest correctness risk, the largest cost driver, an alternative architecture, and any unresolved assumptions.</a:t>
            </a:r>
          </a:p>
          <a:p>
            <a:endParaRPr/>
          </a:p>
          <a:p>
            <a:r>
              <a:t>Key takeaway:</a:t>
            </a:r>
          </a:p>
          <a:p>
            <a:r>
              <a:t>The template keeps the discussion organized and prevents important production topics from being forgotten.</a:t>
            </a:r>
          </a:p>
          <a:p>
            <a:endParaRPr/>
          </a:p>
          <a:p>
            <a:r>
              <a:t>AI ERP relevance:</a:t>
            </a:r>
          </a:p>
          <a:p>
            <a:r>
              <a:t>Add three boxes to the template when needed: tenant-isolation model, business invariants, and AI authorization/evaluation/write-back controls.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Summarize the most important lessons from the presentation.</a:t>
            </a:r>
          </a:p>
          <a:p>
            <a:endParaRPr/>
          </a:p>
          <a:p>
            <a:r>
              <a:t>How to explain it:</a:t>
            </a:r>
          </a:p>
          <a:p>
            <a:r>
              <a:t>Begin with users and measurable service levels. Estimate peak load and storage before choosing technology. Prefer the simplest architecture that satisfies the requirement. Define data grain, history, schema contracts, and access patterns. Plan reruns, replay, backfills, and migrations as normal system behavior. Explain every trade-off using a requirement and a mitigation.</a:t>
            </a:r>
          </a:p>
          <a:p>
            <a:endParaRPr/>
          </a:p>
          <a:p>
            <a:r>
              <a:t>Remind the audience that complexity is not a sign of quality. A smaller batch architecture can be the best answer for a daily report. A streaming architecture is justified only when its lower latency creates real business value.</a:t>
            </a:r>
          </a:p>
          <a:p>
            <a:endParaRPr/>
          </a:p>
          <a:p>
            <a:r>
              <a:t>Key takeaway:</a:t>
            </a:r>
          </a:p>
          <a:p>
            <a:r>
              <a:t>The best design is understandable, measurable, recoverable, and no more complicated than necessary.</a:t>
            </a:r>
          </a:p>
          <a:p>
            <a:endParaRPr/>
          </a:p>
          <a:p>
            <a:r>
              <a:t>AI ERP relevance:</a:t>
            </a:r>
          </a:p>
          <a:p>
            <a:r>
              <a:t>For AI ERP, the simplest acceptable design must still preserve transactional truth, tenant boundaries, semantic consistency, evidence, and safe human-controlled actions.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why an AI-powered ERP platform is a harder design problem than a standard analytics pipeline.</a:t>
            </a:r>
          </a:p>
          <a:p>
            <a:endParaRPr/>
          </a:p>
          <a:p>
            <a:r>
              <a:t>How to explain it:</a:t>
            </a:r>
          </a:p>
          <a:p>
            <a:r>
              <a:t>ERP is a system of record. Incorrect or missing transactions can change financial statements, payroll, tax, inventory, or customer commitments. It is also multi-tenant SaaS, so one customer's data must never appear in another customer's query, cache, model context, vector result, trace, or support workflow. Operational users need fresh data, while auditors need reproducible history. AI copilots add retrieval, model, evaluation, and action-control requirements.</a:t>
            </a:r>
          </a:p>
          <a:p>
            <a:endParaRPr/>
          </a:p>
          <a:p>
            <a:r>
              <a:t>Describe the four pillars together. Transactional truth supplies trusted facts. Tenant isolation controls every data path. Operational analytics provides timely decisions. AI copilots use governed context and should cite evidence or abstain.</a:t>
            </a:r>
          </a:p>
          <a:p>
            <a:endParaRPr/>
          </a:p>
          <a:p>
            <a:r>
              <a:t>Key takeaway:</a:t>
            </a:r>
          </a:p>
          <a:p>
            <a:r>
              <a:t>An AI ERP design is not just a lakehouse plus an LLM. It is a governed connection from authoritative transactions to permission-aware decisions and actions.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Show that an AI ERP platform contains several workloads with different service levels.</a:t>
            </a:r>
          </a:p>
          <a:p>
            <a:endParaRPr/>
          </a:p>
          <a:p>
            <a:r>
              <a:t>How to explain it:</a:t>
            </a:r>
          </a:p>
          <a:p>
            <a:r>
              <a:t>Financial close values correctness, restatement, and audit evidence more than second-level latency. Operations dashboards need low CDC lag and predictable serving performance. Forecasting requires reproducible point-in-time features rather than only current values. A copilot needs interactive response time, but it also needs authorized, fresh, cited evidence. Audit workloads may run infrequently but require long retention and immutable lineage.</a:t>
            </a:r>
          </a:p>
          <a:p>
            <a:endParaRPr/>
          </a:p>
          <a:p>
            <a:r>
              <a:t>Do not put every workload into one database. Use shared canonical data, governance, tenant identity, and metrics, then choose a warehouse, operational OLAP store, feature store, vector index, or archive according to the access pattern.</a:t>
            </a:r>
          </a:p>
          <a:p>
            <a:endParaRPr/>
          </a:p>
          <a:p>
            <a:r>
              <a:t>Key takeaway:</a:t>
            </a:r>
          </a:p>
          <a:p>
            <a:r>
              <a:t>Shared truth does not require one serving technology. Match each workload to its latency, consistency, query, and isolation needs.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Present an end-to-end reference architecture for ERP data, analytics, machine learning, and copilots.</a:t>
            </a:r>
          </a:p>
          <a:p>
            <a:endParaRPr/>
          </a:p>
          <a:p>
            <a:r>
              <a:t>How to explain it:</a:t>
            </a:r>
          </a:p>
          <a:p>
            <a:r>
              <a:t>Transactional ERP modules emit CDC records and domain events with source offsets, transaction IDs, schemas, and tenant identity. Documents use a separate OCR and parsing path. Bronze preserves original changes and files. Silver maps module-specific records into canonical ERP entities. Gold supplies governed measures and features.</a:t>
            </a:r>
          </a:p>
          <a:p>
            <a:endParaRPr/>
          </a:p>
          <a:p>
            <a:r>
              <a:t>The semantic layer serves finance and operations BI. The feature store supports reproducible model training and scoring. The vector index contains document chunks and metadata with mandatory tenant and ACL filters. An AI gateway performs authorization, retrieval, prompt controls, citation, caching, and audit before the copilot responds or proposes an action.</a:t>
            </a:r>
          </a:p>
          <a:p>
            <a:endParaRPr/>
          </a:p>
          <a:p>
            <a:r>
              <a:t>Cross-cutting controls must follow the data across every plane.</a:t>
            </a:r>
          </a:p>
          <a:p>
            <a:endParaRPr/>
          </a:p>
          <a:p>
            <a:r>
              <a:t>Key takeaway:</a:t>
            </a:r>
          </a:p>
          <a:p>
            <a:r>
              <a:t>Keep transactional authority, analytical truth, and AI serving separate, but connect them with identity, semantics, lineage, and policy.</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the main multi-tenant storage and compute isolation choices.</a:t>
            </a:r>
          </a:p>
          <a:p>
            <a:endParaRPr/>
          </a:p>
          <a:p>
            <a:r>
              <a:t>How to explain it:</a:t>
            </a:r>
          </a:p>
          <a:p>
            <a:r>
              <a:t>Shared tables are efficient for many small tenants, but every key and query must include tenant identity and policy enforcement must be extensively tested. A schema or database per tenant offers clearer restoration and logical boundaries, but migrations and metadata become expensive at large scale. A dedicated stack provides strongest separation for regulated or very large customers, at higher cost. Many ERP companies use a tiered hybrid and route tenants by size, risk, geography, or contract.</a:t>
            </a:r>
          </a:p>
          <a:p>
            <a:endParaRPr/>
          </a:p>
          <a:p>
            <a:r>
              <a:t>Isolation also applies outside tables. Include encryption keys, object paths, checkpoints, caches, temporary files, model features, prompt traces, vector namespaces, observability tags, and support access. Add per-tenant quotas and fair scheduling to control noisy neighbors.</a:t>
            </a:r>
          </a:p>
          <a:p>
            <a:endParaRPr/>
          </a:p>
          <a:p>
            <a:r>
              <a:t>Key takeaway:</a:t>
            </a:r>
          </a:p>
          <a:p>
            <a:r>
              <a:t>Multi-tenancy is not a WHERE clause. Tenant identity and policy must be impossible to omit at every boundary.</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Explain how CDC becomes financially correct analytical data.</a:t>
            </a:r>
          </a:p>
          <a:p>
            <a:endParaRPr/>
          </a:p>
          <a:p>
            <a:r>
              <a:t>How to explain it:</a:t>
            </a:r>
          </a:p>
          <a:p>
            <a:r>
              <a:t>The database transaction log provides ordered technical changes, but financial meaning comes from business transactions and accounting rules. Capture source transaction ID, row identity, operation, LSN or offset, commit time, tenant, legal entity, and schema version. Preserve raw before/after images. Build canonical ledger lines by deduplicating and applying changes in source order.</a:t>
            </a:r>
          </a:p>
          <a:p>
            <a:endParaRPr/>
          </a:p>
          <a:p>
            <a:r>
              <a:t>Create an atomic relationship between consumed source range and target commit. A retry must merge to the same result. Then validate accounting invariants, such as debit equals credit, and reconcile source counts and control totals. Corrections to closed periods should be explicit reversals or adjustment versions, not destructive overwrites.</a:t>
            </a:r>
          </a:p>
          <a:p>
            <a:endParaRPr/>
          </a:p>
          <a:p>
            <a:r>
              <a:t>Key takeaway:</a:t>
            </a:r>
          </a:p>
          <a:p>
            <a:r>
              <a:t>Exactly-once reporting is proved by identity, ordering, idempotent writes, atomic progress, invariants, and reconciliation—not by the CDC tool alone.</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Connect a canonical ERP model to secure AI retrieval.</a:t>
            </a:r>
          </a:p>
          <a:p>
            <a:endParaRPr/>
          </a:p>
          <a:p>
            <a:r>
              <a:t>How to explain it:</a:t>
            </a:r>
          </a:p>
          <a:p>
            <a:r>
              <a:t>ERP modules use different names for similar concepts. A canonical model gives stable identities and relationships for parties, legal entities, transactions, resources, and accounting. A governed semantic layer defines measures such as booked revenue, available inventory, or overdue receivables consistently.</a:t>
            </a:r>
          </a:p>
          <a:p>
            <a:endParaRPr/>
          </a:p>
          <a:p>
            <a:r>
              <a:t>For an AI question, first establish tenant, user, role, purpose, and current entitlements. Retrieve structured facts through governed SQL and unstructured evidence through a vector or search index. Apply row, field, document, and effective-time policy before context reaches the model. Include source, time, currency, and freshness metadata. The answer should cite evidence and abstain when the available context is incomplete.</a:t>
            </a:r>
          </a:p>
          <a:p>
            <a:endParaRPr/>
          </a:p>
          <a:p>
            <a:r>
              <a:t>Key takeaway:</a:t>
            </a:r>
          </a:p>
          <a:p>
            <a:r>
              <a:t>The copilot should inherit ERP semantics and authorization. Retrieval must not create a second, weaker security model.</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Show how data governance extends across the complete AI lifecycle.</a:t>
            </a:r>
          </a:p>
          <a:p>
            <a:endParaRPr/>
          </a:p>
          <a:p>
            <a:r>
              <a:t>How to explain it:</a:t>
            </a:r>
          </a:p>
          <a:p>
            <a:r>
              <a:t>At ingest, classify data, validate contracts, and record consent or purpose restrictions. During curation, preserve lineage and construct point-in-time-correct data. During training or indexing, record dataset snapshots, feature definitions, model or embedding versions, parameters, and evaluation sets. At serving, record tenant policy, retrieved evidence, prompt template, model, cache behavior, and response. Evaluate groundedness, business accuracy, fairness, drift, and abstention.</a:t>
            </a:r>
          </a:p>
          <a:p>
            <a:endParaRPr/>
          </a:p>
          <a:p>
            <a:r>
              <a:t>For write-back, treat the LLM as an untrusted planner. Convert the proposal into a typed command, validate ERP rules, require human approval according to risk, attach an idempotency key, and log before/after state. Support rollback or compensating action.</a:t>
            </a:r>
          </a:p>
          <a:p>
            <a:endParaRPr/>
          </a:p>
          <a:p>
            <a:r>
              <a:t>Key takeaway:</a:t>
            </a:r>
          </a:p>
          <a:p>
            <a:r>
              <a:t>An AI ERP company must trace an answer or action from source evidence through policy and model version to the final outcome.</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Demonstrate tenant-aware sizing and resilience planning for an ERP SaaS fleet.</a:t>
            </a:r>
          </a:p>
          <a:p>
            <a:endParaRPr/>
          </a:p>
          <a:p>
            <a:r>
              <a:t>How to explain it:</a:t>
            </a:r>
          </a:p>
          <a:p>
            <a:r>
              <a:t>The example assumes 8,000 tenants generating an average of 250,000 changes each day, or about two billion changes. This is roughly 23,000 changes per second on average. A six-times month-end peak requires about 139,000 changes per second before extra headroom. At 1.2 KB per change, raw volume is around 2.4 TB per day.</a:t>
            </a:r>
          </a:p>
          <a:p>
            <a:endParaRPr/>
          </a:p>
          <a:p>
            <a:r>
              <a:t>Fleet average is not enough. One large tenant or legal entity can dominate a partition during close. Plan buffering, pre-scaling, tenant quotas, weighted scheduling, and hot-key splitting. Define separate recovery tiers: source ledgers and audit evidence need stronger RPO/RTO than rebuildable aggregates, features, embeddings, and predictions.</a:t>
            </a:r>
          </a:p>
          <a:p>
            <a:endParaRPr/>
          </a:p>
          <a:p>
            <a:r>
              <a:t>Key takeaway:</a:t>
            </a:r>
          </a:p>
          <a:p>
            <a:r>
              <a:t>Size for total fleet, peak calendar events, and largest tenant. Protect critical truth more strongly than derived AI assets.</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Give a repeatable method for answering an AI ERP system-design question.</a:t>
            </a:r>
          </a:p>
          <a:p>
            <a:endParaRPr/>
          </a:p>
          <a:p>
            <a:r>
              <a:t>How to explain it:</a:t>
            </a:r>
          </a:p>
          <a:p>
            <a:r>
              <a:t>First clarify modules and users. Then state non-negotiable invariants: tenant isolation, balanced accounting, as-of correctness, authorization, and audit. Define service levels for CDC, report finality, AI response time, and recovery. Size both fleet and largest tenant. Draw three connected planes: transactional, analytical, and AI serving. Explain the canonical model and metric semantics. Prove replay, reconciliation, backfill, and schema migration. Finally prove AI authorization, grounding, evaluation, approval, idempotent action, and audit.</a:t>
            </a:r>
          </a:p>
          <a:p>
            <a:endParaRPr/>
          </a:p>
          <a:p>
            <a:r>
              <a:t>Close by naming the hardest trade-off. For example, low latency may expose provisional values, so label them and run a finalized reconciled path.</a:t>
            </a:r>
          </a:p>
          <a:p>
            <a:endParaRPr/>
          </a:p>
          <a:p>
            <a:r>
              <a:t>Key takeaway:</a:t>
            </a:r>
          </a:p>
          <a:p>
            <a:r>
              <a:t>Lead with business invariants and risks, then justify technology as a way to satisfy them.</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Provide deeper model answers for complex questions 1 through 4.</a:t>
            </a:r>
          </a:p>
          <a:p>
            <a:endParaRPr/>
          </a:p>
          <a:p>
            <a:r>
              <a:t>1. Near-real-time analytics for 10,000 tenants:</a:t>
            </a:r>
          </a:p>
          <a:p>
            <a:r>
              <a:t>Clarify tenant sizes, modules, regions, freshness, and query patterns. Capture CDC into a partitioned durable log carrying tenant and source identity. Land immutable Bronze, create canonical Silver, and publish tenant-aware Gold. Use a low-latency OLAP store for live operations and a warehouse/lakehouse for governed history. Enforce row/field policy, per-tenant quotas, lag SLOs, cost attribution, and dedicated tiers for regulated or very large customers. Test noisy-neighbor and cross-tenant access failures.</a:t>
            </a:r>
          </a:p>
          <a:p>
            <a:endParaRPr/>
          </a:p>
          <a:p>
            <a:r>
              <a:t>2. Exactly-once financial reporting:</a:t>
            </a:r>
          </a:p>
          <a:p>
            <a:r>
              <a:t>Preserve source transaction ID, row ID, LSN, commit order, tenant, and legal entity. Deduplicate and MERGE using source identity; commit consumed ranges with target versions. Do not publish a period until debit/credit and source control totals reconcile. Keep correction and restatement lineage. Explain that transport may be at-least-once while the business result is idempotent and reconciled.</a:t>
            </a:r>
          </a:p>
          <a:p>
            <a:endParaRPr/>
          </a:p>
          <a:p>
            <a:r>
              <a:t>3. Tenant custom fields:</a:t>
            </a:r>
          </a:p>
          <a:p>
            <a:r>
              <a:t>Keep a stable shared core. Capture extensions in a typed key/value, JSON/variant, or tenant extension structure with schema metadata. Validate per-tenant contracts and index only commonly queried fields. Promote a custom field to a governed column only after ownership, type, meaning, and usage justify it. Prevent per-tenant columns from exploding shared-table schemas.</a:t>
            </a:r>
          </a:p>
          <a:p>
            <a:endParaRPr/>
          </a:p>
          <a:p>
            <a:r>
              <a:t>4. Closed-period corrections:</a:t>
            </a:r>
          </a:p>
          <a:p>
            <a:r>
              <a:t>Do not overwrite history. Post a reversal or adjustment, keep effective and recorded times, version as-of facts, and rebuild only affected tenant/entity/period aggregates. Require approval, record reason and actor, preserve old report versions, and notify downstream consumers of restatement.</a:t>
            </a:r>
          </a:p>
          <a:p>
            <a:endParaRPr/>
          </a:p>
          <a:p>
            <a:r>
              <a:t>Key takeaway:</a:t>
            </a:r>
          </a:p>
          <a:p>
            <a:r>
              <a:t>Strong ERP answers combine tenant boundaries, source identity, business invariants, controlled extensibility, and auditable correction.</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Provide deeper model answers for complex questions 5 through 8.</a:t>
            </a:r>
          </a:p>
          <a:p>
            <a:endParaRPr/>
          </a:p>
          <a:p>
            <a:r>
              <a:t>5. ERP copilot over tables and documents:</a:t>
            </a:r>
          </a:p>
          <a:p>
            <a:r>
              <a:t>Use an AI gateway. Authenticate tenant/user/purpose, resolve entitlements, classify the question, and retrieve structured facts through the semantic layer plus document chunks through hybrid search. Filter before model context, include freshness and citations, and prefer deterministic tools for calculations. The model should abstain or ask for clarification when evidence conflicts. Log evidence IDs and model/prompt versions.</a:t>
            </a:r>
          </a:p>
          <a:p>
            <a:endParaRPr/>
          </a:p>
          <a:p>
            <a:r>
              <a:t>6. Prevent cross-tenant RAG leakage:</a:t>
            </a:r>
          </a:p>
          <a:p>
            <a:r>
              <a:t>Use physically separate indexes for high-risk tenants or mandatory tenant namespaces and filters for shared indexes. Copy ACLs and effective dates to every chunk. Encrypt, use tenant-aware caches, and never trust an LLM to enforce policy. Add policy-as-code, negative authorization tests, adversarial prompts, canaries, redacted traces, and incident kill switches.</a:t>
            </a:r>
          </a:p>
          <a:p>
            <a:endParaRPr/>
          </a:p>
          <a:p>
            <a:r>
              <a:t>7. Forecast features without leakage:</a:t>
            </a:r>
          </a:p>
          <a:p>
            <a:r>
              <a:t>Define event time and availability time. Build training rows using point-in-time joins so no feature uses information known after the prediction timestamp. Version feature code, source snapshots, labels, and fiscal calendars. Compare offline and online feature values, monitor skew, and support reproducible retraining by tenant cohort.</a:t>
            </a:r>
          </a:p>
          <a:p>
            <a:endParaRPr/>
          </a:p>
          <a:p>
            <a:r>
              <a:t>8. Trustworthy AI evaluation:</a:t>
            </a:r>
          </a:p>
          <a:p>
            <a:r>
              <a:t>Measure retrieval recall, citation support, groundedness, calculation/business-rule accuracy, freshness, permission correctness, abstention, latency, and cost. Evaluate by module, tenant tier, language, role, and risk. Use curated test cases plus production feedback and shadow evaluation. A fluent answer with unsupported numbers must fail.</a:t>
            </a:r>
          </a:p>
          <a:p>
            <a:endParaRPr/>
          </a:p>
          <a:p>
            <a:r>
              <a:t>Key takeaway:</a:t>
            </a:r>
          </a:p>
          <a:p>
            <a:r>
              <a:t>AI quality in ERP includes authorization and business correctness, not only natural-language quality.</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Provide deeper model answers for complex questions 9 through 12.</a:t>
            </a:r>
          </a:p>
          <a:p>
            <a:endParaRPr/>
          </a:p>
          <a:p>
            <a:r>
              <a:t>9. Privacy deletion with audit retention:</a:t>
            </a:r>
          </a:p>
          <a:p>
            <a:r>
              <a:t>Classify personal fields and identify legal basis per product and region. Separate business transaction evidence from direct identity where possible and tokenize or pseudonymize identifiers. Delete or tombstone permitted data in source, lakehouse, warehouse, feature store, vector index, caches, logs, and training queues. Preserve only legally required evidence under restricted purpose and legal hold. Maintain a deletion manifest and verify completion.</a:t>
            </a:r>
          </a:p>
          <a:p>
            <a:endParaRPr/>
          </a:p>
          <a:p>
            <a:r>
              <a:t>10. Two-year backfill without live impact:</a:t>
            </a:r>
          </a:p>
          <a:p>
            <a:r>
              <a:t>Read immutable snapshots using a versioned transformation. Run isolated compute with quotas and lower-priority scheduling. Break work into resumable tenant/date manifests, handle skewed tenants separately, and publish partitions incrementally after quality and financial control-total validation. Record code/input/output versions and coordinate restatements. Throttle if CDC lag or serving SLOs degrade.</a:t>
            </a:r>
          </a:p>
          <a:p>
            <a:endParaRPr/>
          </a:p>
          <a:p>
            <a:r>
              <a:t>11. Ten-times month-end spike:</a:t>
            </a:r>
          </a:p>
          <a:p>
            <a:r>
              <a:t>Pre-scale based on fiscal calendars, retain enough log capacity, increase consumers, and remove tenant/legal-entity hot keys. Apply weighted fair scheduling and prioritize ledger ingestion and close-critical outputs over secondary AI indexing. Use backpressure and display labeled stale analytics rather than dropping data. Load-test with the largest tenant and correlated closes.</a:t>
            </a:r>
          </a:p>
          <a:p>
            <a:endParaRPr/>
          </a:p>
          <a:p>
            <a:r>
              <a:t>12. Regional outage with residency:</a:t>
            </a:r>
          </a:p>
          <a:p>
            <a:r>
              <a:t>Classify data by residency and criticality. Replicate only allowed data to an approved paired region; replicate code, schemas, catalog, policies, keys, and checkpoints appropriately. Define RPO/RTO separately for transactions, analytics, and rebuildable AI indexes. Use DNS/routing and controlled failover, reconcile after recovery, and exercise the runbook regularly.</a:t>
            </a:r>
          </a:p>
          <a:p>
            <a:endParaRPr/>
          </a:p>
          <a:p>
            <a:r>
              <a:t>Key takeaway:</a:t>
            </a:r>
          </a:p>
          <a:p>
            <a:r>
              <a:t>Privacy, backfills, peak events, and disaster recovery require explicit scope, prioritization, audit evidence, and tested operational procedures.</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Purpose:</a:t>
            </a:r>
          </a:p>
          <a:p>
            <a:r>
              <a:t>Identify the source and explain how to use the material responsibly.</a:t>
            </a:r>
          </a:p>
          <a:p>
            <a:endParaRPr/>
          </a:p>
          <a:p>
            <a:r>
              <a:t>How to explain it:</a:t>
            </a:r>
          </a:p>
          <a:p>
            <a:r>
              <a:t>The deck is based on the user-provided summary of Afaque Ahmad's video and expands it into a reusable teaching and interview framework. The technology names are examples, not fixed recommendations. Exact APIs, feature support, and operational behavior can vary by platform and version, so implementation details should be checked in the target environment.</a:t>
            </a:r>
          </a:p>
          <a:p>
            <a:endParaRPr/>
          </a:p>
          <a:p>
            <a:r>
              <a:t>The streaming idempotency section intentionally corrects the supplied example that attached transaction options to a Delta MERGE builder. The deck uses checkpointed progress plus deterministic MERGE logic as the main pattern.</a:t>
            </a:r>
          </a:p>
          <a:p>
            <a:endParaRPr/>
          </a:p>
          <a:p>
            <a:r>
              <a:t>Key takeaway:</a:t>
            </a:r>
          </a:p>
          <a:p>
            <a:r>
              <a:t>Use the framework consistently, but replace assumptions and technologies according to the real users, cloud, team, compliance rules, and workload.</a:t>
            </a:r>
          </a:p>
          <a:p>
            <a:endParaRPr/>
          </a:p>
          <a:p>
            <a:r>
              <a:t>AI ERP relevance:</a:t>
            </a:r>
          </a:p>
          <a:p>
            <a:r>
              <a:t>The AI ERP extension is an applied design framework. Exact isolation, retention, model, and service choices must be validated against the company's products and regulations.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193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3232" y="676656"/>
            <a:ext cx="3383280" cy="274320"/>
          </a:xfrm>
          <a:prstGeom prst="rect">
            <a:avLst/>
          </a:prstGeom>
          <a:noFill/>
        </p:spPr>
        <p:txBody>
          <a:bodyPr wrap="none" lIns="45720" rIns="45720" anchor="t">
            <a:spAutoFit/>
          </a:bodyPr>
          <a:lstStyle/>
          <a:p>
            <a:pPr algn="l">
              <a:spcAft>
                <a:spcPts val="0"/>
              </a:spcAft>
            </a:pPr>
            <a:r>
              <a:rPr sz="1100" b="1" i="0">
                <a:solidFill>
                  <a:srgbClr val="FF9F43"/>
                </a:solidFill>
                <a:latin typeface="Aptos"/>
              </a:rPr>
              <a:t>DATA ENGINEERING</a:t>
            </a:r>
          </a:p>
        </p:txBody>
      </p:sp>
      <p:sp>
        <p:nvSpPr>
          <p:cNvPr id="4" name="TextBox 3"/>
          <p:cNvSpPr txBox="1"/>
          <p:nvPr/>
        </p:nvSpPr>
        <p:spPr>
          <a:xfrm>
            <a:off x="685800" y="1143000"/>
            <a:ext cx="7315200" cy="1508760"/>
          </a:xfrm>
          <a:prstGeom prst="rect">
            <a:avLst/>
          </a:prstGeom>
          <a:noFill/>
        </p:spPr>
        <p:txBody>
          <a:bodyPr wrap="none" lIns="45720" rIns="45720" anchor="t">
            <a:spAutoFit/>
          </a:bodyPr>
          <a:lstStyle/>
          <a:p>
            <a:pPr algn="l">
              <a:spcAft>
                <a:spcPts val="0"/>
              </a:spcAft>
            </a:pPr>
            <a:r>
              <a:rPr sz="3600" b="1" i="0">
                <a:solidFill>
                  <a:srgbClr val="FFFFFF"/>
                </a:solidFill>
                <a:latin typeface="Aptos"/>
              </a:rPr>
              <a:t>System Design
Interview Playbook</a:t>
            </a:r>
          </a:p>
        </p:txBody>
      </p:sp>
      <p:sp>
        <p:nvSpPr>
          <p:cNvPr id="5" name="TextBox 4"/>
          <p:cNvSpPr txBox="1"/>
          <p:nvPr/>
        </p:nvSpPr>
        <p:spPr>
          <a:xfrm>
            <a:off x="731520" y="2926080"/>
            <a:ext cx="6217920" cy="685800"/>
          </a:xfrm>
          <a:prstGeom prst="rect">
            <a:avLst/>
          </a:prstGeom>
          <a:noFill/>
        </p:spPr>
        <p:txBody>
          <a:bodyPr wrap="none" lIns="45720" rIns="45720" anchor="t">
            <a:spAutoFit/>
          </a:bodyPr>
          <a:lstStyle/>
          <a:p>
            <a:pPr algn="l">
              <a:spcAft>
                <a:spcPts val="0"/>
              </a:spcAft>
            </a:pPr>
            <a:r>
              <a:rPr sz="1600" b="0" i="0">
                <a:solidFill>
                  <a:srgbClr val="E4EBF4"/>
                </a:solidFill>
                <a:latin typeface="Aptos"/>
              </a:rPr>
              <a:t>A practical, end-to-end method for turning ambiguity into a scalable, reliable data platform</a:t>
            </a:r>
          </a:p>
        </p:txBody>
      </p:sp>
      <p:sp>
        <p:nvSpPr>
          <p:cNvPr id="6" name="Rounded Rectangle 5"/>
          <p:cNvSpPr/>
          <p:nvPr/>
        </p:nvSpPr>
        <p:spPr>
          <a:xfrm>
            <a:off x="731520" y="3977639"/>
            <a:ext cx="1298448" cy="310896"/>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4027931"/>
            <a:ext cx="129844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REQUIREMENTS</a:t>
            </a:r>
          </a:p>
        </p:txBody>
      </p:sp>
      <p:sp>
        <p:nvSpPr>
          <p:cNvPr id="8" name="Rounded Rectangle 7"/>
          <p:cNvSpPr/>
          <p:nvPr/>
        </p:nvSpPr>
        <p:spPr>
          <a:xfrm>
            <a:off x="2212848" y="3977639"/>
            <a:ext cx="1298448" cy="310896"/>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12848" y="4027931"/>
            <a:ext cx="129844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ARCHITECTURE</a:t>
            </a:r>
          </a:p>
        </p:txBody>
      </p:sp>
      <p:sp>
        <p:nvSpPr>
          <p:cNvPr id="10" name="Rounded Rectangle 9"/>
          <p:cNvSpPr/>
          <p:nvPr/>
        </p:nvSpPr>
        <p:spPr>
          <a:xfrm>
            <a:off x="3694176" y="3977639"/>
            <a:ext cx="1298448" cy="310896"/>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94176" y="4027931"/>
            <a:ext cx="129844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MODELING</a:t>
            </a:r>
          </a:p>
        </p:txBody>
      </p:sp>
      <p:sp>
        <p:nvSpPr>
          <p:cNvPr id="12" name="Rounded Rectangle 11"/>
          <p:cNvSpPr/>
          <p:nvPr/>
        </p:nvSpPr>
        <p:spPr>
          <a:xfrm>
            <a:off x="5175504" y="3977639"/>
            <a:ext cx="1298448" cy="310896"/>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75504" y="4027931"/>
            <a:ext cx="129844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OPERATIONS</a:t>
            </a:r>
          </a:p>
        </p:txBody>
      </p:sp>
      <p:sp>
        <p:nvSpPr>
          <p:cNvPr id="14" name="Rounded Rectangle 13"/>
          <p:cNvSpPr/>
          <p:nvPr/>
        </p:nvSpPr>
        <p:spPr>
          <a:xfrm>
            <a:off x="7406640" y="1417320"/>
            <a:ext cx="786384" cy="786384"/>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06640" y="1554480"/>
            <a:ext cx="786384"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01</a:t>
            </a:r>
          </a:p>
        </p:txBody>
      </p:sp>
      <p:sp>
        <p:nvSpPr>
          <p:cNvPr id="16" name="TextBox 15"/>
          <p:cNvSpPr txBox="1"/>
          <p:nvPr/>
        </p:nvSpPr>
        <p:spPr>
          <a:xfrm>
            <a:off x="7296912" y="2221992"/>
            <a:ext cx="1005840" cy="201168"/>
          </a:xfrm>
          <a:prstGeom prst="rect">
            <a:avLst/>
          </a:prstGeom>
          <a:noFill/>
        </p:spPr>
        <p:txBody>
          <a:bodyPr wrap="none" lIns="45720" rIns="45720" anchor="t">
            <a:spAutoFit/>
          </a:bodyPr>
          <a:lstStyle/>
          <a:p>
            <a:pPr algn="ctr">
              <a:spcAft>
                <a:spcPts val="0"/>
              </a:spcAft>
            </a:pPr>
            <a:r>
              <a:rPr sz="900" b="1" i="0">
                <a:solidFill>
                  <a:srgbClr val="E4EBF4"/>
                </a:solidFill>
                <a:latin typeface="Aptos"/>
              </a:rPr>
              <a:t>Ingest</a:t>
            </a:r>
          </a:p>
        </p:txBody>
      </p:sp>
      <p:cxnSp>
        <p:nvCxnSpPr>
          <p:cNvPr id="17" name="Connector 16"/>
          <p:cNvCxnSpPr/>
          <p:nvPr/>
        </p:nvCxnSpPr>
        <p:spPr>
          <a:xfrm>
            <a:off x="8211312" y="1810512"/>
            <a:ext cx="402336" cy="77724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641080" y="2194560"/>
            <a:ext cx="786384" cy="786384"/>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41080" y="2331720"/>
            <a:ext cx="786384"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02</a:t>
            </a:r>
          </a:p>
        </p:txBody>
      </p:sp>
      <p:sp>
        <p:nvSpPr>
          <p:cNvPr id="20" name="TextBox 19"/>
          <p:cNvSpPr txBox="1"/>
          <p:nvPr/>
        </p:nvSpPr>
        <p:spPr>
          <a:xfrm>
            <a:off x="8531352" y="2999232"/>
            <a:ext cx="1005840" cy="201168"/>
          </a:xfrm>
          <a:prstGeom prst="rect">
            <a:avLst/>
          </a:prstGeom>
          <a:noFill/>
        </p:spPr>
        <p:txBody>
          <a:bodyPr wrap="none" lIns="45720" rIns="45720" anchor="t">
            <a:spAutoFit/>
          </a:bodyPr>
          <a:lstStyle/>
          <a:p>
            <a:pPr algn="ctr">
              <a:spcAft>
                <a:spcPts val="0"/>
              </a:spcAft>
            </a:pPr>
            <a:r>
              <a:rPr sz="900" b="1" i="0">
                <a:solidFill>
                  <a:srgbClr val="E4EBF4"/>
                </a:solidFill>
                <a:latin typeface="Aptos"/>
              </a:rPr>
              <a:t>Transform</a:t>
            </a:r>
          </a:p>
        </p:txBody>
      </p:sp>
      <p:cxnSp>
        <p:nvCxnSpPr>
          <p:cNvPr id="21" name="Connector 20"/>
          <p:cNvCxnSpPr/>
          <p:nvPr/>
        </p:nvCxnSpPr>
        <p:spPr>
          <a:xfrm>
            <a:off x="9445752" y="2587752"/>
            <a:ext cx="402336" cy="77724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875520" y="2971800"/>
            <a:ext cx="786384" cy="786384"/>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875520" y="3108960"/>
            <a:ext cx="786384"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03</a:t>
            </a:r>
          </a:p>
        </p:txBody>
      </p:sp>
      <p:sp>
        <p:nvSpPr>
          <p:cNvPr id="24" name="TextBox 23"/>
          <p:cNvSpPr txBox="1"/>
          <p:nvPr/>
        </p:nvSpPr>
        <p:spPr>
          <a:xfrm>
            <a:off x="9765792" y="3776472"/>
            <a:ext cx="1005840" cy="201168"/>
          </a:xfrm>
          <a:prstGeom prst="rect">
            <a:avLst/>
          </a:prstGeom>
          <a:noFill/>
        </p:spPr>
        <p:txBody>
          <a:bodyPr wrap="none" lIns="45720" rIns="45720" anchor="t">
            <a:spAutoFit/>
          </a:bodyPr>
          <a:lstStyle/>
          <a:p>
            <a:pPr algn="ctr">
              <a:spcAft>
                <a:spcPts val="0"/>
              </a:spcAft>
            </a:pPr>
            <a:r>
              <a:rPr sz="900" b="1" i="0">
                <a:solidFill>
                  <a:srgbClr val="E4EBF4"/>
                </a:solidFill>
                <a:latin typeface="Aptos"/>
              </a:rPr>
              <a:t>Store</a:t>
            </a:r>
          </a:p>
        </p:txBody>
      </p:sp>
      <p:cxnSp>
        <p:nvCxnSpPr>
          <p:cNvPr id="25" name="Connector 24"/>
          <p:cNvCxnSpPr/>
          <p:nvPr/>
        </p:nvCxnSpPr>
        <p:spPr>
          <a:xfrm>
            <a:off x="10680192" y="3364991"/>
            <a:ext cx="402336" cy="777241"/>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1109960" y="3749039"/>
            <a:ext cx="786384" cy="786384"/>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109960" y="3886200"/>
            <a:ext cx="786384"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04</a:t>
            </a:r>
          </a:p>
        </p:txBody>
      </p:sp>
      <p:sp>
        <p:nvSpPr>
          <p:cNvPr id="28" name="TextBox 27"/>
          <p:cNvSpPr txBox="1"/>
          <p:nvPr/>
        </p:nvSpPr>
        <p:spPr>
          <a:xfrm>
            <a:off x="11000232" y="4553712"/>
            <a:ext cx="1005840" cy="201168"/>
          </a:xfrm>
          <a:prstGeom prst="rect">
            <a:avLst/>
          </a:prstGeom>
          <a:noFill/>
        </p:spPr>
        <p:txBody>
          <a:bodyPr wrap="none" lIns="45720" rIns="45720" anchor="t">
            <a:spAutoFit/>
          </a:bodyPr>
          <a:lstStyle/>
          <a:p>
            <a:pPr algn="ctr">
              <a:spcAft>
                <a:spcPts val="0"/>
              </a:spcAft>
            </a:pPr>
            <a:r>
              <a:rPr sz="900" b="1" i="0">
                <a:solidFill>
                  <a:srgbClr val="E4EBF4"/>
                </a:solidFill>
                <a:latin typeface="Aptos"/>
              </a:rPr>
              <a:t>Serve</a:t>
            </a:r>
          </a:p>
        </p:txBody>
      </p:sp>
      <p:sp>
        <p:nvSpPr>
          <p:cNvPr id="29" name="TextBox 28"/>
          <p:cNvSpPr txBox="1"/>
          <p:nvPr/>
        </p:nvSpPr>
        <p:spPr>
          <a:xfrm>
            <a:off x="731520" y="5961888"/>
            <a:ext cx="7315200" cy="256032"/>
          </a:xfrm>
          <a:prstGeom prst="rect">
            <a:avLst/>
          </a:prstGeom>
          <a:noFill/>
        </p:spPr>
        <p:txBody>
          <a:bodyPr wrap="none" lIns="45720" rIns="45720" anchor="t">
            <a:spAutoFit/>
          </a:bodyPr>
          <a:lstStyle/>
          <a:p>
            <a:pPr algn="l">
              <a:spcAft>
                <a:spcPts val="0"/>
              </a:spcAft>
            </a:pPr>
            <a:r>
              <a:rPr sz="900" b="0" i="0">
                <a:solidFill>
                  <a:srgbClr val="74849A"/>
                </a:solidFill>
                <a:latin typeface="Aptos"/>
              </a:rPr>
              <a:t>Based on the six-step framework described in Afaque Ahmad’s video</a:t>
            </a:r>
          </a:p>
        </p:txBody>
      </p:sp>
      <p:cxnSp>
        <p:nvCxnSpPr>
          <p:cNvPr id="30" name="Connector 29"/>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21207" y="6583680"/>
            <a:ext cx="10515600" cy="182880"/>
          </a:xfrm>
          <a:prstGeom prst="rect">
            <a:avLst/>
          </a:prstGeom>
          <a:noFill/>
        </p:spPr>
        <p:txBody>
          <a:bodyPr wrap="none" lIns="45720" rIns="45720" anchor="t">
            <a:spAutoFit/>
          </a:bodyPr>
          <a:lstStyle/>
          <a:p>
            <a:pPr algn="l">
              <a:spcAft>
                <a:spcPts val="0"/>
              </a:spcAft>
            </a:pPr>
            <a:r>
              <a:rPr sz="750" b="0" i="0">
                <a:solidFill>
                  <a:srgbClr val="E4EBF4"/>
                </a:solidFill>
                <a:latin typeface="Aptos"/>
              </a:rPr>
              <a:t>Source: user-provided summary of https://www.youtube.com/watch?v=r58Cf_kc_bY</a:t>
            </a:r>
          </a:p>
        </p:txBody>
      </p:sp>
      <p:sp>
        <p:nvSpPr>
          <p:cNvPr id="32" name="TextBox 31"/>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ORIENTATION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What you will be able to do</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Use this deck as a study guide, design template, and interview narration script.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02</a:t>
            </a:r>
          </a:p>
        </p:txBody>
      </p:sp>
      <p:sp>
        <p:nvSpPr>
          <p:cNvPr id="8" name="Rounded Rectangle 7"/>
          <p:cNvSpPr/>
          <p:nvPr/>
        </p:nvSpPr>
        <p:spPr>
          <a:xfrm>
            <a:off x="640080" y="1600200"/>
            <a:ext cx="5257800" cy="16002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600200"/>
            <a:ext cx="64008" cy="160020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04671" y="1746504"/>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1" y="178308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98448" y="1728216"/>
            <a:ext cx="4434840" cy="320040"/>
          </a:xfrm>
          <a:prstGeom prst="rect">
            <a:avLst/>
          </a:prstGeom>
          <a:noFill/>
        </p:spPr>
        <p:txBody>
          <a:bodyPr wrap="none" lIns="45720" rIns="45720" anchor="t">
            <a:spAutoFit/>
          </a:bodyPr>
          <a:lstStyle/>
          <a:p>
            <a:pPr algn="l">
              <a:spcAft>
                <a:spcPts val="0"/>
              </a:spcAft>
            </a:pPr>
            <a:r>
              <a:rPr sz="1600" b="1" i="0">
                <a:solidFill>
                  <a:srgbClr val="0C1930"/>
                </a:solidFill>
                <a:latin typeface="Aptos"/>
              </a:rPr>
              <a:t>Frame the problem</a:t>
            </a:r>
          </a:p>
        </p:txBody>
      </p:sp>
      <p:sp>
        <p:nvSpPr>
          <p:cNvPr id="13" name="TextBox 12"/>
          <p:cNvSpPr txBox="1"/>
          <p:nvPr/>
        </p:nvSpPr>
        <p:spPr>
          <a:xfrm>
            <a:off x="850392" y="2194560"/>
            <a:ext cx="4864608" cy="886968"/>
          </a:xfrm>
          <a:prstGeom prst="rect">
            <a:avLst/>
          </a:prstGeom>
          <a:noFill/>
        </p:spPr>
        <p:txBody>
          <a:bodyPr wrap="none" lIns="45720" rIns="45720" anchor="t">
            <a:spAutoFit/>
          </a:bodyPr>
          <a:lstStyle/>
          <a:p>
            <a:pPr algn="l">
              <a:spcAft>
                <a:spcPts val="0"/>
              </a:spcAft>
            </a:pPr>
            <a:r>
              <a:rPr sz="1100" b="0" i="0">
                <a:solidFill>
                  <a:srgbClr val="253042"/>
                </a:solidFill>
                <a:latin typeface="Aptos"/>
              </a:rPr>
              <a:t>Clarify users, outputs, SLAs, volume, retention, compliance, and failure tolerance before choosing tools.</a:t>
            </a:r>
          </a:p>
        </p:txBody>
      </p:sp>
      <p:sp>
        <p:nvSpPr>
          <p:cNvPr id="14" name="Rounded Rectangle 13"/>
          <p:cNvSpPr/>
          <p:nvPr/>
        </p:nvSpPr>
        <p:spPr>
          <a:xfrm>
            <a:off x="6263640" y="1600200"/>
            <a:ext cx="5257800" cy="16002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63640" y="1600200"/>
            <a:ext cx="64008" cy="160020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28232" y="1746504"/>
            <a:ext cx="384048" cy="38404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28232" y="178308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8" name="TextBox 17"/>
          <p:cNvSpPr txBox="1"/>
          <p:nvPr/>
        </p:nvSpPr>
        <p:spPr>
          <a:xfrm>
            <a:off x="6922008" y="1728216"/>
            <a:ext cx="4434840" cy="320040"/>
          </a:xfrm>
          <a:prstGeom prst="rect">
            <a:avLst/>
          </a:prstGeom>
          <a:noFill/>
        </p:spPr>
        <p:txBody>
          <a:bodyPr wrap="none" lIns="45720" rIns="45720" anchor="t">
            <a:spAutoFit/>
          </a:bodyPr>
          <a:lstStyle/>
          <a:p>
            <a:pPr algn="l">
              <a:spcAft>
                <a:spcPts val="0"/>
              </a:spcAft>
            </a:pPr>
            <a:r>
              <a:rPr sz="1600" b="1" i="0">
                <a:solidFill>
                  <a:srgbClr val="0C1930"/>
                </a:solidFill>
                <a:latin typeface="Aptos"/>
              </a:rPr>
              <a:t>Estimate the system</a:t>
            </a:r>
          </a:p>
        </p:txBody>
      </p:sp>
      <p:sp>
        <p:nvSpPr>
          <p:cNvPr id="19" name="TextBox 18"/>
          <p:cNvSpPr txBox="1"/>
          <p:nvPr/>
        </p:nvSpPr>
        <p:spPr>
          <a:xfrm>
            <a:off x="6473952" y="2194560"/>
            <a:ext cx="4864608" cy="886968"/>
          </a:xfrm>
          <a:prstGeom prst="rect">
            <a:avLst/>
          </a:prstGeom>
          <a:noFill/>
        </p:spPr>
        <p:txBody>
          <a:bodyPr wrap="none" lIns="45720" rIns="45720" anchor="t">
            <a:spAutoFit/>
          </a:bodyPr>
          <a:lstStyle/>
          <a:p>
            <a:pPr algn="l">
              <a:spcAft>
                <a:spcPts val="0"/>
              </a:spcAft>
            </a:pPr>
            <a:r>
              <a:rPr sz="1100" b="0" i="0">
                <a:solidFill>
                  <a:srgbClr val="253042"/>
                </a:solidFill>
                <a:latin typeface="Aptos"/>
              </a:rPr>
              <a:t>Convert users and events into throughput, storage, partition counts, compute needs, and cost pressure.</a:t>
            </a:r>
          </a:p>
        </p:txBody>
      </p:sp>
      <p:sp>
        <p:nvSpPr>
          <p:cNvPr id="20" name="Rounded Rectangle 19"/>
          <p:cNvSpPr/>
          <p:nvPr/>
        </p:nvSpPr>
        <p:spPr>
          <a:xfrm>
            <a:off x="640080" y="3611880"/>
            <a:ext cx="5257800" cy="16002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0080" y="3611880"/>
            <a:ext cx="64008" cy="160020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04671" y="3758184"/>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671" y="379476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4" name="TextBox 23"/>
          <p:cNvSpPr txBox="1"/>
          <p:nvPr/>
        </p:nvSpPr>
        <p:spPr>
          <a:xfrm>
            <a:off x="1298448" y="3739896"/>
            <a:ext cx="4434840" cy="320040"/>
          </a:xfrm>
          <a:prstGeom prst="rect">
            <a:avLst/>
          </a:prstGeom>
          <a:noFill/>
        </p:spPr>
        <p:txBody>
          <a:bodyPr wrap="none" lIns="45720" rIns="45720" anchor="t">
            <a:spAutoFit/>
          </a:bodyPr>
          <a:lstStyle/>
          <a:p>
            <a:pPr algn="l">
              <a:spcAft>
                <a:spcPts val="0"/>
              </a:spcAft>
            </a:pPr>
            <a:r>
              <a:rPr sz="1600" b="1" i="0">
                <a:solidFill>
                  <a:srgbClr val="0C1930"/>
                </a:solidFill>
                <a:latin typeface="Aptos"/>
              </a:rPr>
              <a:t>Choose deliberately</a:t>
            </a:r>
          </a:p>
        </p:txBody>
      </p:sp>
      <p:sp>
        <p:nvSpPr>
          <p:cNvPr id="25" name="TextBox 24"/>
          <p:cNvSpPr txBox="1"/>
          <p:nvPr/>
        </p:nvSpPr>
        <p:spPr>
          <a:xfrm>
            <a:off x="850392" y="4206240"/>
            <a:ext cx="4864608" cy="886968"/>
          </a:xfrm>
          <a:prstGeom prst="rect">
            <a:avLst/>
          </a:prstGeom>
          <a:noFill/>
        </p:spPr>
        <p:txBody>
          <a:bodyPr wrap="none" lIns="45720" rIns="45720" anchor="t">
            <a:spAutoFit/>
          </a:bodyPr>
          <a:lstStyle/>
          <a:p>
            <a:pPr algn="l">
              <a:spcAft>
                <a:spcPts val="0"/>
              </a:spcAft>
            </a:pPr>
            <a:r>
              <a:rPr sz="1100" b="0" i="0">
                <a:solidFill>
                  <a:srgbClr val="253042"/>
                </a:solidFill>
                <a:latin typeface="Aptos"/>
              </a:rPr>
              <a:t>Select batch vs. streaming, architecture style, serving layer, file format, and data model by trade-off.</a:t>
            </a:r>
          </a:p>
        </p:txBody>
      </p:sp>
      <p:sp>
        <p:nvSpPr>
          <p:cNvPr id="26" name="Rounded Rectangle 25"/>
          <p:cNvSpPr/>
          <p:nvPr/>
        </p:nvSpPr>
        <p:spPr>
          <a:xfrm>
            <a:off x="6263640" y="3611880"/>
            <a:ext cx="5257800" cy="16002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63640" y="3611880"/>
            <a:ext cx="64008" cy="160020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428232" y="3758184"/>
            <a:ext cx="384048" cy="38404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28232" y="379476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30" name="TextBox 29"/>
          <p:cNvSpPr txBox="1"/>
          <p:nvPr/>
        </p:nvSpPr>
        <p:spPr>
          <a:xfrm>
            <a:off x="6922008" y="3739896"/>
            <a:ext cx="4434840" cy="320040"/>
          </a:xfrm>
          <a:prstGeom prst="rect">
            <a:avLst/>
          </a:prstGeom>
          <a:noFill/>
        </p:spPr>
        <p:txBody>
          <a:bodyPr wrap="none" lIns="45720" rIns="45720" anchor="t">
            <a:spAutoFit/>
          </a:bodyPr>
          <a:lstStyle/>
          <a:p>
            <a:pPr algn="l">
              <a:spcAft>
                <a:spcPts val="0"/>
              </a:spcAft>
            </a:pPr>
            <a:r>
              <a:rPr sz="1600" b="1" i="0">
                <a:solidFill>
                  <a:srgbClr val="0C1930"/>
                </a:solidFill>
                <a:latin typeface="Aptos"/>
              </a:rPr>
              <a:t>Design for reality</a:t>
            </a:r>
          </a:p>
        </p:txBody>
      </p:sp>
      <p:sp>
        <p:nvSpPr>
          <p:cNvPr id="31" name="TextBox 30"/>
          <p:cNvSpPr txBox="1"/>
          <p:nvPr/>
        </p:nvSpPr>
        <p:spPr>
          <a:xfrm>
            <a:off x="6473952" y="4206240"/>
            <a:ext cx="4864608" cy="886968"/>
          </a:xfrm>
          <a:prstGeom prst="rect">
            <a:avLst/>
          </a:prstGeom>
          <a:noFill/>
        </p:spPr>
        <p:txBody>
          <a:bodyPr wrap="none" lIns="45720" rIns="45720" anchor="t">
            <a:spAutoFit/>
          </a:bodyPr>
          <a:lstStyle/>
          <a:p>
            <a:pPr algn="l">
              <a:spcAft>
                <a:spcPts val="0"/>
              </a:spcAft>
            </a:pPr>
            <a:r>
              <a:rPr sz="1100" b="0" i="0">
                <a:solidFill>
                  <a:srgbClr val="253042"/>
                </a:solidFill>
                <a:latin typeface="Aptos"/>
              </a:rPr>
              <a:t>Build in quality, observability, idempotency, replay, schema evolution, scaling, and disaster recovery.</a:t>
            </a:r>
          </a:p>
        </p:txBody>
      </p:sp>
      <p:sp>
        <p:nvSpPr>
          <p:cNvPr id="32" name="Rounded Rectangle 31"/>
          <p:cNvSpPr/>
          <p:nvPr/>
        </p:nvSpPr>
        <p:spPr>
          <a:xfrm>
            <a:off x="1874519" y="5742432"/>
            <a:ext cx="8412480" cy="50292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020824" y="5861304"/>
            <a:ext cx="8138159"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Core principle: architecture is the consequence of requirements—not a collection of favorite technologies.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C1930"/>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MINDSET</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System design is an argument, not a diagram</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Interviewers evaluate how you reason under ambiguity and explain trade-offs.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03</a:t>
            </a:r>
          </a:p>
        </p:txBody>
      </p:sp>
      <p:sp>
        <p:nvSpPr>
          <p:cNvPr id="8" name="TextBox 7"/>
          <p:cNvSpPr txBox="1"/>
          <p:nvPr/>
        </p:nvSpPr>
        <p:spPr>
          <a:xfrm>
            <a:off x="685800" y="1572768"/>
            <a:ext cx="3657600" cy="320040"/>
          </a:xfrm>
          <a:prstGeom prst="rect">
            <a:avLst/>
          </a:prstGeom>
          <a:noFill/>
        </p:spPr>
        <p:txBody>
          <a:bodyPr wrap="none" lIns="45720" rIns="45720" anchor="t">
            <a:spAutoFit/>
          </a:bodyPr>
          <a:lstStyle/>
          <a:p>
            <a:pPr algn="l">
              <a:spcAft>
                <a:spcPts val="0"/>
              </a:spcAft>
            </a:pPr>
            <a:r>
              <a:rPr sz="1600" b="1" i="0">
                <a:solidFill>
                  <a:srgbClr val="FFFFFF"/>
                </a:solidFill>
                <a:latin typeface="Aptos"/>
              </a:rPr>
              <a:t>A strong answer repeatedly connects:</a:t>
            </a:r>
          </a:p>
        </p:txBody>
      </p:sp>
      <p:sp>
        <p:nvSpPr>
          <p:cNvPr id="9" name="Rounded Rectangle 8"/>
          <p:cNvSpPr/>
          <p:nvPr/>
        </p:nvSpPr>
        <p:spPr>
          <a:xfrm>
            <a:off x="713232" y="2176272"/>
            <a:ext cx="1700784" cy="65836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386584"/>
            <a:ext cx="1700784"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Requirement</a:t>
            </a:r>
          </a:p>
        </p:txBody>
      </p:sp>
      <p:cxnSp>
        <p:nvCxnSpPr>
          <p:cNvPr id="11" name="Connector 10"/>
          <p:cNvCxnSpPr/>
          <p:nvPr/>
        </p:nvCxnSpPr>
        <p:spPr>
          <a:xfrm>
            <a:off x="2423160" y="2505456"/>
            <a:ext cx="466344" cy="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71800" y="2176272"/>
            <a:ext cx="1700784" cy="65836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71800" y="2386584"/>
            <a:ext cx="1700784"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Constraint</a:t>
            </a:r>
          </a:p>
        </p:txBody>
      </p:sp>
      <p:cxnSp>
        <p:nvCxnSpPr>
          <p:cNvPr id="14" name="Connector 13"/>
          <p:cNvCxnSpPr/>
          <p:nvPr/>
        </p:nvCxnSpPr>
        <p:spPr>
          <a:xfrm>
            <a:off x="4681728" y="2505456"/>
            <a:ext cx="466344" cy="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230368" y="2176272"/>
            <a:ext cx="1700784" cy="65836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30368" y="2386584"/>
            <a:ext cx="1700784"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Decision</a:t>
            </a:r>
          </a:p>
        </p:txBody>
      </p:sp>
      <p:cxnSp>
        <p:nvCxnSpPr>
          <p:cNvPr id="17" name="Connector 16"/>
          <p:cNvCxnSpPr/>
          <p:nvPr/>
        </p:nvCxnSpPr>
        <p:spPr>
          <a:xfrm>
            <a:off x="6940296" y="2505456"/>
            <a:ext cx="466344" cy="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488936" y="2176272"/>
            <a:ext cx="1700784" cy="65836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88936" y="2386584"/>
            <a:ext cx="1700784"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Trade-off</a:t>
            </a:r>
          </a:p>
        </p:txBody>
      </p:sp>
      <p:cxnSp>
        <p:nvCxnSpPr>
          <p:cNvPr id="20" name="Connector 19"/>
          <p:cNvCxnSpPr/>
          <p:nvPr/>
        </p:nvCxnSpPr>
        <p:spPr>
          <a:xfrm>
            <a:off x="9198863" y="2505456"/>
            <a:ext cx="466345" cy="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747504" y="2176272"/>
            <a:ext cx="1700784" cy="658368"/>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47504" y="2386584"/>
            <a:ext cx="1700784"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Risk control</a:t>
            </a:r>
          </a:p>
        </p:txBody>
      </p:sp>
      <p:sp>
        <p:nvSpPr>
          <p:cNvPr id="23" name="TextBox 22"/>
          <p:cNvSpPr txBox="1"/>
          <p:nvPr/>
        </p:nvSpPr>
        <p:spPr>
          <a:xfrm>
            <a:off x="731520" y="3383280"/>
            <a:ext cx="2286000" cy="274320"/>
          </a:xfrm>
          <a:prstGeom prst="rect">
            <a:avLst/>
          </a:prstGeom>
          <a:noFill/>
        </p:spPr>
        <p:txBody>
          <a:bodyPr wrap="none" lIns="45720" rIns="45720" anchor="t">
            <a:spAutoFit/>
          </a:bodyPr>
          <a:lstStyle/>
          <a:p>
            <a:pPr algn="l">
              <a:spcAft>
                <a:spcPts val="0"/>
              </a:spcAft>
            </a:pPr>
            <a:r>
              <a:rPr sz="1400" b="1" i="0">
                <a:solidFill>
                  <a:srgbClr val="FF9F43"/>
                </a:solidFill>
                <a:latin typeface="Aptos"/>
              </a:rPr>
              <a:t>Example narration</a:t>
            </a:r>
          </a:p>
        </p:txBody>
      </p:sp>
      <p:sp>
        <p:nvSpPr>
          <p:cNvPr id="24" name="TextBox 23"/>
          <p:cNvSpPr txBox="1"/>
          <p:nvPr/>
        </p:nvSpPr>
        <p:spPr>
          <a:xfrm>
            <a:off x="749808" y="3785615"/>
            <a:ext cx="10652760" cy="1051560"/>
          </a:xfrm>
          <a:prstGeom prst="rect">
            <a:avLst/>
          </a:prstGeom>
          <a:noFill/>
        </p:spPr>
        <p:txBody>
          <a:bodyPr wrap="none" lIns="45720" rIns="45720" anchor="t">
            <a:spAutoFit/>
          </a:bodyPr>
          <a:lstStyle/>
          <a:p>
            <a:pPr algn="l">
              <a:spcAft>
                <a:spcPts val="0"/>
              </a:spcAft>
            </a:pPr>
            <a:r>
              <a:rPr sz="1800" b="0" i="1">
                <a:solidFill>
                  <a:srgbClr val="FFFFFF"/>
                </a:solidFill>
                <a:latin typeface="Aptos"/>
              </a:rPr>
              <a:t>“Restaurant dashboards need &lt;2-minute freshness, so I’ll use a streaming path. That raises operational complexity, so I’ll isolate stateful logic, checkpoint progress, retain Kafka events for replay, and keep the daily executive path on the lakehouse.”</a:t>
            </a:r>
          </a:p>
        </p:txBody>
      </p:sp>
      <p:sp>
        <p:nvSpPr>
          <p:cNvPr id="25" name="Rounded Rectangle 24"/>
          <p:cNvSpPr/>
          <p:nvPr/>
        </p:nvSpPr>
        <p:spPr>
          <a:xfrm>
            <a:off x="1417320" y="5257800"/>
            <a:ext cx="9326880" cy="566928"/>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563624" y="5376672"/>
            <a:ext cx="9052559" cy="384048"/>
          </a:xfrm>
          <a:prstGeom prst="rect">
            <a:avLst/>
          </a:prstGeom>
          <a:noFill/>
        </p:spPr>
        <p:txBody>
          <a:bodyPr wrap="none" lIns="45720" rIns="45720" anchor="t">
            <a:spAutoFit/>
          </a:bodyPr>
          <a:lstStyle/>
          <a:p>
            <a:pPr algn="l">
              <a:spcAft>
                <a:spcPts val="0"/>
              </a:spcAft>
            </a:pPr>
            <a:r>
              <a:rPr sz="1200" b="1" i="0">
                <a:solidFill>
                  <a:srgbClr val="0C1930"/>
                </a:solidFill>
                <a:latin typeface="Aptos"/>
              </a:rPr>
              <a:t>Weak: name tools first.  Strong: state assumption → quantify → decide → acknowledge downside → mitigate.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FRAMEWORK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The six-step mental map</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Keep this order visible while you design; revisit earlier steps when assumptions change.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04</a:t>
            </a:r>
          </a:p>
        </p:txBody>
      </p:sp>
      <p:sp>
        <p:nvSpPr>
          <p:cNvPr id="8" name="Rounded Rectangle 7"/>
          <p:cNvSpPr/>
          <p:nvPr/>
        </p:nvSpPr>
        <p:spPr>
          <a:xfrm>
            <a:off x="640080" y="160020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600200"/>
            <a:ext cx="64008" cy="141732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04671" y="1746504"/>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1" y="178308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98448" y="172821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Requirements</a:t>
            </a:r>
          </a:p>
        </p:txBody>
      </p:sp>
      <p:sp>
        <p:nvSpPr>
          <p:cNvPr id="13" name="TextBox 12"/>
          <p:cNvSpPr txBox="1"/>
          <p:nvPr/>
        </p:nvSpPr>
        <p:spPr>
          <a:xfrm>
            <a:off x="850392" y="219456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Who, what, how, SLA, scale</a:t>
            </a:r>
          </a:p>
        </p:txBody>
      </p:sp>
      <p:cxnSp>
        <p:nvCxnSpPr>
          <p:cNvPr id="14" name="Connector 13"/>
          <p:cNvCxnSpPr/>
          <p:nvPr/>
        </p:nvCxnSpPr>
        <p:spPr>
          <a:xfrm>
            <a:off x="4142232" y="2313432"/>
            <a:ext cx="265176" cy="0"/>
          </a:xfrm>
          <a:prstGeom prst="line">
            <a:avLst/>
          </a:prstGeom>
          <a:ln w="17780">
            <a:solidFill>
              <a:srgbClr val="74849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80560" y="160020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480560" y="1600200"/>
            <a:ext cx="64008" cy="141732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645152" y="1746504"/>
            <a:ext cx="384048" cy="38404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45152" y="178308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9" name="TextBox 18"/>
          <p:cNvSpPr txBox="1"/>
          <p:nvPr/>
        </p:nvSpPr>
        <p:spPr>
          <a:xfrm>
            <a:off x="5138928" y="172821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Pipeline</a:t>
            </a:r>
          </a:p>
        </p:txBody>
      </p:sp>
      <p:sp>
        <p:nvSpPr>
          <p:cNvPr id="20" name="TextBox 19"/>
          <p:cNvSpPr txBox="1"/>
          <p:nvPr/>
        </p:nvSpPr>
        <p:spPr>
          <a:xfrm>
            <a:off x="4690872" y="219456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Batch/stream; orchestration</a:t>
            </a:r>
          </a:p>
        </p:txBody>
      </p:sp>
      <p:cxnSp>
        <p:nvCxnSpPr>
          <p:cNvPr id="21" name="Connector 20"/>
          <p:cNvCxnSpPr/>
          <p:nvPr/>
        </p:nvCxnSpPr>
        <p:spPr>
          <a:xfrm>
            <a:off x="7982712" y="2313432"/>
            <a:ext cx="265176" cy="0"/>
          </a:xfrm>
          <a:prstGeom prst="line">
            <a:avLst/>
          </a:prstGeom>
          <a:ln w="17780">
            <a:solidFill>
              <a:srgbClr val="74849A"/>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321040" y="160020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321040" y="1600200"/>
            <a:ext cx="64008" cy="141732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485632" y="1746504"/>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85632" y="178308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6" name="TextBox 25"/>
          <p:cNvSpPr txBox="1"/>
          <p:nvPr/>
        </p:nvSpPr>
        <p:spPr>
          <a:xfrm>
            <a:off x="8979408" y="172821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Model</a:t>
            </a:r>
          </a:p>
        </p:txBody>
      </p:sp>
      <p:sp>
        <p:nvSpPr>
          <p:cNvPr id="27" name="TextBox 26"/>
          <p:cNvSpPr txBox="1"/>
          <p:nvPr/>
        </p:nvSpPr>
        <p:spPr>
          <a:xfrm>
            <a:off x="8531352" y="219456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Medallion, facts, dimensions</a:t>
            </a:r>
          </a:p>
        </p:txBody>
      </p:sp>
      <p:sp>
        <p:nvSpPr>
          <p:cNvPr id="28" name="Rounded Rectangle 27"/>
          <p:cNvSpPr/>
          <p:nvPr/>
        </p:nvSpPr>
        <p:spPr>
          <a:xfrm>
            <a:off x="640080" y="356616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40080" y="3566160"/>
            <a:ext cx="64008" cy="141732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04671" y="3712463"/>
            <a:ext cx="384048" cy="38404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04671" y="3749039"/>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32" name="TextBox 31"/>
          <p:cNvSpPr txBox="1"/>
          <p:nvPr/>
        </p:nvSpPr>
        <p:spPr>
          <a:xfrm>
            <a:off x="1298448" y="369417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Storage</a:t>
            </a:r>
          </a:p>
        </p:txBody>
      </p:sp>
      <p:sp>
        <p:nvSpPr>
          <p:cNvPr id="33" name="TextBox 32"/>
          <p:cNvSpPr txBox="1"/>
          <p:nvPr/>
        </p:nvSpPr>
        <p:spPr>
          <a:xfrm>
            <a:off x="850392" y="416052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Formats, tables, layout</a:t>
            </a:r>
          </a:p>
        </p:txBody>
      </p:sp>
      <p:cxnSp>
        <p:nvCxnSpPr>
          <p:cNvPr id="34" name="Connector 33"/>
          <p:cNvCxnSpPr/>
          <p:nvPr/>
        </p:nvCxnSpPr>
        <p:spPr>
          <a:xfrm>
            <a:off x="4142232" y="4279392"/>
            <a:ext cx="265176" cy="0"/>
          </a:xfrm>
          <a:prstGeom prst="line">
            <a:avLst/>
          </a:prstGeom>
          <a:ln w="17780">
            <a:solidFill>
              <a:srgbClr val="74849A"/>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480560" y="356616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480560" y="3566160"/>
            <a:ext cx="64008" cy="1417320"/>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4645152" y="3712463"/>
            <a:ext cx="384048" cy="384048"/>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645152" y="3749039"/>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5</a:t>
            </a:r>
          </a:p>
        </p:txBody>
      </p:sp>
      <p:sp>
        <p:nvSpPr>
          <p:cNvPr id="39" name="TextBox 38"/>
          <p:cNvSpPr txBox="1"/>
          <p:nvPr/>
        </p:nvSpPr>
        <p:spPr>
          <a:xfrm>
            <a:off x="5138928" y="369417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Quality</a:t>
            </a:r>
          </a:p>
        </p:txBody>
      </p:sp>
      <p:sp>
        <p:nvSpPr>
          <p:cNvPr id="40" name="TextBox 39"/>
          <p:cNvSpPr txBox="1"/>
          <p:nvPr/>
        </p:nvSpPr>
        <p:spPr>
          <a:xfrm>
            <a:off x="4690872" y="416052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Contracts, tests, telemetry</a:t>
            </a:r>
          </a:p>
        </p:txBody>
      </p:sp>
      <p:cxnSp>
        <p:nvCxnSpPr>
          <p:cNvPr id="41" name="Connector 40"/>
          <p:cNvCxnSpPr/>
          <p:nvPr/>
        </p:nvCxnSpPr>
        <p:spPr>
          <a:xfrm>
            <a:off x="7982712" y="4279392"/>
            <a:ext cx="265176" cy="0"/>
          </a:xfrm>
          <a:prstGeom prst="line">
            <a:avLst/>
          </a:prstGeom>
          <a:ln w="17780">
            <a:solidFill>
              <a:srgbClr val="74849A"/>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321040" y="356616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321040" y="3566160"/>
            <a:ext cx="64008" cy="1417320"/>
          </a:xfrm>
          <a:prstGeom prst="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8485632" y="3712463"/>
            <a:ext cx="384048" cy="384048"/>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485632" y="3749039"/>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6</a:t>
            </a:r>
          </a:p>
        </p:txBody>
      </p:sp>
      <p:sp>
        <p:nvSpPr>
          <p:cNvPr id="46" name="TextBox 45"/>
          <p:cNvSpPr txBox="1"/>
          <p:nvPr/>
        </p:nvSpPr>
        <p:spPr>
          <a:xfrm>
            <a:off x="8979408" y="369417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Operations</a:t>
            </a:r>
          </a:p>
        </p:txBody>
      </p:sp>
      <p:sp>
        <p:nvSpPr>
          <p:cNvPr id="47" name="TextBox 46"/>
          <p:cNvSpPr txBox="1"/>
          <p:nvPr/>
        </p:nvSpPr>
        <p:spPr>
          <a:xfrm>
            <a:off x="8531352" y="416052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Replay, scale, DR, cost</a:t>
            </a:r>
          </a:p>
        </p:txBody>
      </p:sp>
      <p:cxnSp>
        <p:nvCxnSpPr>
          <p:cNvPr id="48" name="Connector 47"/>
          <p:cNvCxnSpPr/>
          <p:nvPr/>
        </p:nvCxnSpPr>
        <p:spPr>
          <a:xfrm>
            <a:off x="10881360" y="3035808"/>
            <a:ext cx="0" cy="411480"/>
          </a:xfrm>
          <a:prstGeom prst="line">
            <a:avLst/>
          </a:prstGeom>
          <a:ln w="17780">
            <a:solidFill>
              <a:srgbClr val="74849A"/>
            </a:solidFill>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1508760" y="5715000"/>
            <a:ext cx="9189720" cy="50292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655063" y="5833872"/>
            <a:ext cx="8915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At every step ask: What fails? How do I detect it? How do I recover without corrupting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FRAMEWORK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A practical 45-minute interview cadence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Time-box detail so the architecture is complete before you dive deep.</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05</a:t>
            </a:r>
          </a:p>
        </p:txBody>
      </p:sp>
      <p:sp>
        <p:nvSpPr>
          <p:cNvPr id="8" name="Rounded Rectangle 7"/>
          <p:cNvSpPr/>
          <p:nvPr/>
        </p:nvSpPr>
        <p:spPr>
          <a:xfrm>
            <a:off x="685800"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828800"/>
            <a:ext cx="1572768" cy="56692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0–7 min</a:t>
            </a:r>
          </a:p>
        </p:txBody>
      </p:sp>
      <p:sp>
        <p:nvSpPr>
          <p:cNvPr id="11" name="TextBox 10"/>
          <p:cNvSpPr txBox="1"/>
          <p:nvPr/>
        </p:nvSpPr>
        <p:spPr>
          <a:xfrm>
            <a:off x="795528"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Clarify</a:t>
            </a:r>
          </a:p>
        </p:txBody>
      </p:sp>
      <p:sp>
        <p:nvSpPr>
          <p:cNvPr id="12" name="TextBox 11"/>
          <p:cNvSpPr txBox="1"/>
          <p:nvPr/>
        </p:nvSpPr>
        <p:spPr>
          <a:xfrm>
            <a:off x="804672" y="3154680"/>
            <a:ext cx="1335024" cy="82296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Users, outputs, SLAs, volume, retention</a:t>
            </a:r>
          </a:p>
        </p:txBody>
      </p:sp>
      <p:sp>
        <p:nvSpPr>
          <p:cNvPr id="13" name="Rounded Rectangle 12"/>
          <p:cNvSpPr/>
          <p:nvPr/>
        </p:nvSpPr>
        <p:spPr>
          <a:xfrm>
            <a:off x="2569464"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569464" y="1828800"/>
            <a:ext cx="1572768" cy="56692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69464"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7–12</a:t>
            </a:r>
          </a:p>
        </p:txBody>
      </p:sp>
      <p:sp>
        <p:nvSpPr>
          <p:cNvPr id="16" name="TextBox 15"/>
          <p:cNvSpPr txBox="1"/>
          <p:nvPr/>
        </p:nvSpPr>
        <p:spPr>
          <a:xfrm>
            <a:off x="2679192"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Estimate</a:t>
            </a:r>
          </a:p>
        </p:txBody>
      </p:sp>
      <p:sp>
        <p:nvSpPr>
          <p:cNvPr id="17" name="TextBox 16"/>
          <p:cNvSpPr txBox="1"/>
          <p:nvPr/>
        </p:nvSpPr>
        <p:spPr>
          <a:xfrm>
            <a:off x="2688336" y="3154680"/>
            <a:ext cx="1335024" cy="82296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Events/sec, bytes/day, peak factor, growth</a:t>
            </a:r>
          </a:p>
        </p:txBody>
      </p:sp>
      <p:sp>
        <p:nvSpPr>
          <p:cNvPr id="18" name="Rounded Rectangle 17"/>
          <p:cNvSpPr/>
          <p:nvPr/>
        </p:nvSpPr>
        <p:spPr>
          <a:xfrm>
            <a:off x="4453128"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453128" y="1828800"/>
            <a:ext cx="1572768" cy="56692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53128"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12–23</a:t>
            </a:r>
          </a:p>
        </p:txBody>
      </p:sp>
      <p:sp>
        <p:nvSpPr>
          <p:cNvPr id="21" name="TextBox 20"/>
          <p:cNvSpPr txBox="1"/>
          <p:nvPr/>
        </p:nvSpPr>
        <p:spPr>
          <a:xfrm>
            <a:off x="4562856"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High level</a:t>
            </a:r>
          </a:p>
        </p:txBody>
      </p:sp>
      <p:sp>
        <p:nvSpPr>
          <p:cNvPr id="22" name="TextBox 21"/>
          <p:cNvSpPr txBox="1"/>
          <p:nvPr/>
        </p:nvSpPr>
        <p:spPr>
          <a:xfrm>
            <a:off x="4572000" y="3154680"/>
            <a:ext cx="1335024" cy="82296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Sources → ingest → process → store → serve</a:t>
            </a:r>
          </a:p>
        </p:txBody>
      </p:sp>
      <p:sp>
        <p:nvSpPr>
          <p:cNvPr id="23" name="Rounded Rectangle 22"/>
          <p:cNvSpPr/>
          <p:nvPr/>
        </p:nvSpPr>
        <p:spPr>
          <a:xfrm>
            <a:off x="6336792"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336792" y="1828800"/>
            <a:ext cx="1572768" cy="56692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36792"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23–33</a:t>
            </a:r>
          </a:p>
        </p:txBody>
      </p:sp>
      <p:sp>
        <p:nvSpPr>
          <p:cNvPr id="26" name="TextBox 25"/>
          <p:cNvSpPr txBox="1"/>
          <p:nvPr/>
        </p:nvSpPr>
        <p:spPr>
          <a:xfrm>
            <a:off x="6446520"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Deep dive</a:t>
            </a:r>
          </a:p>
        </p:txBody>
      </p:sp>
      <p:sp>
        <p:nvSpPr>
          <p:cNvPr id="27" name="TextBox 26"/>
          <p:cNvSpPr txBox="1"/>
          <p:nvPr/>
        </p:nvSpPr>
        <p:spPr>
          <a:xfrm>
            <a:off x="6455664" y="3154680"/>
            <a:ext cx="1335024" cy="82296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Model, partitions, state, delivery semantics</a:t>
            </a:r>
          </a:p>
        </p:txBody>
      </p:sp>
      <p:sp>
        <p:nvSpPr>
          <p:cNvPr id="28" name="Rounded Rectangle 27"/>
          <p:cNvSpPr/>
          <p:nvPr/>
        </p:nvSpPr>
        <p:spPr>
          <a:xfrm>
            <a:off x="8220456"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220456" y="1828800"/>
            <a:ext cx="1572768" cy="566928"/>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20456"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33–40</a:t>
            </a:r>
          </a:p>
        </p:txBody>
      </p:sp>
      <p:sp>
        <p:nvSpPr>
          <p:cNvPr id="31" name="TextBox 30"/>
          <p:cNvSpPr txBox="1"/>
          <p:nvPr/>
        </p:nvSpPr>
        <p:spPr>
          <a:xfrm>
            <a:off x="8330183"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Reliability</a:t>
            </a:r>
          </a:p>
        </p:txBody>
      </p:sp>
      <p:sp>
        <p:nvSpPr>
          <p:cNvPr id="32" name="TextBox 31"/>
          <p:cNvSpPr txBox="1"/>
          <p:nvPr/>
        </p:nvSpPr>
        <p:spPr>
          <a:xfrm>
            <a:off x="8339328" y="3154680"/>
            <a:ext cx="1335024" cy="82296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Quality, replay, backfill, schema, DR</a:t>
            </a:r>
          </a:p>
        </p:txBody>
      </p:sp>
      <p:sp>
        <p:nvSpPr>
          <p:cNvPr id="33" name="Rounded Rectangle 32"/>
          <p:cNvSpPr/>
          <p:nvPr/>
        </p:nvSpPr>
        <p:spPr>
          <a:xfrm>
            <a:off x="10104120"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10104120" y="1828800"/>
            <a:ext cx="1572768" cy="566928"/>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104120"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40–45</a:t>
            </a:r>
          </a:p>
        </p:txBody>
      </p:sp>
      <p:sp>
        <p:nvSpPr>
          <p:cNvPr id="36" name="TextBox 35"/>
          <p:cNvSpPr txBox="1"/>
          <p:nvPr/>
        </p:nvSpPr>
        <p:spPr>
          <a:xfrm>
            <a:off x="10213848"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Trade-offs</a:t>
            </a:r>
          </a:p>
        </p:txBody>
      </p:sp>
      <p:sp>
        <p:nvSpPr>
          <p:cNvPr id="37" name="TextBox 36"/>
          <p:cNvSpPr txBox="1"/>
          <p:nvPr/>
        </p:nvSpPr>
        <p:spPr>
          <a:xfrm>
            <a:off x="10222992" y="3154680"/>
            <a:ext cx="1335024" cy="82296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Bottlenecks, cost, 10× scale, summary</a:t>
            </a:r>
          </a:p>
        </p:txBody>
      </p:sp>
      <p:sp>
        <p:nvSpPr>
          <p:cNvPr id="38" name="Rounded Rectangle 37"/>
          <p:cNvSpPr/>
          <p:nvPr/>
        </p:nvSpPr>
        <p:spPr>
          <a:xfrm>
            <a:off x="1280160" y="5074920"/>
            <a:ext cx="9601200" cy="59436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426463" y="5193792"/>
            <a:ext cx="9326880" cy="411480"/>
          </a:xfrm>
          <a:prstGeom prst="rect">
            <a:avLst/>
          </a:prstGeom>
          <a:noFill/>
        </p:spPr>
        <p:txBody>
          <a:bodyPr wrap="none" lIns="45720" rIns="45720" anchor="t">
            <a:spAutoFit/>
          </a:bodyPr>
          <a:lstStyle/>
          <a:p>
            <a:pPr algn="l">
              <a:spcAft>
                <a:spcPts val="0"/>
              </a:spcAft>
            </a:pPr>
            <a:r>
              <a:rPr sz="1100" b="1" i="0">
                <a:solidFill>
                  <a:srgbClr val="0C1930"/>
                </a:solidFill>
                <a:latin typeface="Aptos"/>
              </a:rPr>
              <a:t>Checkpoint at minute 20: the interviewer should already see an end-to-end data flow and understand why it meets the SLAs.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REQUIREMENTS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1 — Requirements canvas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Do not draw architecture until these questions are sufficiently answered.</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06</a:t>
            </a:r>
          </a:p>
        </p:txBody>
      </p:sp>
      <p:sp>
        <p:nvSpPr>
          <p:cNvPr id="8" name="Rounded Rectangle 7"/>
          <p:cNvSpPr/>
          <p:nvPr/>
        </p:nvSpPr>
        <p:spPr>
          <a:xfrm>
            <a:off x="640080" y="15544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554480"/>
            <a:ext cx="64008" cy="1572768"/>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2" y="1682495"/>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WHO</a:t>
            </a:r>
          </a:p>
        </p:txBody>
      </p:sp>
      <p:sp>
        <p:nvSpPr>
          <p:cNvPr id="11" name="TextBox 10"/>
          <p:cNvSpPr txBox="1"/>
          <p:nvPr/>
        </p:nvSpPr>
        <p:spPr>
          <a:xfrm>
            <a:off x="850392" y="21488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Who consumes it? Analysts, applications, ML, partners?</a:t>
            </a:r>
          </a:p>
        </p:txBody>
      </p:sp>
      <p:sp>
        <p:nvSpPr>
          <p:cNvPr id="12" name="Rounded Rectangle 11"/>
          <p:cNvSpPr/>
          <p:nvPr/>
        </p:nvSpPr>
        <p:spPr>
          <a:xfrm>
            <a:off x="4480560" y="15544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80560" y="1554480"/>
            <a:ext cx="64008" cy="1572768"/>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90872" y="1682495"/>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WHAT</a:t>
            </a:r>
          </a:p>
        </p:txBody>
      </p:sp>
      <p:sp>
        <p:nvSpPr>
          <p:cNvPr id="15" name="TextBox 14"/>
          <p:cNvSpPr txBox="1"/>
          <p:nvPr/>
        </p:nvSpPr>
        <p:spPr>
          <a:xfrm>
            <a:off x="4690872" y="21488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Raw events, metrics, dimensions, features, alerts?</a:t>
            </a:r>
          </a:p>
        </p:txBody>
      </p:sp>
      <p:sp>
        <p:nvSpPr>
          <p:cNvPr id="16" name="Rounded Rectangle 15"/>
          <p:cNvSpPr/>
          <p:nvPr/>
        </p:nvSpPr>
        <p:spPr>
          <a:xfrm>
            <a:off x="8321040" y="15544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321040" y="1554480"/>
            <a:ext cx="64008" cy="1572768"/>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31352" y="1682495"/>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HOW</a:t>
            </a:r>
          </a:p>
        </p:txBody>
      </p:sp>
      <p:sp>
        <p:nvSpPr>
          <p:cNvPr id="19" name="TextBox 18"/>
          <p:cNvSpPr txBox="1"/>
          <p:nvPr/>
        </p:nvSpPr>
        <p:spPr>
          <a:xfrm>
            <a:off x="8531352" y="21488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SQL, BI, API, file export, reverse ETL, feature store?</a:t>
            </a:r>
          </a:p>
        </p:txBody>
      </p:sp>
      <p:sp>
        <p:nvSpPr>
          <p:cNvPr id="20" name="Rounded Rectangle 19"/>
          <p:cNvSpPr/>
          <p:nvPr/>
        </p:nvSpPr>
        <p:spPr>
          <a:xfrm>
            <a:off x="640080" y="36118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0080" y="3611880"/>
            <a:ext cx="64008" cy="1572768"/>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0392" y="3739896"/>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WHEN</a:t>
            </a:r>
          </a:p>
        </p:txBody>
      </p:sp>
      <p:sp>
        <p:nvSpPr>
          <p:cNvPr id="23" name="TextBox 22"/>
          <p:cNvSpPr txBox="1"/>
          <p:nvPr/>
        </p:nvSpPr>
        <p:spPr>
          <a:xfrm>
            <a:off x="850392" y="42062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Real-time, &lt;2 min, hourly, daily? Event vs. processing time?</a:t>
            </a:r>
          </a:p>
        </p:txBody>
      </p:sp>
      <p:sp>
        <p:nvSpPr>
          <p:cNvPr id="24" name="Rounded Rectangle 23"/>
          <p:cNvSpPr/>
          <p:nvPr/>
        </p:nvSpPr>
        <p:spPr>
          <a:xfrm>
            <a:off x="4480560" y="36118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480560" y="3611880"/>
            <a:ext cx="64008" cy="1572768"/>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90872" y="3739896"/>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HOW MUCH</a:t>
            </a:r>
          </a:p>
        </p:txBody>
      </p:sp>
      <p:sp>
        <p:nvSpPr>
          <p:cNvPr id="27" name="TextBox 26"/>
          <p:cNvSpPr txBox="1"/>
          <p:nvPr/>
        </p:nvSpPr>
        <p:spPr>
          <a:xfrm>
            <a:off x="4690872" y="42062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Average/peak throughput, event size, growth, cardinality?</a:t>
            </a:r>
          </a:p>
        </p:txBody>
      </p:sp>
      <p:sp>
        <p:nvSpPr>
          <p:cNvPr id="28" name="Rounded Rectangle 27"/>
          <p:cNvSpPr/>
          <p:nvPr/>
        </p:nvSpPr>
        <p:spPr>
          <a:xfrm>
            <a:off x="8321040" y="36118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321040" y="3611880"/>
            <a:ext cx="64008" cy="1572768"/>
          </a:xfrm>
          <a:prstGeom prst="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31352" y="3739896"/>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HOW LONG</a:t>
            </a:r>
          </a:p>
        </p:txBody>
      </p:sp>
      <p:sp>
        <p:nvSpPr>
          <p:cNvPr id="31" name="TextBox 30"/>
          <p:cNvSpPr txBox="1"/>
          <p:nvPr/>
        </p:nvSpPr>
        <p:spPr>
          <a:xfrm>
            <a:off x="8531352" y="42062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Retention, replay window, legal deletion, RPO/RTO?</a:t>
            </a:r>
          </a:p>
        </p:txBody>
      </p:sp>
      <p:sp>
        <p:nvSpPr>
          <p:cNvPr id="32" name="TextBox 31"/>
          <p:cNvSpPr txBox="1"/>
          <p:nvPr/>
        </p:nvSpPr>
        <p:spPr>
          <a:xfrm>
            <a:off x="777240" y="5779008"/>
            <a:ext cx="10698480" cy="365760"/>
          </a:xfrm>
          <a:prstGeom prst="rect">
            <a:avLst/>
          </a:prstGeom>
          <a:noFill/>
        </p:spPr>
        <p:txBody>
          <a:bodyPr wrap="none" lIns="45720" rIns="45720" anchor="t">
            <a:spAutoFit/>
          </a:bodyPr>
          <a:lstStyle/>
          <a:p>
            <a:pPr algn="ctr">
              <a:spcAft>
                <a:spcPts val="0"/>
              </a:spcAft>
            </a:pPr>
            <a:r>
              <a:rPr sz="1100" b="1" i="0">
                <a:solidFill>
                  <a:srgbClr val="0C1930"/>
                </a:solidFill>
                <a:latin typeface="Aptos"/>
              </a:rPr>
              <a:t>Write assumptions explicitly. Example: “I’ll assume 3× peak over average and 30-day Kafka retention; we can revise if needed.”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REQUIREMENTS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Functional vs. non-functional requirements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Functional defines outcomes; non-functional constraints shape every component choice.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07</a:t>
            </a:r>
          </a:p>
        </p:txBody>
      </p:sp>
      <p:graphicFrame>
        <p:nvGraphicFramePr>
          <p:cNvPr id="8" name="Table 7"/>
          <p:cNvGraphicFramePr>
            <a:graphicFrameLocks noGrp="1"/>
          </p:cNvGraphicFramePr>
          <p:nvPr/>
        </p:nvGraphicFramePr>
        <p:xfrm>
          <a:off x="594360" y="1527048"/>
          <a:ext cx="11018520" cy="452628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565785">
                <a:tc>
                  <a:txBody>
                    <a:bodyPr/>
                    <a:lstStyle/>
                    <a:p>
                      <a:pPr algn="l"/>
                      <a:r>
                        <a:rPr sz="919" b="1">
                          <a:solidFill>
                            <a:srgbClr val="FFFFFF"/>
                          </a:solidFill>
                          <a:latin typeface="Aptos"/>
                        </a:rPr>
                        <a:t>Area</a:t>
                      </a:r>
                    </a:p>
                  </a:txBody>
                  <a:tcPr marL="73152" marR="54864" marB="27432">
                    <a:solidFill>
                      <a:srgbClr val="0C1930"/>
                    </a:solidFill>
                  </a:tcPr>
                </a:tc>
                <a:tc>
                  <a:txBody>
                    <a:bodyPr/>
                    <a:lstStyle/>
                    <a:p>
                      <a:pPr algn="l"/>
                      <a:r>
                        <a:rPr sz="919" b="1">
                          <a:solidFill>
                            <a:srgbClr val="FFFFFF"/>
                          </a:solidFill>
                          <a:latin typeface="Aptos"/>
                        </a:rPr>
                        <a:t>Questions to ask</a:t>
                      </a:r>
                    </a:p>
                  </a:txBody>
                  <a:tcPr marL="73152" marR="54864" marB="27432">
                    <a:solidFill>
                      <a:srgbClr val="0C1930"/>
                    </a:solidFill>
                  </a:tcPr>
                </a:tc>
                <a:tc>
                  <a:txBody>
                    <a:bodyPr/>
                    <a:lstStyle/>
                    <a:p>
                      <a:pPr algn="l"/>
                      <a:r>
                        <a:rPr sz="919" b="1">
                          <a:solidFill>
                            <a:srgbClr val="FFFFFF"/>
                          </a:solidFill>
                          <a:latin typeface="Aptos"/>
                        </a:rPr>
                        <a:t>Example acceptance criterion</a:t>
                      </a:r>
                    </a:p>
                  </a:txBody>
                  <a:tcPr marL="73152" marR="54864" marB="27432">
                    <a:solidFill>
                      <a:srgbClr val="0C1930"/>
                    </a:solidFill>
                  </a:tcPr>
                </a:tc>
                <a:extLst>
                  <a:ext uri="{0D108BD9-81ED-4DB2-BD59-A6C34878D82A}">
                    <a16:rowId xmlns:a16="http://schemas.microsoft.com/office/drawing/2014/main" val="10000"/>
                  </a:ext>
                </a:extLst>
              </a:tr>
              <a:tr h="565785">
                <a:tc>
                  <a:txBody>
                    <a:bodyPr/>
                    <a:lstStyle/>
                    <a:p>
                      <a:pPr algn="l"/>
                      <a:r>
                        <a:rPr sz="969" b="0">
                          <a:solidFill>
                            <a:srgbClr val="253042"/>
                          </a:solidFill>
                          <a:latin typeface="Aptos"/>
                        </a:rPr>
                        <a:t>Consumers &amp; outputs</a:t>
                      </a:r>
                    </a:p>
                  </a:txBody>
                  <a:tcPr marL="73152" marR="54864" marB="27432">
                    <a:solidFill>
                      <a:srgbClr val="FFFFFF"/>
                    </a:solidFill>
                  </a:tcPr>
                </a:tc>
                <a:tc>
                  <a:txBody>
                    <a:bodyPr/>
                    <a:lstStyle/>
                    <a:p>
                      <a:pPr algn="l"/>
                      <a:r>
                        <a:rPr sz="969" b="0">
                          <a:solidFill>
                            <a:srgbClr val="253042"/>
                          </a:solidFill>
                          <a:latin typeface="Aptos"/>
                        </a:rPr>
                        <a:t>Who reads what, through which interface?</a:t>
                      </a:r>
                    </a:p>
                  </a:txBody>
                  <a:tcPr marL="73152" marR="54864" marB="27432">
                    <a:solidFill>
                      <a:srgbClr val="FFFFFF"/>
                    </a:solidFill>
                  </a:tcPr>
                </a:tc>
                <a:tc>
                  <a:txBody>
                    <a:bodyPr/>
                    <a:lstStyle/>
                    <a:p>
                      <a:pPr algn="l"/>
                      <a:r>
                        <a:rPr sz="969" b="0">
                          <a:solidFill>
                            <a:srgbClr val="253042"/>
                          </a:solidFill>
                          <a:latin typeface="Aptos"/>
                        </a:rPr>
                        <a:t>Restaurant KPI dashboard + executive daily report</a:t>
                      </a:r>
                    </a:p>
                  </a:txBody>
                  <a:tcPr marL="73152" marR="54864" marB="27432">
                    <a:solidFill>
                      <a:srgbClr val="FFFFFF"/>
                    </a:solidFill>
                  </a:tcPr>
                </a:tc>
                <a:extLst>
                  <a:ext uri="{0D108BD9-81ED-4DB2-BD59-A6C34878D82A}">
                    <a16:rowId xmlns:a16="http://schemas.microsoft.com/office/drawing/2014/main" val="10001"/>
                  </a:ext>
                </a:extLst>
              </a:tr>
              <a:tr h="565785">
                <a:tc>
                  <a:txBody>
                    <a:bodyPr/>
                    <a:lstStyle/>
                    <a:p>
                      <a:pPr algn="l"/>
                      <a:r>
                        <a:rPr sz="969" b="0">
                          <a:solidFill>
                            <a:srgbClr val="253042"/>
                          </a:solidFill>
                          <a:latin typeface="Aptos"/>
                        </a:rPr>
                        <a:t>Freshness / latency</a:t>
                      </a:r>
                    </a:p>
                  </a:txBody>
                  <a:tcPr marL="73152" marR="54864" marB="27432">
                    <a:solidFill>
                      <a:srgbClr val="F7F9FC"/>
                    </a:solidFill>
                  </a:tcPr>
                </a:tc>
                <a:tc>
                  <a:txBody>
                    <a:bodyPr/>
                    <a:lstStyle/>
                    <a:p>
                      <a:pPr algn="l"/>
                      <a:r>
                        <a:rPr sz="969" b="0">
                          <a:solidFill>
                            <a:srgbClr val="253042"/>
                          </a:solidFill>
                          <a:latin typeface="Aptos"/>
                        </a:rPr>
                        <a:t>End-to-end SLA or per-stage? p95 or average?</a:t>
                      </a:r>
                    </a:p>
                  </a:txBody>
                  <a:tcPr marL="73152" marR="54864" marB="27432">
                    <a:solidFill>
                      <a:srgbClr val="F7F9FC"/>
                    </a:solidFill>
                  </a:tcPr>
                </a:tc>
                <a:tc>
                  <a:txBody>
                    <a:bodyPr/>
                    <a:lstStyle/>
                    <a:p>
                      <a:pPr algn="l"/>
                      <a:r>
                        <a:rPr sz="969" b="0">
                          <a:solidFill>
                            <a:srgbClr val="253042"/>
                          </a:solidFill>
                          <a:latin typeface="Aptos"/>
                        </a:rPr>
                        <a:t>p95 event-to-dashboard &lt; 120 seconds</a:t>
                      </a:r>
                    </a:p>
                  </a:txBody>
                  <a:tcPr marL="73152" marR="54864" marB="27432">
                    <a:solidFill>
                      <a:srgbClr val="F7F9FC"/>
                    </a:solidFill>
                  </a:tcPr>
                </a:tc>
                <a:extLst>
                  <a:ext uri="{0D108BD9-81ED-4DB2-BD59-A6C34878D82A}">
                    <a16:rowId xmlns:a16="http://schemas.microsoft.com/office/drawing/2014/main" val="10002"/>
                  </a:ext>
                </a:extLst>
              </a:tr>
              <a:tr h="565785">
                <a:tc>
                  <a:txBody>
                    <a:bodyPr/>
                    <a:lstStyle/>
                    <a:p>
                      <a:pPr algn="l"/>
                      <a:r>
                        <a:rPr sz="969" b="0">
                          <a:solidFill>
                            <a:srgbClr val="253042"/>
                          </a:solidFill>
                          <a:latin typeface="Aptos"/>
                        </a:rPr>
                        <a:t>Correctness</a:t>
                      </a:r>
                    </a:p>
                  </a:txBody>
                  <a:tcPr marL="73152" marR="54864" marB="27432">
                    <a:solidFill>
                      <a:srgbClr val="FFFFFF"/>
                    </a:solidFill>
                  </a:tcPr>
                </a:tc>
                <a:tc>
                  <a:txBody>
                    <a:bodyPr/>
                    <a:lstStyle/>
                    <a:p>
                      <a:pPr algn="l"/>
                      <a:r>
                        <a:rPr sz="969" b="0">
                          <a:solidFill>
                            <a:srgbClr val="253042"/>
                          </a:solidFill>
                          <a:latin typeface="Aptos"/>
                        </a:rPr>
                        <a:t>Exactly-once outcome? Late data? Revisions?</a:t>
                      </a:r>
                    </a:p>
                  </a:txBody>
                  <a:tcPr marL="73152" marR="54864" marB="27432">
                    <a:solidFill>
                      <a:srgbClr val="FFFFFF"/>
                    </a:solidFill>
                  </a:tcPr>
                </a:tc>
                <a:tc>
                  <a:txBody>
                    <a:bodyPr/>
                    <a:lstStyle/>
                    <a:p>
                      <a:pPr algn="l"/>
                      <a:r>
                        <a:rPr sz="969" b="0">
                          <a:solidFill>
                            <a:srgbClr val="253042"/>
                          </a:solidFill>
                          <a:latin typeface="Aptos"/>
                        </a:rPr>
                        <a:t>Final daily totals reconcile to source within 0.1%</a:t>
                      </a:r>
                    </a:p>
                  </a:txBody>
                  <a:tcPr marL="73152" marR="54864" marB="27432">
                    <a:solidFill>
                      <a:srgbClr val="FFFFFF"/>
                    </a:solidFill>
                  </a:tcPr>
                </a:tc>
                <a:extLst>
                  <a:ext uri="{0D108BD9-81ED-4DB2-BD59-A6C34878D82A}">
                    <a16:rowId xmlns:a16="http://schemas.microsoft.com/office/drawing/2014/main" val="10003"/>
                  </a:ext>
                </a:extLst>
              </a:tr>
              <a:tr h="565785">
                <a:tc>
                  <a:txBody>
                    <a:bodyPr/>
                    <a:lstStyle/>
                    <a:p>
                      <a:pPr algn="l"/>
                      <a:r>
                        <a:rPr sz="969" b="0">
                          <a:solidFill>
                            <a:srgbClr val="253042"/>
                          </a:solidFill>
                          <a:latin typeface="Aptos"/>
                        </a:rPr>
                        <a:t>Availability</a:t>
                      </a:r>
                    </a:p>
                  </a:txBody>
                  <a:tcPr marL="73152" marR="54864" marB="27432">
                    <a:solidFill>
                      <a:srgbClr val="F7F9FC"/>
                    </a:solidFill>
                  </a:tcPr>
                </a:tc>
                <a:tc>
                  <a:txBody>
                    <a:bodyPr/>
                    <a:lstStyle/>
                    <a:p>
                      <a:pPr algn="l"/>
                      <a:r>
                        <a:rPr sz="969" b="0">
                          <a:solidFill>
                            <a:srgbClr val="253042"/>
                          </a:solidFill>
                          <a:latin typeface="Aptos"/>
                        </a:rPr>
                        <a:t>Can consumers tolerate stale data or downtime?</a:t>
                      </a:r>
                    </a:p>
                  </a:txBody>
                  <a:tcPr marL="73152" marR="54864" marB="27432">
                    <a:solidFill>
                      <a:srgbClr val="F7F9FC"/>
                    </a:solidFill>
                  </a:tcPr>
                </a:tc>
                <a:tc>
                  <a:txBody>
                    <a:bodyPr/>
                    <a:lstStyle/>
                    <a:p>
                      <a:pPr algn="l"/>
                      <a:r>
                        <a:rPr sz="969" b="0">
                          <a:solidFill>
                            <a:srgbClr val="253042"/>
                          </a:solidFill>
                          <a:latin typeface="Aptos"/>
                        </a:rPr>
                        <a:t>99.9% serving availability; stale badge after 5 min</a:t>
                      </a:r>
                    </a:p>
                  </a:txBody>
                  <a:tcPr marL="73152" marR="54864" marB="27432">
                    <a:solidFill>
                      <a:srgbClr val="F7F9FC"/>
                    </a:solidFill>
                  </a:tcPr>
                </a:tc>
                <a:extLst>
                  <a:ext uri="{0D108BD9-81ED-4DB2-BD59-A6C34878D82A}">
                    <a16:rowId xmlns:a16="http://schemas.microsoft.com/office/drawing/2014/main" val="10004"/>
                  </a:ext>
                </a:extLst>
              </a:tr>
              <a:tr h="565785">
                <a:tc>
                  <a:txBody>
                    <a:bodyPr/>
                    <a:lstStyle/>
                    <a:p>
                      <a:pPr algn="l"/>
                      <a:r>
                        <a:rPr sz="969" b="0">
                          <a:solidFill>
                            <a:srgbClr val="253042"/>
                          </a:solidFill>
                          <a:latin typeface="Aptos"/>
                        </a:rPr>
                        <a:t>Retention &amp; replay</a:t>
                      </a:r>
                    </a:p>
                  </a:txBody>
                  <a:tcPr marL="73152" marR="54864" marB="27432">
                    <a:solidFill>
                      <a:srgbClr val="FFFFFF"/>
                    </a:solidFill>
                  </a:tcPr>
                </a:tc>
                <a:tc>
                  <a:txBody>
                    <a:bodyPr/>
                    <a:lstStyle/>
                    <a:p>
                      <a:pPr algn="l"/>
                      <a:r>
                        <a:rPr sz="969" b="0">
                          <a:solidFill>
                            <a:srgbClr val="253042"/>
                          </a:solidFill>
                          <a:latin typeface="Aptos"/>
                        </a:rPr>
                        <a:t>What must be retained, deleted, or reproduced?</a:t>
                      </a:r>
                    </a:p>
                  </a:txBody>
                  <a:tcPr marL="73152" marR="54864" marB="27432">
                    <a:solidFill>
                      <a:srgbClr val="FFFFFF"/>
                    </a:solidFill>
                  </a:tcPr>
                </a:tc>
                <a:tc>
                  <a:txBody>
                    <a:bodyPr/>
                    <a:lstStyle/>
                    <a:p>
                      <a:pPr algn="l"/>
                      <a:r>
                        <a:rPr sz="969" b="0">
                          <a:solidFill>
                            <a:srgbClr val="253042"/>
                          </a:solidFill>
                          <a:latin typeface="Aptos"/>
                        </a:rPr>
                        <a:t>2 years analytics; 14 days event-bus replay</a:t>
                      </a:r>
                    </a:p>
                  </a:txBody>
                  <a:tcPr marL="73152" marR="54864" marB="27432">
                    <a:solidFill>
                      <a:srgbClr val="FFFFFF"/>
                    </a:solidFill>
                  </a:tcPr>
                </a:tc>
                <a:extLst>
                  <a:ext uri="{0D108BD9-81ED-4DB2-BD59-A6C34878D82A}">
                    <a16:rowId xmlns:a16="http://schemas.microsoft.com/office/drawing/2014/main" val="10005"/>
                  </a:ext>
                </a:extLst>
              </a:tr>
              <a:tr h="565785">
                <a:tc>
                  <a:txBody>
                    <a:bodyPr/>
                    <a:lstStyle/>
                    <a:p>
                      <a:pPr algn="l"/>
                      <a:r>
                        <a:rPr sz="969" b="0">
                          <a:solidFill>
                            <a:srgbClr val="253042"/>
                          </a:solidFill>
                          <a:latin typeface="Aptos"/>
                        </a:rPr>
                        <a:t>Security &amp; governance</a:t>
                      </a:r>
                    </a:p>
                  </a:txBody>
                  <a:tcPr marL="73152" marR="54864" marB="27432">
                    <a:solidFill>
                      <a:srgbClr val="F7F9FC"/>
                    </a:solidFill>
                  </a:tcPr>
                </a:tc>
                <a:tc>
                  <a:txBody>
                    <a:bodyPr/>
                    <a:lstStyle/>
                    <a:p>
                      <a:pPr algn="l"/>
                      <a:r>
                        <a:rPr sz="969" b="0">
                          <a:solidFill>
                            <a:srgbClr val="253042"/>
                          </a:solidFill>
                          <a:latin typeface="Aptos"/>
                        </a:rPr>
                        <a:t>PII, residency, access, audit, deletion?</a:t>
                      </a:r>
                    </a:p>
                  </a:txBody>
                  <a:tcPr marL="73152" marR="54864" marB="27432">
                    <a:solidFill>
                      <a:srgbClr val="F7F9FC"/>
                    </a:solidFill>
                  </a:tcPr>
                </a:tc>
                <a:tc>
                  <a:txBody>
                    <a:bodyPr/>
                    <a:lstStyle/>
                    <a:p>
                      <a:pPr algn="l"/>
                      <a:r>
                        <a:rPr sz="969" b="0">
                          <a:solidFill>
                            <a:srgbClr val="253042"/>
                          </a:solidFill>
                          <a:latin typeface="Aptos"/>
                        </a:rPr>
                        <a:t>Encrypt; RBAC; delete subject data within 30 days</a:t>
                      </a:r>
                    </a:p>
                  </a:txBody>
                  <a:tcPr marL="73152" marR="54864" marB="27432">
                    <a:solidFill>
                      <a:srgbClr val="F7F9FC"/>
                    </a:solidFill>
                  </a:tcPr>
                </a:tc>
                <a:extLst>
                  <a:ext uri="{0D108BD9-81ED-4DB2-BD59-A6C34878D82A}">
                    <a16:rowId xmlns:a16="http://schemas.microsoft.com/office/drawing/2014/main" val="10006"/>
                  </a:ext>
                </a:extLst>
              </a:tr>
              <a:tr h="565785">
                <a:tc>
                  <a:txBody>
                    <a:bodyPr/>
                    <a:lstStyle/>
                    <a:p>
                      <a:pPr algn="l"/>
                      <a:r>
                        <a:rPr sz="969" b="0">
                          <a:solidFill>
                            <a:srgbClr val="253042"/>
                          </a:solidFill>
                          <a:latin typeface="Aptos"/>
                        </a:rPr>
                        <a:t>Cost &amp; operability</a:t>
                      </a:r>
                    </a:p>
                  </a:txBody>
                  <a:tcPr marL="73152" marR="54864" marB="27432">
                    <a:solidFill>
                      <a:srgbClr val="FFFFFF"/>
                    </a:solidFill>
                  </a:tcPr>
                </a:tc>
                <a:tc>
                  <a:txBody>
                    <a:bodyPr/>
                    <a:lstStyle/>
                    <a:p>
                      <a:pPr algn="l"/>
                      <a:r>
                        <a:rPr sz="969" b="0">
                          <a:solidFill>
                            <a:srgbClr val="253042"/>
                          </a:solidFill>
                          <a:latin typeface="Aptos"/>
                        </a:rPr>
                        <a:t>Budget, team skill, managed vs. self-hosted?</a:t>
                      </a:r>
                    </a:p>
                  </a:txBody>
                  <a:tcPr marL="73152" marR="54864" marB="27432">
                    <a:solidFill>
                      <a:srgbClr val="FFFFFF"/>
                    </a:solidFill>
                  </a:tcPr>
                </a:tc>
                <a:tc>
                  <a:txBody>
                    <a:bodyPr/>
                    <a:lstStyle/>
                    <a:p>
                      <a:pPr algn="l"/>
                      <a:r>
                        <a:rPr sz="969" b="0">
                          <a:solidFill>
                            <a:srgbClr val="253042"/>
                          </a:solidFill>
                          <a:latin typeface="Aptos"/>
                        </a:rPr>
                        <a:t>Prefer managed services; cap steady-state compute</a:t>
                      </a:r>
                    </a:p>
                  </a:txBody>
                  <a:tcPr marL="73152" marR="54864" marB="27432">
                    <a:solidFill>
                      <a:srgbClr val="FFFFFF"/>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685800" y="6144768"/>
            <a:ext cx="10789920" cy="228600"/>
          </a:xfrm>
          <a:prstGeom prst="rect">
            <a:avLst/>
          </a:prstGeom>
          <a:noFill/>
        </p:spPr>
        <p:txBody>
          <a:bodyPr wrap="none" lIns="45720" rIns="45720" anchor="t">
            <a:spAutoFit/>
          </a:bodyPr>
          <a:lstStyle/>
          <a:p>
            <a:pPr algn="ctr">
              <a:spcAft>
                <a:spcPts val="0"/>
              </a:spcAft>
            </a:pPr>
            <a:r>
              <a:rPr sz="1000" b="1" i="0">
                <a:solidFill>
                  <a:srgbClr val="007874"/>
                </a:solidFill>
                <a:latin typeface="Aptos"/>
              </a:rPr>
              <a:t>Tip: convert vague words (“real time”, “large”, “reliable”) into measurable SLOs.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REQUIREMENTS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Back-of-the-envelope math: e-commerce events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Show the arithmetic, state assumptions, and round conservatively.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08</a:t>
            </a:r>
          </a:p>
        </p:txBody>
      </p:sp>
      <p:sp>
        <p:nvSpPr>
          <p:cNvPr id="8" name="Rounded Rectangle 7"/>
          <p:cNvSpPr/>
          <p:nvPr/>
        </p:nvSpPr>
        <p:spPr>
          <a:xfrm>
            <a:off x="640080" y="1572768"/>
            <a:ext cx="6949440" cy="44348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901952"/>
            <a:ext cx="6309360" cy="3611880"/>
          </a:xfrm>
          <a:prstGeom prst="rect">
            <a:avLst/>
          </a:prstGeom>
          <a:noFill/>
        </p:spPr>
        <p:txBody>
          <a:bodyPr wrap="none" lIns="64008" tIns="27432" rIns="36576" bIns="27432">
            <a:spAutoFit/>
          </a:bodyPr>
          <a:lstStyle/>
          <a:p>
            <a:pPr>
              <a:lnSpc>
                <a:spcPct val="105000"/>
              </a:lnSpc>
              <a:spcAft>
                <a:spcPts val="1100"/>
              </a:spcAft>
            </a:pPr>
            <a:r>
              <a:rPr b="1">
                <a:solidFill>
                  <a:srgbClr val="00AAA0"/>
                </a:solidFill>
              </a:rPr>
              <a:t>• </a:t>
            </a:r>
            <a:r>
              <a:rPr sz="1500" b="1">
                <a:solidFill>
                  <a:srgbClr val="253042"/>
                </a:solidFill>
                <a:latin typeface="Aptos"/>
              </a:rPr>
              <a:t>Events/day</a:t>
            </a:r>
            <a:r>
              <a:rPr sz="1500">
                <a:solidFill>
                  <a:srgbClr val="253042"/>
                </a:solidFill>
                <a:latin typeface="Aptos"/>
              </a:rPr>
              <a:t>5M DAU × 2 sessions/day × 30 events/session = 300M</a:t>
            </a:r>
          </a:p>
          <a:p>
            <a:pPr>
              <a:lnSpc>
                <a:spcPct val="105000"/>
              </a:lnSpc>
              <a:spcAft>
                <a:spcPts val="1100"/>
              </a:spcAft>
            </a:pPr>
            <a:r>
              <a:rPr b="1">
                <a:solidFill>
                  <a:srgbClr val="00AAA0"/>
                </a:solidFill>
              </a:rPr>
              <a:t>• </a:t>
            </a:r>
            <a:r>
              <a:rPr sz="1500" b="1">
                <a:solidFill>
                  <a:srgbClr val="253042"/>
                </a:solidFill>
                <a:latin typeface="Aptos"/>
              </a:rPr>
              <a:t>Average rate</a:t>
            </a:r>
            <a:r>
              <a:rPr sz="1500">
                <a:solidFill>
                  <a:srgbClr val="253042"/>
                </a:solidFill>
                <a:latin typeface="Aptos"/>
              </a:rPr>
              <a:t>300M ÷ 86,400 ≈ 3,472 events/sec</a:t>
            </a:r>
          </a:p>
          <a:p>
            <a:pPr>
              <a:lnSpc>
                <a:spcPct val="105000"/>
              </a:lnSpc>
              <a:spcAft>
                <a:spcPts val="1100"/>
              </a:spcAft>
            </a:pPr>
            <a:r>
              <a:rPr b="1">
                <a:solidFill>
                  <a:srgbClr val="00AAA0"/>
                </a:solidFill>
              </a:rPr>
              <a:t>• </a:t>
            </a:r>
            <a:r>
              <a:rPr sz="1500" b="1">
                <a:solidFill>
                  <a:srgbClr val="253042"/>
                </a:solidFill>
                <a:latin typeface="Aptos"/>
              </a:rPr>
              <a:t>Peak rate</a:t>
            </a:r>
            <a:r>
              <a:rPr sz="1500">
                <a:solidFill>
                  <a:srgbClr val="253042"/>
                </a:solidFill>
                <a:latin typeface="Aptos"/>
              </a:rPr>
              <a:t>Assume 4× peak ≈ 13,900 events/sec</a:t>
            </a:r>
          </a:p>
          <a:p>
            <a:pPr>
              <a:lnSpc>
                <a:spcPct val="105000"/>
              </a:lnSpc>
              <a:spcAft>
                <a:spcPts val="1100"/>
              </a:spcAft>
            </a:pPr>
            <a:r>
              <a:rPr b="1">
                <a:solidFill>
                  <a:srgbClr val="00AAA0"/>
                </a:solidFill>
              </a:rPr>
              <a:t>• </a:t>
            </a:r>
            <a:r>
              <a:rPr sz="1500" b="1">
                <a:solidFill>
                  <a:srgbClr val="253042"/>
                </a:solidFill>
                <a:latin typeface="Aptos"/>
              </a:rPr>
              <a:t>Raw volume</a:t>
            </a:r>
            <a:r>
              <a:rPr sz="1500">
                <a:solidFill>
                  <a:srgbClr val="253042"/>
                </a:solidFill>
                <a:latin typeface="Aptos"/>
              </a:rPr>
              <a:t>300M × 700 bytes ≈ 210 GB/day ≈ 6.3 TB/month</a:t>
            </a:r>
          </a:p>
          <a:p>
            <a:pPr>
              <a:lnSpc>
                <a:spcPct val="105000"/>
              </a:lnSpc>
              <a:spcAft>
                <a:spcPts val="1100"/>
              </a:spcAft>
            </a:pPr>
            <a:r>
              <a:rPr b="1">
                <a:solidFill>
                  <a:srgbClr val="00AAA0"/>
                </a:solidFill>
              </a:rPr>
              <a:t>• </a:t>
            </a:r>
            <a:r>
              <a:rPr sz="1500" b="1">
                <a:solidFill>
                  <a:srgbClr val="253042"/>
                </a:solidFill>
                <a:latin typeface="Aptos"/>
              </a:rPr>
              <a:t>12-month raw</a:t>
            </a:r>
            <a:r>
              <a:rPr sz="1500">
                <a:solidFill>
                  <a:srgbClr val="253042"/>
                </a:solidFill>
                <a:latin typeface="Aptos"/>
              </a:rPr>
              <a:t>210 GB × 365 ≈ 76.7 TB before replication</a:t>
            </a:r>
          </a:p>
          <a:p>
            <a:pPr>
              <a:lnSpc>
                <a:spcPct val="105000"/>
              </a:lnSpc>
              <a:spcAft>
                <a:spcPts val="1100"/>
              </a:spcAft>
            </a:pPr>
            <a:r>
              <a:rPr b="1">
                <a:solidFill>
                  <a:srgbClr val="00AAA0"/>
                </a:solidFill>
              </a:rPr>
              <a:t>• </a:t>
            </a:r>
            <a:r>
              <a:rPr sz="1500" b="1">
                <a:solidFill>
                  <a:srgbClr val="253042"/>
                </a:solidFill>
                <a:latin typeface="Aptos"/>
              </a:rPr>
              <a:t>Compressed lake</a:t>
            </a:r>
            <a:r>
              <a:rPr sz="1500">
                <a:solidFill>
                  <a:srgbClr val="253042"/>
                </a:solidFill>
                <a:latin typeface="Aptos"/>
              </a:rPr>
              <a:t>At 2–5× compression ≈ 15–38 TB, plus table metadata</a:t>
            </a:r>
          </a:p>
        </p:txBody>
      </p:sp>
      <p:sp>
        <p:nvSpPr>
          <p:cNvPr id="10" name="Rounded Rectangle 9"/>
          <p:cNvSpPr/>
          <p:nvPr/>
        </p:nvSpPr>
        <p:spPr>
          <a:xfrm>
            <a:off x="7909560" y="1572768"/>
            <a:ext cx="3611880" cy="12344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909560" y="1572768"/>
            <a:ext cx="64008" cy="123444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19872" y="1700784"/>
            <a:ext cx="324612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Capacity consequence</a:t>
            </a:r>
          </a:p>
        </p:txBody>
      </p:sp>
      <p:sp>
        <p:nvSpPr>
          <p:cNvPr id="13" name="TextBox 12"/>
          <p:cNvSpPr txBox="1"/>
          <p:nvPr/>
        </p:nvSpPr>
        <p:spPr>
          <a:xfrm>
            <a:off x="8119872" y="2167128"/>
            <a:ext cx="3218688" cy="521208"/>
          </a:xfrm>
          <a:prstGeom prst="rect">
            <a:avLst/>
          </a:prstGeom>
          <a:noFill/>
        </p:spPr>
        <p:txBody>
          <a:bodyPr wrap="none" lIns="45720" rIns="45720" anchor="t">
            <a:spAutoFit/>
          </a:bodyPr>
          <a:lstStyle/>
          <a:p>
            <a:pPr algn="l">
              <a:spcAft>
                <a:spcPts val="0"/>
              </a:spcAft>
            </a:pPr>
            <a:r>
              <a:rPr sz="1100" b="0" i="0">
                <a:solidFill>
                  <a:srgbClr val="253042"/>
                </a:solidFill>
                <a:latin typeface="Aptos"/>
              </a:rPr>
              <a:t>Design partitions and consumers for peak—not the daily average.</a:t>
            </a:r>
          </a:p>
        </p:txBody>
      </p:sp>
      <p:sp>
        <p:nvSpPr>
          <p:cNvPr id="14" name="Rounded Rectangle 13"/>
          <p:cNvSpPr/>
          <p:nvPr/>
        </p:nvSpPr>
        <p:spPr>
          <a:xfrm>
            <a:off x="7909560" y="2999232"/>
            <a:ext cx="3611880" cy="12344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909560" y="2999232"/>
            <a:ext cx="64008" cy="123444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19872" y="3127248"/>
            <a:ext cx="324612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Compute consequence</a:t>
            </a:r>
          </a:p>
        </p:txBody>
      </p:sp>
      <p:sp>
        <p:nvSpPr>
          <p:cNvPr id="17" name="TextBox 16"/>
          <p:cNvSpPr txBox="1"/>
          <p:nvPr/>
        </p:nvSpPr>
        <p:spPr>
          <a:xfrm>
            <a:off x="8119872" y="3593591"/>
            <a:ext cx="3218688" cy="521208"/>
          </a:xfrm>
          <a:prstGeom prst="rect">
            <a:avLst/>
          </a:prstGeom>
          <a:noFill/>
        </p:spPr>
        <p:txBody>
          <a:bodyPr wrap="none" lIns="45720" rIns="45720" anchor="t">
            <a:spAutoFit/>
          </a:bodyPr>
          <a:lstStyle/>
          <a:p>
            <a:pPr algn="l">
              <a:spcAft>
                <a:spcPts val="0"/>
              </a:spcAft>
            </a:pPr>
            <a:r>
              <a:rPr sz="1100" b="0" i="0">
                <a:solidFill>
                  <a:srgbClr val="253042"/>
                </a:solidFill>
                <a:latin typeface="Aptos"/>
              </a:rPr>
              <a:t>Single-node memory is unsafe; use distributed processing and incremental reads.</a:t>
            </a:r>
          </a:p>
        </p:txBody>
      </p:sp>
      <p:sp>
        <p:nvSpPr>
          <p:cNvPr id="18" name="Rounded Rectangle 17"/>
          <p:cNvSpPr/>
          <p:nvPr/>
        </p:nvSpPr>
        <p:spPr>
          <a:xfrm>
            <a:off x="7909560" y="4425696"/>
            <a:ext cx="3611880" cy="12344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909560" y="4425696"/>
            <a:ext cx="64008" cy="1234440"/>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119872" y="4553712"/>
            <a:ext cx="324612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Cost consequence</a:t>
            </a:r>
          </a:p>
        </p:txBody>
      </p:sp>
      <p:sp>
        <p:nvSpPr>
          <p:cNvPr id="21" name="TextBox 20"/>
          <p:cNvSpPr txBox="1"/>
          <p:nvPr/>
        </p:nvSpPr>
        <p:spPr>
          <a:xfrm>
            <a:off x="8119872" y="5020056"/>
            <a:ext cx="3218688" cy="521208"/>
          </a:xfrm>
          <a:prstGeom prst="rect">
            <a:avLst/>
          </a:prstGeom>
          <a:noFill/>
        </p:spPr>
        <p:txBody>
          <a:bodyPr wrap="none" lIns="45720" rIns="45720" anchor="t">
            <a:spAutoFit/>
          </a:bodyPr>
          <a:lstStyle/>
          <a:p>
            <a:pPr algn="l">
              <a:spcAft>
                <a:spcPts val="0"/>
              </a:spcAft>
            </a:pPr>
            <a:r>
              <a:rPr sz="1100" b="0" i="0">
                <a:solidFill>
                  <a:srgbClr val="253042"/>
                </a:solidFill>
                <a:latin typeface="Aptos"/>
              </a:rPr>
              <a:t>Compression, retention tiers, compaction, and scan pruning are first-class design decisions.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REQUIREMENTS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Translate estimates into design constraints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Numbers matter only when they change a decision.</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09</a:t>
            </a:r>
          </a:p>
        </p:txBody>
      </p:sp>
      <p:graphicFrame>
        <p:nvGraphicFramePr>
          <p:cNvPr id="8" name="Table 7"/>
          <p:cNvGraphicFramePr>
            <a:graphicFrameLocks noGrp="1"/>
          </p:cNvGraphicFramePr>
          <p:nvPr/>
        </p:nvGraphicFramePr>
        <p:xfrm>
          <a:off x="640080" y="1600200"/>
          <a:ext cx="10927080" cy="4389120"/>
        </p:xfrm>
        <a:graphic>
          <a:graphicData uri="http://schemas.openxmlformats.org/drawingml/2006/table">
            <a:tbl>
              <a:tblPr firstRow="1" bandRow="1">
                <a:tableStyleId>{5C22544A-7EE6-4342-B048-85BDC9FD1C3A}</a:tableStyleId>
              </a:tblPr>
              <a:tblGrid>
                <a:gridCol w="242316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627017">
                <a:tc>
                  <a:txBody>
                    <a:bodyPr/>
                    <a:lstStyle/>
                    <a:p>
                      <a:pPr algn="l"/>
                      <a:r>
                        <a:rPr sz="950" b="1">
                          <a:solidFill>
                            <a:srgbClr val="FFFFFF"/>
                          </a:solidFill>
                          <a:latin typeface="Aptos"/>
                        </a:rPr>
                        <a:t>Estimate</a:t>
                      </a:r>
                    </a:p>
                  </a:txBody>
                  <a:tcPr marL="73152" marR="54864" marB="27432">
                    <a:solidFill>
                      <a:srgbClr val="0C1930"/>
                    </a:solidFill>
                  </a:tcPr>
                </a:tc>
                <a:tc>
                  <a:txBody>
                    <a:bodyPr/>
                    <a:lstStyle/>
                    <a:p>
                      <a:pPr algn="l"/>
                      <a:r>
                        <a:rPr sz="950" b="1">
                          <a:solidFill>
                            <a:srgbClr val="FFFFFF"/>
                          </a:solidFill>
                          <a:latin typeface="Aptos"/>
                        </a:rPr>
                        <a:t>Design implication</a:t>
                      </a:r>
                    </a:p>
                  </a:txBody>
                  <a:tcPr marL="73152" marR="54864" marB="27432">
                    <a:solidFill>
                      <a:srgbClr val="0C1930"/>
                    </a:solidFill>
                  </a:tcPr>
                </a:tc>
                <a:tc>
                  <a:txBody>
                    <a:bodyPr/>
                    <a:lstStyle/>
                    <a:p>
                      <a:pPr algn="l"/>
                      <a:r>
                        <a:rPr sz="950" b="1">
                          <a:solidFill>
                            <a:srgbClr val="FFFFFF"/>
                          </a:solidFill>
                          <a:latin typeface="Aptos"/>
                        </a:rPr>
                        <a:t>What to validate next</a:t>
                      </a:r>
                    </a:p>
                  </a:txBody>
                  <a:tcPr marL="73152" marR="54864" marB="27432">
                    <a:solidFill>
                      <a:srgbClr val="0C1930"/>
                    </a:solidFill>
                  </a:tcPr>
                </a:tc>
                <a:extLst>
                  <a:ext uri="{0D108BD9-81ED-4DB2-BD59-A6C34878D82A}">
                    <a16:rowId xmlns:a16="http://schemas.microsoft.com/office/drawing/2014/main" val="10000"/>
                  </a:ext>
                </a:extLst>
              </a:tr>
              <a:tr h="627017">
                <a:tc>
                  <a:txBody>
                    <a:bodyPr/>
                    <a:lstStyle/>
                    <a:p>
                      <a:pPr algn="l"/>
                      <a:r>
                        <a:rPr sz="1000" b="0">
                          <a:solidFill>
                            <a:srgbClr val="253042"/>
                          </a:solidFill>
                          <a:latin typeface="Aptos"/>
                        </a:rPr>
                        <a:t>~14K peak events/sec</a:t>
                      </a:r>
                    </a:p>
                  </a:txBody>
                  <a:tcPr marL="73152" marR="54864" marB="27432">
                    <a:solidFill>
                      <a:srgbClr val="FFFFFF"/>
                    </a:solidFill>
                  </a:tcPr>
                </a:tc>
                <a:tc>
                  <a:txBody>
                    <a:bodyPr/>
                    <a:lstStyle/>
                    <a:p>
                      <a:pPr algn="l"/>
                      <a:r>
                        <a:rPr sz="1000" b="0">
                          <a:solidFill>
                            <a:srgbClr val="253042"/>
                          </a:solidFill>
                          <a:latin typeface="Aptos"/>
                        </a:rPr>
                        <a:t>Partition event bus for parallelism + headroom</a:t>
                      </a:r>
                    </a:p>
                  </a:txBody>
                  <a:tcPr marL="73152" marR="54864" marB="27432">
                    <a:solidFill>
                      <a:srgbClr val="FFFFFF"/>
                    </a:solidFill>
                  </a:tcPr>
                </a:tc>
                <a:tc>
                  <a:txBody>
                    <a:bodyPr/>
                    <a:lstStyle/>
                    <a:p>
                      <a:pPr algn="l"/>
                      <a:r>
                        <a:rPr sz="1000" b="0">
                          <a:solidFill>
                            <a:srgbClr val="253042"/>
                          </a:solidFill>
                          <a:latin typeface="Aptos"/>
                        </a:rPr>
                        <a:t>Per-partition sustainable rate; key skew</a:t>
                      </a:r>
                    </a:p>
                  </a:txBody>
                  <a:tcPr marL="73152" marR="54864" marB="27432">
                    <a:solidFill>
                      <a:srgbClr val="FFFFFF"/>
                    </a:solidFill>
                  </a:tcPr>
                </a:tc>
                <a:extLst>
                  <a:ext uri="{0D108BD9-81ED-4DB2-BD59-A6C34878D82A}">
                    <a16:rowId xmlns:a16="http://schemas.microsoft.com/office/drawing/2014/main" val="10001"/>
                  </a:ext>
                </a:extLst>
              </a:tr>
              <a:tr h="627017">
                <a:tc>
                  <a:txBody>
                    <a:bodyPr/>
                    <a:lstStyle/>
                    <a:p>
                      <a:pPr algn="l"/>
                      <a:r>
                        <a:rPr sz="1000" b="0">
                          <a:solidFill>
                            <a:srgbClr val="253042"/>
                          </a:solidFill>
                          <a:latin typeface="Aptos"/>
                        </a:rPr>
                        <a:t>~210 GB raw/day</a:t>
                      </a:r>
                    </a:p>
                  </a:txBody>
                  <a:tcPr marL="73152" marR="54864" marB="27432">
                    <a:solidFill>
                      <a:srgbClr val="F7F9FC"/>
                    </a:solidFill>
                  </a:tcPr>
                </a:tc>
                <a:tc>
                  <a:txBody>
                    <a:bodyPr/>
                    <a:lstStyle/>
                    <a:p>
                      <a:pPr algn="l"/>
                      <a:r>
                        <a:rPr sz="1000" b="0">
                          <a:solidFill>
                            <a:srgbClr val="253042"/>
                          </a:solidFill>
                          <a:latin typeface="Aptos"/>
                        </a:rPr>
                        <a:t>Object storage + incremental processing</a:t>
                      </a:r>
                    </a:p>
                  </a:txBody>
                  <a:tcPr marL="73152" marR="54864" marB="27432">
                    <a:solidFill>
                      <a:srgbClr val="F7F9FC"/>
                    </a:solidFill>
                  </a:tcPr>
                </a:tc>
                <a:tc>
                  <a:txBody>
                    <a:bodyPr/>
                    <a:lstStyle/>
                    <a:p>
                      <a:pPr algn="l"/>
                      <a:r>
                        <a:rPr sz="1000" b="0">
                          <a:solidFill>
                            <a:srgbClr val="253042"/>
                          </a:solidFill>
                          <a:latin typeface="Aptos"/>
                        </a:rPr>
                        <a:t>Compression ratio; small-file rate</a:t>
                      </a:r>
                    </a:p>
                  </a:txBody>
                  <a:tcPr marL="73152" marR="54864" marB="27432">
                    <a:solidFill>
                      <a:srgbClr val="F7F9FC"/>
                    </a:solidFill>
                  </a:tcPr>
                </a:tc>
                <a:extLst>
                  <a:ext uri="{0D108BD9-81ED-4DB2-BD59-A6C34878D82A}">
                    <a16:rowId xmlns:a16="http://schemas.microsoft.com/office/drawing/2014/main" val="10002"/>
                  </a:ext>
                </a:extLst>
              </a:tr>
              <a:tr h="627017">
                <a:tc>
                  <a:txBody>
                    <a:bodyPr/>
                    <a:lstStyle/>
                    <a:p>
                      <a:pPr algn="l"/>
                      <a:r>
                        <a:rPr sz="1000" b="0">
                          <a:solidFill>
                            <a:srgbClr val="253042"/>
                          </a:solidFill>
                          <a:latin typeface="Aptos"/>
                        </a:rPr>
                        <a:t>High key cardinality</a:t>
                      </a:r>
                    </a:p>
                  </a:txBody>
                  <a:tcPr marL="73152" marR="54864" marB="27432">
                    <a:solidFill>
                      <a:srgbClr val="FFFFFF"/>
                    </a:solidFill>
                  </a:tcPr>
                </a:tc>
                <a:tc>
                  <a:txBody>
                    <a:bodyPr/>
                    <a:lstStyle/>
                    <a:p>
                      <a:pPr algn="l"/>
                      <a:r>
                        <a:rPr sz="1000" b="0">
                          <a:solidFill>
                            <a:srgbClr val="253042"/>
                          </a:solidFill>
                          <a:latin typeface="Aptos"/>
                        </a:rPr>
                        <a:t>Avoid hot partitions; choose stable distribution key</a:t>
                      </a:r>
                    </a:p>
                  </a:txBody>
                  <a:tcPr marL="73152" marR="54864" marB="27432">
                    <a:solidFill>
                      <a:srgbClr val="FFFFFF"/>
                    </a:solidFill>
                  </a:tcPr>
                </a:tc>
                <a:tc>
                  <a:txBody>
                    <a:bodyPr/>
                    <a:lstStyle/>
                    <a:p>
                      <a:pPr algn="l"/>
                      <a:r>
                        <a:rPr sz="1000" b="0">
                          <a:solidFill>
                            <a:srgbClr val="253042"/>
                          </a:solidFill>
                          <a:latin typeface="Aptos"/>
                        </a:rPr>
                        <a:t>Top keys and concentration at peak</a:t>
                      </a:r>
                    </a:p>
                  </a:txBody>
                  <a:tcPr marL="73152" marR="54864" marB="27432">
                    <a:solidFill>
                      <a:srgbClr val="FFFFFF"/>
                    </a:solidFill>
                  </a:tcPr>
                </a:tc>
                <a:extLst>
                  <a:ext uri="{0D108BD9-81ED-4DB2-BD59-A6C34878D82A}">
                    <a16:rowId xmlns:a16="http://schemas.microsoft.com/office/drawing/2014/main" val="10003"/>
                  </a:ext>
                </a:extLst>
              </a:tr>
              <a:tr h="627017">
                <a:tc>
                  <a:txBody>
                    <a:bodyPr/>
                    <a:lstStyle/>
                    <a:p>
                      <a:pPr algn="l"/>
                      <a:r>
                        <a:rPr sz="1000" b="0">
                          <a:solidFill>
                            <a:srgbClr val="253042"/>
                          </a:solidFill>
                          <a:latin typeface="Aptos"/>
                        </a:rPr>
                        <a:t>&lt;2-minute dashboard SLA</a:t>
                      </a:r>
                    </a:p>
                  </a:txBody>
                  <a:tcPr marL="73152" marR="54864" marB="27432">
                    <a:solidFill>
                      <a:srgbClr val="F7F9FC"/>
                    </a:solidFill>
                  </a:tcPr>
                </a:tc>
                <a:tc>
                  <a:txBody>
                    <a:bodyPr/>
                    <a:lstStyle/>
                    <a:p>
                      <a:pPr algn="l"/>
                      <a:r>
                        <a:rPr sz="1000" b="0">
                          <a:solidFill>
                            <a:srgbClr val="253042"/>
                          </a:solidFill>
                          <a:latin typeface="Aptos"/>
                        </a:rPr>
                        <a:t>Continuous processing + low-latency serving store</a:t>
                      </a:r>
                    </a:p>
                  </a:txBody>
                  <a:tcPr marL="73152" marR="54864" marB="27432">
                    <a:solidFill>
                      <a:srgbClr val="F7F9FC"/>
                    </a:solidFill>
                  </a:tcPr>
                </a:tc>
                <a:tc>
                  <a:txBody>
                    <a:bodyPr/>
                    <a:lstStyle/>
                    <a:p>
                      <a:pPr algn="l"/>
                      <a:r>
                        <a:rPr sz="1000" b="0">
                          <a:solidFill>
                            <a:srgbClr val="253042"/>
                          </a:solidFill>
                          <a:latin typeface="Aptos"/>
                        </a:rPr>
                        <a:t>State size; sink write latency</a:t>
                      </a:r>
                    </a:p>
                  </a:txBody>
                  <a:tcPr marL="73152" marR="54864" marB="27432">
                    <a:solidFill>
                      <a:srgbClr val="F7F9FC"/>
                    </a:solidFill>
                  </a:tcPr>
                </a:tc>
                <a:extLst>
                  <a:ext uri="{0D108BD9-81ED-4DB2-BD59-A6C34878D82A}">
                    <a16:rowId xmlns:a16="http://schemas.microsoft.com/office/drawing/2014/main" val="10004"/>
                  </a:ext>
                </a:extLst>
              </a:tr>
              <a:tr h="627017">
                <a:tc>
                  <a:txBody>
                    <a:bodyPr/>
                    <a:lstStyle/>
                    <a:p>
                      <a:pPr algn="l"/>
                      <a:r>
                        <a:rPr sz="1000" b="0">
                          <a:solidFill>
                            <a:srgbClr val="253042"/>
                          </a:solidFill>
                          <a:latin typeface="Aptos"/>
                        </a:rPr>
                        <a:t>12–24 month retention</a:t>
                      </a:r>
                    </a:p>
                  </a:txBody>
                  <a:tcPr marL="73152" marR="54864" marB="27432">
                    <a:solidFill>
                      <a:srgbClr val="FFFFFF"/>
                    </a:solidFill>
                  </a:tcPr>
                </a:tc>
                <a:tc>
                  <a:txBody>
                    <a:bodyPr/>
                    <a:lstStyle/>
                    <a:p>
                      <a:pPr algn="l"/>
                      <a:r>
                        <a:rPr sz="1000" b="0">
                          <a:solidFill>
                            <a:srgbClr val="253042"/>
                          </a:solidFill>
                          <a:latin typeface="Aptos"/>
                        </a:rPr>
                        <a:t>Lifecycle older data to colder tiers; preserve replay metadata</a:t>
                      </a:r>
                    </a:p>
                  </a:txBody>
                  <a:tcPr marL="73152" marR="54864" marB="27432">
                    <a:solidFill>
                      <a:srgbClr val="FFFFFF"/>
                    </a:solidFill>
                  </a:tcPr>
                </a:tc>
                <a:tc>
                  <a:txBody>
                    <a:bodyPr/>
                    <a:lstStyle/>
                    <a:p>
                      <a:pPr algn="l"/>
                      <a:r>
                        <a:rPr sz="1000" b="0">
                          <a:solidFill>
                            <a:srgbClr val="253042"/>
                          </a:solidFill>
                          <a:latin typeface="Aptos"/>
                        </a:rPr>
                        <a:t>Compliance deletion and restore time</a:t>
                      </a:r>
                    </a:p>
                  </a:txBody>
                  <a:tcPr marL="73152" marR="54864" marB="27432">
                    <a:solidFill>
                      <a:srgbClr val="FFFFFF"/>
                    </a:solidFill>
                  </a:tcPr>
                </a:tc>
                <a:extLst>
                  <a:ext uri="{0D108BD9-81ED-4DB2-BD59-A6C34878D82A}">
                    <a16:rowId xmlns:a16="http://schemas.microsoft.com/office/drawing/2014/main" val="10005"/>
                  </a:ext>
                </a:extLst>
              </a:tr>
              <a:tr h="627018">
                <a:tc>
                  <a:txBody>
                    <a:bodyPr/>
                    <a:lstStyle/>
                    <a:p>
                      <a:pPr algn="l"/>
                      <a:r>
                        <a:rPr sz="1000" b="0">
                          <a:solidFill>
                            <a:srgbClr val="253042"/>
                          </a:solidFill>
                          <a:latin typeface="Aptos"/>
                        </a:rPr>
                        <a:t>10× future growth</a:t>
                      </a:r>
                    </a:p>
                  </a:txBody>
                  <a:tcPr marL="73152" marR="54864" marB="27432">
                    <a:solidFill>
                      <a:srgbClr val="F7F9FC"/>
                    </a:solidFill>
                  </a:tcPr>
                </a:tc>
                <a:tc>
                  <a:txBody>
                    <a:bodyPr/>
                    <a:lstStyle/>
                    <a:p>
                      <a:pPr algn="l"/>
                      <a:r>
                        <a:rPr sz="1000" b="0">
                          <a:solidFill>
                            <a:srgbClr val="253042"/>
                          </a:solidFill>
                          <a:latin typeface="Aptos"/>
                        </a:rPr>
                        <a:t>Decouple stages, autoscale consumers, pre-plan quotas</a:t>
                      </a:r>
                    </a:p>
                  </a:txBody>
                  <a:tcPr marL="73152" marR="54864" marB="27432">
                    <a:solidFill>
                      <a:srgbClr val="F7F9FC"/>
                    </a:solidFill>
                  </a:tcPr>
                </a:tc>
                <a:tc>
                  <a:txBody>
                    <a:bodyPr/>
                    <a:lstStyle/>
                    <a:p>
                      <a:pPr algn="l"/>
                      <a:r>
                        <a:rPr sz="1000" b="0">
                          <a:solidFill>
                            <a:srgbClr val="253042"/>
                          </a:solidFill>
                          <a:latin typeface="Aptos"/>
                        </a:rPr>
                        <a:t>Service limits and cost curve</a:t>
                      </a:r>
                    </a:p>
                  </a:txBody>
                  <a:tcPr marL="73152" marR="54864" marB="27432">
                    <a:solidFill>
                      <a:srgbClr val="F7F9FC"/>
                    </a:solidFill>
                  </a:tcPr>
                </a:tc>
                <a:extLst>
                  <a:ext uri="{0D108BD9-81ED-4DB2-BD59-A6C34878D82A}">
                    <a16:rowId xmlns:a16="http://schemas.microsoft.com/office/drawing/2014/main" val="10006"/>
                  </a:ext>
                </a:extLst>
              </a:tr>
            </a:tbl>
          </a:graphicData>
        </a:graphic>
      </p:graphicFrame>
      <p:sp>
        <p:nvSpPr>
          <p:cNvPr id="9" name="Rounded Rectangle 8"/>
          <p:cNvSpPr/>
          <p:nvPr/>
        </p:nvSpPr>
        <p:spPr>
          <a:xfrm>
            <a:off x="914400" y="5897880"/>
            <a:ext cx="10332720" cy="50292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0704" y="6016752"/>
            <a:ext cx="10058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Useful formulas: throughput = events ÷ seconds • storage = events × bytes × retention × replication ÷ compression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2 — Choose batch or streaming from the SLA</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Prefer the simplest processing model that satisfies the business requirement.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10</a:t>
            </a:r>
          </a:p>
        </p:txBody>
      </p:sp>
      <p:sp>
        <p:nvSpPr>
          <p:cNvPr id="8" name="Rounded Rectangle 7"/>
          <p:cNvSpPr/>
          <p:nvPr/>
        </p:nvSpPr>
        <p:spPr>
          <a:xfrm>
            <a:off x="594360" y="1965960"/>
            <a:ext cx="2011680" cy="86868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8" y="2075688"/>
            <a:ext cx="1792224"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Freshness needed?</a:t>
            </a:r>
          </a:p>
        </p:txBody>
      </p:sp>
      <p:sp>
        <p:nvSpPr>
          <p:cNvPr id="10" name="TextBox 9"/>
          <p:cNvSpPr txBox="1"/>
          <p:nvPr/>
        </p:nvSpPr>
        <p:spPr>
          <a:xfrm>
            <a:off x="704088" y="2395728"/>
            <a:ext cx="179222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Start with end-to-end SLA</a:t>
            </a:r>
          </a:p>
        </p:txBody>
      </p:sp>
      <p:cxnSp>
        <p:nvCxnSpPr>
          <p:cNvPr id="11" name="Connector 10"/>
          <p:cNvCxnSpPr/>
          <p:nvPr/>
        </p:nvCxnSpPr>
        <p:spPr>
          <a:xfrm flipV="1">
            <a:off x="2633472" y="1810512"/>
            <a:ext cx="1069848" cy="585216"/>
          </a:xfrm>
          <a:prstGeom prst="line">
            <a:avLst/>
          </a:prstGeom>
          <a:ln w="2540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633472" y="2395728"/>
            <a:ext cx="1069848" cy="987552"/>
          </a:xfrm>
          <a:prstGeom prst="line">
            <a:avLst/>
          </a:prstGeom>
          <a:ln w="25400">
            <a:solidFill>
              <a:srgbClr val="00AAA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07792" y="1783080"/>
            <a:ext cx="731520" cy="182880"/>
          </a:xfrm>
          <a:prstGeom prst="rect">
            <a:avLst/>
          </a:prstGeom>
          <a:noFill/>
        </p:spPr>
        <p:txBody>
          <a:bodyPr wrap="none" lIns="45720" rIns="45720" anchor="t">
            <a:spAutoFit/>
          </a:bodyPr>
          <a:lstStyle/>
          <a:p>
            <a:pPr algn="l">
              <a:spcAft>
                <a:spcPts val="0"/>
              </a:spcAft>
            </a:pPr>
            <a:r>
              <a:rPr sz="900" b="1" i="0">
                <a:solidFill>
                  <a:srgbClr val="74849A"/>
                </a:solidFill>
                <a:latin typeface="Aptos"/>
              </a:rPr>
              <a:t>minutes</a:t>
            </a:r>
          </a:p>
        </p:txBody>
      </p:sp>
      <p:sp>
        <p:nvSpPr>
          <p:cNvPr id="14" name="TextBox 13"/>
          <p:cNvSpPr txBox="1"/>
          <p:nvPr/>
        </p:nvSpPr>
        <p:spPr>
          <a:xfrm>
            <a:off x="2907792" y="3182112"/>
            <a:ext cx="731520" cy="182880"/>
          </a:xfrm>
          <a:prstGeom prst="rect">
            <a:avLst/>
          </a:prstGeom>
          <a:noFill/>
        </p:spPr>
        <p:txBody>
          <a:bodyPr wrap="none" lIns="45720" rIns="45720" anchor="t">
            <a:spAutoFit/>
          </a:bodyPr>
          <a:lstStyle/>
          <a:p>
            <a:pPr algn="l">
              <a:spcAft>
                <a:spcPts val="0"/>
              </a:spcAft>
            </a:pPr>
            <a:r>
              <a:rPr sz="900" b="1" i="0">
                <a:solidFill>
                  <a:srgbClr val="74849A"/>
                </a:solidFill>
                <a:latin typeface="Aptos"/>
              </a:rPr>
              <a:t>hours/days</a:t>
            </a:r>
          </a:p>
        </p:txBody>
      </p:sp>
      <p:sp>
        <p:nvSpPr>
          <p:cNvPr id="15" name="Rounded Rectangle 14"/>
          <p:cNvSpPr/>
          <p:nvPr/>
        </p:nvSpPr>
        <p:spPr>
          <a:xfrm>
            <a:off x="3749039" y="1325880"/>
            <a:ext cx="2103120" cy="960120"/>
          </a:xfrm>
          <a:prstGeom prst="roundRect">
            <a:avLst/>
          </a:prstGeom>
          <a:solidFill>
            <a:srgbClr val="EBF8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58768" y="1435607"/>
            <a:ext cx="1883663"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Streaming</a:t>
            </a:r>
          </a:p>
        </p:txBody>
      </p:sp>
      <p:sp>
        <p:nvSpPr>
          <p:cNvPr id="17" name="TextBox 16"/>
          <p:cNvSpPr txBox="1"/>
          <p:nvPr/>
        </p:nvSpPr>
        <p:spPr>
          <a:xfrm>
            <a:off x="3858768" y="1755648"/>
            <a:ext cx="1883663"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Kafka + Flink / Spark</a:t>
            </a:r>
          </a:p>
        </p:txBody>
      </p:sp>
      <p:sp>
        <p:nvSpPr>
          <p:cNvPr id="18" name="Rounded Rectangle 17"/>
          <p:cNvSpPr/>
          <p:nvPr/>
        </p:nvSpPr>
        <p:spPr>
          <a:xfrm>
            <a:off x="3749039" y="2971800"/>
            <a:ext cx="2103120" cy="960120"/>
          </a:xfrm>
          <a:prstGeom prst="roundRect">
            <a:avLst/>
          </a:prstGeom>
          <a:solidFill>
            <a:srgbClr val="EEFBF7"/>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58768" y="3081528"/>
            <a:ext cx="1883663"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Batch</a:t>
            </a:r>
          </a:p>
        </p:txBody>
      </p:sp>
      <p:sp>
        <p:nvSpPr>
          <p:cNvPr id="20" name="TextBox 19"/>
          <p:cNvSpPr txBox="1"/>
          <p:nvPr/>
        </p:nvSpPr>
        <p:spPr>
          <a:xfrm>
            <a:off x="3858768" y="3401568"/>
            <a:ext cx="1883663"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Scheduler + Spark / SQL</a:t>
            </a:r>
          </a:p>
        </p:txBody>
      </p:sp>
      <p:cxnSp>
        <p:nvCxnSpPr>
          <p:cNvPr id="21" name="Connector 20"/>
          <p:cNvCxnSpPr/>
          <p:nvPr/>
        </p:nvCxnSpPr>
        <p:spPr>
          <a:xfrm>
            <a:off x="5897880" y="1810512"/>
            <a:ext cx="1005840" cy="0"/>
          </a:xfrm>
          <a:prstGeom prst="line">
            <a:avLst/>
          </a:prstGeom>
          <a:ln w="2540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897880" y="3456432"/>
            <a:ext cx="1005840" cy="0"/>
          </a:xfrm>
          <a:prstGeom prst="line">
            <a:avLst/>
          </a:prstGeom>
          <a:ln w="25400">
            <a:solidFill>
              <a:srgbClr val="39B54A"/>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949440" y="1325880"/>
            <a:ext cx="2148840" cy="96012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059168" y="1435607"/>
            <a:ext cx="1929384"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Stateful?</a:t>
            </a:r>
          </a:p>
        </p:txBody>
      </p:sp>
      <p:sp>
        <p:nvSpPr>
          <p:cNvPr id="25" name="TextBox 24"/>
          <p:cNvSpPr txBox="1"/>
          <p:nvPr/>
        </p:nvSpPr>
        <p:spPr>
          <a:xfrm>
            <a:off x="7059168" y="1755648"/>
            <a:ext cx="1929384"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Windows, joins, dedupe</a:t>
            </a:r>
          </a:p>
        </p:txBody>
      </p:sp>
      <p:sp>
        <p:nvSpPr>
          <p:cNvPr id="26" name="Rounded Rectangle 25"/>
          <p:cNvSpPr/>
          <p:nvPr/>
        </p:nvSpPr>
        <p:spPr>
          <a:xfrm>
            <a:off x="6949440" y="2971800"/>
            <a:ext cx="2148840" cy="96012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059168" y="3081528"/>
            <a:ext cx="1929384"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Incremental?</a:t>
            </a:r>
          </a:p>
        </p:txBody>
      </p:sp>
      <p:sp>
        <p:nvSpPr>
          <p:cNvPr id="28" name="TextBox 27"/>
          <p:cNvSpPr txBox="1"/>
          <p:nvPr/>
        </p:nvSpPr>
        <p:spPr>
          <a:xfrm>
            <a:off x="7059168" y="3401568"/>
            <a:ext cx="1929384"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Process only changed data</a:t>
            </a:r>
          </a:p>
        </p:txBody>
      </p:sp>
      <p:cxnSp>
        <p:nvCxnSpPr>
          <p:cNvPr id="29" name="Connector 28"/>
          <p:cNvCxnSpPr/>
          <p:nvPr/>
        </p:nvCxnSpPr>
        <p:spPr>
          <a:xfrm>
            <a:off x="9144000" y="1810512"/>
            <a:ext cx="914400" cy="0"/>
          </a:xfrm>
          <a:prstGeom prst="line">
            <a:avLst/>
          </a:prstGeom>
          <a:ln w="2540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144000" y="3456432"/>
            <a:ext cx="914400" cy="0"/>
          </a:xfrm>
          <a:prstGeom prst="line">
            <a:avLst/>
          </a:prstGeom>
          <a:ln w="25400">
            <a:solidFill>
              <a:srgbClr val="855CF8"/>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104120" y="1325880"/>
            <a:ext cx="1508760" cy="960120"/>
          </a:xfrm>
          <a:prstGeom prst="roundRect">
            <a:avLst/>
          </a:prstGeom>
          <a:solidFill>
            <a:srgbClr val="F9F3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213848" y="1435607"/>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Plan state</a:t>
            </a:r>
          </a:p>
        </p:txBody>
      </p:sp>
      <p:sp>
        <p:nvSpPr>
          <p:cNvPr id="33" name="TextBox 32"/>
          <p:cNvSpPr txBox="1"/>
          <p:nvPr/>
        </p:nvSpPr>
        <p:spPr>
          <a:xfrm>
            <a:off x="10213848" y="1755648"/>
            <a:ext cx="1289304"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TTL + checkpoint</a:t>
            </a:r>
          </a:p>
        </p:txBody>
      </p:sp>
      <p:sp>
        <p:nvSpPr>
          <p:cNvPr id="34" name="Rounded Rectangle 33"/>
          <p:cNvSpPr/>
          <p:nvPr/>
        </p:nvSpPr>
        <p:spPr>
          <a:xfrm>
            <a:off x="10104120" y="2971800"/>
            <a:ext cx="1508760" cy="960120"/>
          </a:xfrm>
          <a:prstGeom prst="roundRect">
            <a:avLst/>
          </a:prstGeom>
          <a:solidFill>
            <a:srgbClr val="F9F3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3081528"/>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Plan replay</a:t>
            </a:r>
          </a:p>
        </p:txBody>
      </p:sp>
      <p:sp>
        <p:nvSpPr>
          <p:cNvPr id="36" name="TextBox 35"/>
          <p:cNvSpPr txBox="1"/>
          <p:nvPr/>
        </p:nvSpPr>
        <p:spPr>
          <a:xfrm>
            <a:off x="10213848" y="3401568"/>
            <a:ext cx="1289304"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Partitions + ledger</a:t>
            </a:r>
          </a:p>
        </p:txBody>
      </p:sp>
      <p:sp>
        <p:nvSpPr>
          <p:cNvPr id="37" name="Rounded Rectangle 36"/>
          <p:cNvSpPr/>
          <p:nvPr/>
        </p:nvSpPr>
        <p:spPr>
          <a:xfrm>
            <a:off x="1005840" y="4983480"/>
            <a:ext cx="10149840" cy="685800"/>
          </a:xfrm>
          <a:prstGeom prst="roundRect">
            <a:avLst/>
          </a:prstGeom>
          <a:solidFill>
            <a:srgbClr val="FFF6EA"/>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152144" y="5102352"/>
            <a:ext cx="9875519" cy="502920"/>
          </a:xfrm>
          <a:prstGeom prst="rect">
            <a:avLst/>
          </a:prstGeom>
          <a:noFill/>
        </p:spPr>
        <p:txBody>
          <a:bodyPr wrap="none" lIns="45720" rIns="45720" anchor="t">
            <a:spAutoFit/>
          </a:bodyPr>
          <a:lstStyle/>
          <a:p>
            <a:pPr algn="l">
              <a:spcAft>
                <a:spcPts val="0"/>
              </a:spcAft>
            </a:pPr>
            <a:r>
              <a:rPr sz="1200" b="1" i="0">
                <a:solidFill>
                  <a:srgbClr val="0C1930"/>
                </a:solidFill>
                <a:latin typeface="Aptos"/>
              </a:rPr>
              <a:t>Streaming is not “better batch.” It introduces event-time semantics, out-of-order data, state, checkpoints, replay, and more operational load.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Batch vs. streaming: explicit trade-offs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Hybrid systems are common because different consumers have different SLAs.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11</a:t>
            </a:r>
          </a:p>
        </p:txBody>
      </p:sp>
      <p:graphicFrame>
        <p:nvGraphicFramePr>
          <p:cNvPr id="8" name="Table 7"/>
          <p:cNvGraphicFramePr>
            <a:graphicFrameLocks noGrp="1"/>
          </p:cNvGraphicFramePr>
          <p:nvPr/>
        </p:nvGraphicFramePr>
        <p:xfrm>
          <a:off x="640080" y="1572768"/>
          <a:ext cx="10927080" cy="44348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554355">
                <a:tc>
                  <a:txBody>
                    <a:bodyPr/>
                    <a:lstStyle/>
                    <a:p>
                      <a:pPr algn="l"/>
                      <a:r>
                        <a:rPr sz="950" b="1">
                          <a:solidFill>
                            <a:srgbClr val="FFFFFF"/>
                          </a:solidFill>
                          <a:latin typeface="Aptos"/>
                        </a:rPr>
                        <a:t>Dimension</a:t>
                      </a:r>
                    </a:p>
                  </a:txBody>
                  <a:tcPr marL="73152" marR="54864" marB="27432">
                    <a:solidFill>
                      <a:srgbClr val="0C1930"/>
                    </a:solidFill>
                  </a:tcPr>
                </a:tc>
                <a:tc>
                  <a:txBody>
                    <a:bodyPr/>
                    <a:lstStyle/>
                    <a:p>
                      <a:pPr algn="l"/>
                      <a:r>
                        <a:rPr sz="950" b="1">
                          <a:solidFill>
                            <a:srgbClr val="FFFFFF"/>
                          </a:solidFill>
                          <a:latin typeface="Aptos"/>
                        </a:rPr>
                        <a:t>Batch</a:t>
                      </a:r>
                    </a:p>
                  </a:txBody>
                  <a:tcPr marL="73152" marR="54864" marB="27432">
                    <a:solidFill>
                      <a:srgbClr val="0C1930"/>
                    </a:solidFill>
                  </a:tcPr>
                </a:tc>
                <a:tc>
                  <a:txBody>
                    <a:bodyPr/>
                    <a:lstStyle/>
                    <a:p>
                      <a:pPr algn="l"/>
                      <a:r>
                        <a:rPr sz="950" b="1">
                          <a:solidFill>
                            <a:srgbClr val="FFFFFF"/>
                          </a:solidFill>
                          <a:latin typeface="Aptos"/>
                        </a:rPr>
                        <a:t>Streaming</a:t>
                      </a:r>
                    </a:p>
                  </a:txBody>
                  <a:tcPr marL="73152" marR="54864" marB="27432">
                    <a:solidFill>
                      <a:srgbClr val="0C1930"/>
                    </a:solidFill>
                  </a:tcPr>
                </a:tc>
                <a:extLst>
                  <a:ext uri="{0D108BD9-81ED-4DB2-BD59-A6C34878D82A}">
                    <a16:rowId xmlns:a16="http://schemas.microsoft.com/office/drawing/2014/main" val="10000"/>
                  </a:ext>
                </a:extLst>
              </a:tr>
              <a:tr h="554355">
                <a:tc>
                  <a:txBody>
                    <a:bodyPr/>
                    <a:lstStyle/>
                    <a:p>
                      <a:pPr algn="l"/>
                      <a:r>
                        <a:rPr sz="1000" b="0">
                          <a:solidFill>
                            <a:srgbClr val="253042"/>
                          </a:solidFill>
                          <a:latin typeface="Aptos"/>
                        </a:rPr>
                        <a:t>Best fit</a:t>
                      </a:r>
                    </a:p>
                  </a:txBody>
                  <a:tcPr marL="73152" marR="54864" marB="27432">
                    <a:solidFill>
                      <a:srgbClr val="FFFFFF"/>
                    </a:solidFill>
                  </a:tcPr>
                </a:tc>
                <a:tc>
                  <a:txBody>
                    <a:bodyPr/>
                    <a:lstStyle/>
                    <a:p>
                      <a:pPr algn="l"/>
                      <a:r>
                        <a:rPr sz="1000" b="0">
                          <a:solidFill>
                            <a:srgbClr val="253042"/>
                          </a:solidFill>
                          <a:latin typeface="Aptos"/>
                        </a:rPr>
                        <a:t>Hourly/daily analytics; historical recompute</a:t>
                      </a:r>
                    </a:p>
                  </a:txBody>
                  <a:tcPr marL="73152" marR="54864" marB="27432">
                    <a:solidFill>
                      <a:srgbClr val="FFFFFF"/>
                    </a:solidFill>
                  </a:tcPr>
                </a:tc>
                <a:tc>
                  <a:txBody>
                    <a:bodyPr/>
                    <a:lstStyle/>
                    <a:p>
                      <a:pPr algn="l"/>
                      <a:r>
                        <a:rPr sz="1000" b="0">
                          <a:solidFill>
                            <a:srgbClr val="253042"/>
                          </a:solidFill>
                          <a:latin typeface="Aptos"/>
                        </a:rPr>
                        <a:t>Alerts, operations, online features, live KPIs</a:t>
                      </a:r>
                    </a:p>
                  </a:txBody>
                  <a:tcPr marL="73152" marR="54864" marB="27432">
                    <a:solidFill>
                      <a:srgbClr val="FFFFFF"/>
                    </a:solidFill>
                  </a:tcPr>
                </a:tc>
                <a:extLst>
                  <a:ext uri="{0D108BD9-81ED-4DB2-BD59-A6C34878D82A}">
                    <a16:rowId xmlns:a16="http://schemas.microsoft.com/office/drawing/2014/main" val="10001"/>
                  </a:ext>
                </a:extLst>
              </a:tr>
              <a:tr h="554355">
                <a:tc>
                  <a:txBody>
                    <a:bodyPr/>
                    <a:lstStyle/>
                    <a:p>
                      <a:pPr algn="l"/>
                      <a:r>
                        <a:rPr sz="1000" b="0">
                          <a:solidFill>
                            <a:srgbClr val="253042"/>
                          </a:solidFill>
                          <a:latin typeface="Aptos"/>
                        </a:rPr>
                        <a:t>Latency</a:t>
                      </a:r>
                    </a:p>
                  </a:txBody>
                  <a:tcPr marL="73152" marR="54864" marB="27432">
                    <a:solidFill>
                      <a:srgbClr val="F7F9FC"/>
                    </a:solidFill>
                  </a:tcPr>
                </a:tc>
                <a:tc>
                  <a:txBody>
                    <a:bodyPr/>
                    <a:lstStyle/>
                    <a:p>
                      <a:pPr algn="l"/>
                      <a:r>
                        <a:rPr sz="1000" b="0">
                          <a:solidFill>
                            <a:srgbClr val="253042"/>
                          </a:solidFill>
                          <a:latin typeface="Aptos"/>
                        </a:rPr>
                        <a:t>Minutes to days</a:t>
                      </a:r>
                    </a:p>
                  </a:txBody>
                  <a:tcPr marL="73152" marR="54864" marB="27432">
                    <a:solidFill>
                      <a:srgbClr val="F7F9FC"/>
                    </a:solidFill>
                  </a:tcPr>
                </a:tc>
                <a:tc>
                  <a:txBody>
                    <a:bodyPr/>
                    <a:lstStyle/>
                    <a:p>
                      <a:pPr algn="l"/>
                      <a:r>
                        <a:rPr sz="1000" b="0">
                          <a:solidFill>
                            <a:srgbClr val="253042"/>
                          </a:solidFill>
                          <a:latin typeface="Aptos"/>
                        </a:rPr>
                        <a:t>Milliseconds to minutes</a:t>
                      </a:r>
                    </a:p>
                  </a:txBody>
                  <a:tcPr marL="73152" marR="54864" marB="27432">
                    <a:solidFill>
                      <a:srgbClr val="F7F9FC"/>
                    </a:solidFill>
                  </a:tcPr>
                </a:tc>
                <a:extLst>
                  <a:ext uri="{0D108BD9-81ED-4DB2-BD59-A6C34878D82A}">
                    <a16:rowId xmlns:a16="http://schemas.microsoft.com/office/drawing/2014/main" val="10002"/>
                  </a:ext>
                </a:extLst>
              </a:tr>
              <a:tr h="554355">
                <a:tc>
                  <a:txBody>
                    <a:bodyPr/>
                    <a:lstStyle/>
                    <a:p>
                      <a:pPr algn="l"/>
                      <a:r>
                        <a:rPr sz="1000" b="0">
                          <a:solidFill>
                            <a:srgbClr val="253042"/>
                          </a:solidFill>
                          <a:latin typeface="Aptos"/>
                        </a:rPr>
                        <a:t>Cost profile</a:t>
                      </a:r>
                    </a:p>
                  </a:txBody>
                  <a:tcPr marL="73152" marR="54864" marB="27432">
                    <a:solidFill>
                      <a:srgbClr val="FFFFFF"/>
                    </a:solidFill>
                  </a:tcPr>
                </a:tc>
                <a:tc>
                  <a:txBody>
                    <a:bodyPr/>
                    <a:lstStyle/>
                    <a:p>
                      <a:pPr algn="l"/>
                      <a:r>
                        <a:rPr sz="1000" b="0">
                          <a:solidFill>
                            <a:srgbClr val="253042"/>
                          </a:solidFill>
                          <a:latin typeface="Aptos"/>
                        </a:rPr>
                        <a:t>Elastic scheduled compute; often lower</a:t>
                      </a:r>
                    </a:p>
                  </a:txBody>
                  <a:tcPr marL="73152" marR="54864" marB="27432">
                    <a:solidFill>
                      <a:srgbClr val="FFFFFF"/>
                    </a:solidFill>
                  </a:tcPr>
                </a:tc>
                <a:tc>
                  <a:txBody>
                    <a:bodyPr/>
                    <a:lstStyle/>
                    <a:p>
                      <a:pPr algn="l"/>
                      <a:r>
                        <a:rPr sz="1000" b="0">
                          <a:solidFill>
                            <a:srgbClr val="253042"/>
                          </a:solidFill>
                          <a:latin typeface="Aptos"/>
                        </a:rPr>
                        <a:t>Always-on compute + event infrastructure</a:t>
                      </a:r>
                    </a:p>
                  </a:txBody>
                  <a:tcPr marL="73152" marR="54864" marB="27432">
                    <a:solidFill>
                      <a:srgbClr val="FFFFFF"/>
                    </a:solidFill>
                  </a:tcPr>
                </a:tc>
                <a:extLst>
                  <a:ext uri="{0D108BD9-81ED-4DB2-BD59-A6C34878D82A}">
                    <a16:rowId xmlns:a16="http://schemas.microsoft.com/office/drawing/2014/main" val="10003"/>
                  </a:ext>
                </a:extLst>
              </a:tr>
              <a:tr h="554355">
                <a:tc>
                  <a:txBody>
                    <a:bodyPr/>
                    <a:lstStyle/>
                    <a:p>
                      <a:pPr algn="l"/>
                      <a:r>
                        <a:rPr sz="1000" b="0">
                          <a:solidFill>
                            <a:srgbClr val="253042"/>
                          </a:solidFill>
                          <a:latin typeface="Aptos"/>
                        </a:rPr>
                        <a:t>Complexity</a:t>
                      </a:r>
                    </a:p>
                  </a:txBody>
                  <a:tcPr marL="73152" marR="54864" marB="27432">
                    <a:solidFill>
                      <a:srgbClr val="F7F9FC"/>
                    </a:solidFill>
                  </a:tcPr>
                </a:tc>
                <a:tc>
                  <a:txBody>
                    <a:bodyPr/>
                    <a:lstStyle/>
                    <a:p>
                      <a:pPr algn="l"/>
                      <a:r>
                        <a:rPr sz="1000" b="0">
                          <a:solidFill>
                            <a:srgbClr val="253042"/>
                          </a:solidFill>
                          <a:latin typeface="Aptos"/>
                        </a:rPr>
                        <a:t>Retries and partitions are easier to reason about</a:t>
                      </a:r>
                    </a:p>
                  </a:txBody>
                  <a:tcPr marL="73152" marR="54864" marB="27432">
                    <a:solidFill>
                      <a:srgbClr val="F7F9FC"/>
                    </a:solidFill>
                  </a:tcPr>
                </a:tc>
                <a:tc>
                  <a:txBody>
                    <a:bodyPr/>
                    <a:lstStyle/>
                    <a:p>
                      <a:pPr algn="l"/>
                      <a:r>
                        <a:rPr sz="1000" b="0">
                          <a:solidFill>
                            <a:srgbClr val="253042"/>
                          </a:solidFill>
                          <a:latin typeface="Aptos"/>
                        </a:rPr>
                        <a:t>Event time, watermarks, state, ordering, replay</a:t>
                      </a:r>
                    </a:p>
                  </a:txBody>
                  <a:tcPr marL="73152" marR="54864" marB="27432">
                    <a:solidFill>
                      <a:srgbClr val="F7F9FC"/>
                    </a:solidFill>
                  </a:tcPr>
                </a:tc>
                <a:extLst>
                  <a:ext uri="{0D108BD9-81ED-4DB2-BD59-A6C34878D82A}">
                    <a16:rowId xmlns:a16="http://schemas.microsoft.com/office/drawing/2014/main" val="10004"/>
                  </a:ext>
                </a:extLst>
              </a:tr>
              <a:tr h="554355">
                <a:tc>
                  <a:txBody>
                    <a:bodyPr/>
                    <a:lstStyle/>
                    <a:p>
                      <a:pPr algn="l"/>
                      <a:r>
                        <a:rPr sz="1000" b="0">
                          <a:solidFill>
                            <a:srgbClr val="253042"/>
                          </a:solidFill>
                          <a:latin typeface="Aptos"/>
                        </a:rPr>
                        <a:t>Correctness</a:t>
                      </a:r>
                    </a:p>
                  </a:txBody>
                  <a:tcPr marL="73152" marR="54864" marB="27432">
                    <a:solidFill>
                      <a:srgbClr val="FFFFFF"/>
                    </a:solidFill>
                  </a:tcPr>
                </a:tc>
                <a:tc>
                  <a:txBody>
                    <a:bodyPr/>
                    <a:lstStyle/>
                    <a:p>
                      <a:pPr algn="l"/>
                      <a:r>
                        <a:rPr sz="1000" b="0">
                          <a:solidFill>
                            <a:srgbClr val="253042"/>
                          </a:solidFill>
                          <a:latin typeface="Aptos"/>
                        </a:rPr>
                        <a:t>Closed data windows simplify finality</a:t>
                      </a:r>
                    </a:p>
                  </a:txBody>
                  <a:tcPr marL="73152" marR="54864" marB="27432">
                    <a:solidFill>
                      <a:srgbClr val="FFFFFF"/>
                    </a:solidFill>
                  </a:tcPr>
                </a:tc>
                <a:tc>
                  <a:txBody>
                    <a:bodyPr/>
                    <a:lstStyle/>
                    <a:p>
                      <a:pPr algn="l"/>
                      <a:r>
                        <a:rPr sz="1000" b="0">
                          <a:solidFill>
                            <a:srgbClr val="253042"/>
                          </a:solidFill>
                          <a:latin typeface="Aptos"/>
                        </a:rPr>
                        <a:t>Late data can revise prior results</a:t>
                      </a:r>
                    </a:p>
                  </a:txBody>
                  <a:tcPr marL="73152" marR="54864" marB="27432">
                    <a:solidFill>
                      <a:srgbClr val="FFFFFF"/>
                    </a:solidFill>
                  </a:tcPr>
                </a:tc>
                <a:extLst>
                  <a:ext uri="{0D108BD9-81ED-4DB2-BD59-A6C34878D82A}">
                    <a16:rowId xmlns:a16="http://schemas.microsoft.com/office/drawing/2014/main" val="10005"/>
                  </a:ext>
                </a:extLst>
              </a:tr>
              <a:tr h="554355">
                <a:tc>
                  <a:txBody>
                    <a:bodyPr/>
                    <a:lstStyle/>
                    <a:p>
                      <a:pPr algn="l"/>
                      <a:r>
                        <a:rPr sz="1000" b="0">
                          <a:solidFill>
                            <a:srgbClr val="253042"/>
                          </a:solidFill>
                          <a:latin typeface="Aptos"/>
                        </a:rPr>
                        <a:t>Recovery</a:t>
                      </a:r>
                    </a:p>
                  </a:txBody>
                  <a:tcPr marL="73152" marR="54864" marB="27432">
                    <a:solidFill>
                      <a:srgbClr val="F7F9FC"/>
                    </a:solidFill>
                  </a:tcPr>
                </a:tc>
                <a:tc>
                  <a:txBody>
                    <a:bodyPr/>
                    <a:lstStyle/>
                    <a:p>
                      <a:pPr algn="l"/>
                      <a:r>
                        <a:rPr sz="1000" b="0">
                          <a:solidFill>
                            <a:srgbClr val="253042"/>
                          </a:solidFill>
                          <a:latin typeface="Aptos"/>
                        </a:rPr>
                        <a:t>Rerun partitions / replace ranges</a:t>
                      </a:r>
                    </a:p>
                  </a:txBody>
                  <a:tcPr marL="73152" marR="54864" marB="27432">
                    <a:solidFill>
                      <a:srgbClr val="F7F9FC"/>
                    </a:solidFill>
                  </a:tcPr>
                </a:tc>
                <a:tc>
                  <a:txBody>
                    <a:bodyPr/>
                    <a:lstStyle/>
                    <a:p>
                      <a:pPr algn="l"/>
                      <a:r>
                        <a:rPr sz="1000" b="0">
                          <a:solidFill>
                            <a:srgbClr val="253042"/>
                          </a:solidFill>
                          <a:latin typeface="Aptos"/>
                        </a:rPr>
                        <a:t>Restore checkpoint or replay offsets</a:t>
                      </a:r>
                    </a:p>
                  </a:txBody>
                  <a:tcPr marL="73152" marR="54864" marB="27432">
                    <a:solidFill>
                      <a:srgbClr val="F7F9FC"/>
                    </a:solidFill>
                  </a:tcPr>
                </a:tc>
                <a:extLst>
                  <a:ext uri="{0D108BD9-81ED-4DB2-BD59-A6C34878D82A}">
                    <a16:rowId xmlns:a16="http://schemas.microsoft.com/office/drawing/2014/main" val="10006"/>
                  </a:ext>
                </a:extLst>
              </a:tr>
              <a:tr h="554355">
                <a:tc>
                  <a:txBody>
                    <a:bodyPr/>
                    <a:lstStyle/>
                    <a:p>
                      <a:pPr algn="l"/>
                      <a:r>
                        <a:rPr sz="1000" b="0">
                          <a:solidFill>
                            <a:srgbClr val="253042"/>
                          </a:solidFill>
                          <a:latin typeface="Aptos"/>
                        </a:rPr>
                        <a:t>Serving</a:t>
                      </a:r>
                    </a:p>
                  </a:txBody>
                  <a:tcPr marL="73152" marR="54864" marB="27432">
                    <a:solidFill>
                      <a:srgbClr val="FFFFFF"/>
                    </a:solidFill>
                  </a:tcPr>
                </a:tc>
                <a:tc>
                  <a:txBody>
                    <a:bodyPr/>
                    <a:lstStyle/>
                    <a:p>
                      <a:pPr algn="l"/>
                      <a:r>
                        <a:rPr sz="1000" b="0">
                          <a:solidFill>
                            <a:srgbClr val="253042"/>
                          </a:solidFill>
                          <a:latin typeface="Aptos"/>
                        </a:rPr>
                        <a:t>Warehouse/lakehouse tables</a:t>
                      </a:r>
                    </a:p>
                  </a:txBody>
                  <a:tcPr marL="73152" marR="54864" marB="27432">
                    <a:solidFill>
                      <a:srgbClr val="FFFFFF"/>
                    </a:solidFill>
                  </a:tcPr>
                </a:tc>
                <a:tc>
                  <a:txBody>
                    <a:bodyPr/>
                    <a:lstStyle/>
                    <a:p>
                      <a:pPr algn="l"/>
                      <a:r>
                        <a:rPr sz="1000" b="0">
                          <a:solidFill>
                            <a:srgbClr val="253042"/>
                          </a:solidFill>
                          <a:latin typeface="Aptos"/>
                        </a:rPr>
                        <a:t>Key-value/OLAP serving + durable lakehouse</a:t>
                      </a:r>
                    </a:p>
                  </a:txBody>
                  <a:tcPr marL="73152" marR="54864" marB="27432">
                    <a:solidFill>
                      <a:srgbClr val="FFFFFF"/>
                    </a:solidFill>
                  </a:tcPr>
                </a:tc>
                <a:extLst>
                  <a:ext uri="{0D108BD9-81ED-4DB2-BD59-A6C34878D82A}">
                    <a16:rowId xmlns:a16="http://schemas.microsoft.com/office/drawing/2014/main" val="10007"/>
                  </a:ext>
                </a:extLst>
              </a:tr>
            </a:tbl>
          </a:graphicData>
        </a:graphic>
      </p:graphicFrame>
      <p:sp>
        <p:nvSpPr>
          <p:cNvPr id="9" name="Rounded Rectangle 8"/>
          <p:cNvSpPr/>
          <p:nvPr/>
        </p:nvSpPr>
        <p:spPr>
          <a:xfrm>
            <a:off x="914400" y="5916168"/>
            <a:ext cx="10332720" cy="50292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0704" y="6035040"/>
            <a:ext cx="10058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Decision rule: if the SLA is daily, start with batch. Add streaming only for a named use case that cannot tolerate batch latency.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Lambda, Kappa, and Lakehouse patterns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Architecture style describes how processing paths and durable truth are organized.</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12</a:t>
            </a:r>
          </a:p>
        </p:txBody>
      </p:sp>
      <p:sp>
        <p:nvSpPr>
          <p:cNvPr id="8" name="Rounded Rectangle 7"/>
          <p:cNvSpPr/>
          <p:nvPr/>
        </p:nvSpPr>
        <p:spPr>
          <a:xfrm>
            <a:off x="640080" y="1627632"/>
            <a:ext cx="3429000" cy="34747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0080" y="1627632"/>
            <a:ext cx="3429000" cy="59436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810512"/>
            <a:ext cx="3429000" cy="219456"/>
          </a:xfrm>
          <a:prstGeom prst="rect">
            <a:avLst/>
          </a:prstGeom>
          <a:noFill/>
        </p:spPr>
        <p:txBody>
          <a:bodyPr wrap="none" lIns="45720" rIns="45720" anchor="t">
            <a:spAutoFit/>
          </a:bodyPr>
          <a:lstStyle/>
          <a:p>
            <a:pPr algn="ctr">
              <a:spcAft>
                <a:spcPts val="0"/>
              </a:spcAft>
            </a:pPr>
            <a:r>
              <a:rPr sz="1500" b="1" i="0">
                <a:solidFill>
                  <a:srgbClr val="FFFFFF"/>
                </a:solidFill>
                <a:latin typeface="Aptos"/>
              </a:rPr>
              <a:t>Lambda</a:t>
            </a:r>
          </a:p>
        </p:txBody>
      </p:sp>
      <p:sp>
        <p:nvSpPr>
          <p:cNvPr id="11" name="Rounded Rectangle 10"/>
          <p:cNvSpPr/>
          <p:nvPr/>
        </p:nvSpPr>
        <p:spPr>
          <a:xfrm>
            <a:off x="868680" y="2514600"/>
            <a:ext cx="822960" cy="54864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7" y="2624328"/>
            <a:ext cx="603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Source</a:t>
            </a:r>
          </a:p>
        </p:txBody>
      </p:sp>
      <p:sp>
        <p:nvSpPr>
          <p:cNvPr id="13" name="Rounded Rectangle 12"/>
          <p:cNvSpPr/>
          <p:nvPr/>
        </p:nvSpPr>
        <p:spPr>
          <a:xfrm>
            <a:off x="1965960" y="2359152"/>
            <a:ext cx="868680" cy="50292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075688" y="2468880"/>
            <a:ext cx="6492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Speed</a:t>
            </a:r>
          </a:p>
        </p:txBody>
      </p:sp>
      <p:sp>
        <p:nvSpPr>
          <p:cNvPr id="15" name="Rounded Rectangle 14"/>
          <p:cNvSpPr/>
          <p:nvPr/>
        </p:nvSpPr>
        <p:spPr>
          <a:xfrm>
            <a:off x="1965960" y="3035808"/>
            <a:ext cx="868680" cy="50292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075688" y="3145536"/>
            <a:ext cx="6492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Batch</a:t>
            </a:r>
          </a:p>
        </p:txBody>
      </p:sp>
      <p:sp>
        <p:nvSpPr>
          <p:cNvPr id="17" name="Rounded Rectangle 16"/>
          <p:cNvSpPr/>
          <p:nvPr/>
        </p:nvSpPr>
        <p:spPr>
          <a:xfrm>
            <a:off x="3127248" y="2697480"/>
            <a:ext cx="713232" cy="54864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36976" y="2807208"/>
            <a:ext cx="493776"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Serve</a:t>
            </a:r>
          </a:p>
        </p:txBody>
      </p:sp>
      <p:cxnSp>
        <p:nvCxnSpPr>
          <p:cNvPr id="19" name="Connector 18"/>
          <p:cNvCxnSpPr/>
          <p:nvPr/>
        </p:nvCxnSpPr>
        <p:spPr>
          <a:xfrm flipV="1">
            <a:off x="1700784" y="2606040"/>
            <a:ext cx="219455" cy="182880"/>
          </a:xfrm>
          <a:prstGeom prst="line">
            <a:avLst/>
          </a:prstGeom>
          <a:ln w="1270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700784" y="2788920"/>
            <a:ext cx="219455" cy="484632"/>
          </a:xfrm>
          <a:prstGeom prst="line">
            <a:avLst/>
          </a:prstGeom>
          <a:ln w="1270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852928" y="2606040"/>
            <a:ext cx="237744" cy="301752"/>
          </a:xfrm>
          <a:prstGeom prst="line">
            <a:avLst/>
          </a:prstGeom>
          <a:ln w="1270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852928" y="2907792"/>
            <a:ext cx="237744" cy="365760"/>
          </a:xfrm>
          <a:prstGeom prst="line">
            <a:avLst/>
          </a:prstGeom>
          <a:ln w="12700">
            <a:solidFill>
              <a:srgbClr val="4385F5"/>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14400" y="3657600"/>
            <a:ext cx="2880360" cy="114300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Batch truth + speed path
+ Low latency and accurate recompute
− Duplicate logic and reconciliation</a:t>
            </a:r>
          </a:p>
        </p:txBody>
      </p:sp>
      <p:sp>
        <p:nvSpPr>
          <p:cNvPr id="24" name="Rounded Rectangle 23"/>
          <p:cNvSpPr/>
          <p:nvPr/>
        </p:nvSpPr>
        <p:spPr>
          <a:xfrm>
            <a:off x="4480560" y="1627632"/>
            <a:ext cx="3429000" cy="34747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480560" y="1627632"/>
            <a:ext cx="3429000" cy="59436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80560" y="1810512"/>
            <a:ext cx="3429000" cy="219456"/>
          </a:xfrm>
          <a:prstGeom prst="rect">
            <a:avLst/>
          </a:prstGeom>
          <a:noFill/>
        </p:spPr>
        <p:txBody>
          <a:bodyPr wrap="none" lIns="45720" rIns="45720" anchor="t">
            <a:spAutoFit/>
          </a:bodyPr>
          <a:lstStyle/>
          <a:p>
            <a:pPr algn="ctr">
              <a:spcAft>
                <a:spcPts val="0"/>
              </a:spcAft>
            </a:pPr>
            <a:r>
              <a:rPr sz="1500" b="1" i="0">
                <a:solidFill>
                  <a:srgbClr val="FFFFFF"/>
                </a:solidFill>
                <a:latin typeface="Aptos"/>
              </a:rPr>
              <a:t>Kappa</a:t>
            </a:r>
          </a:p>
        </p:txBody>
      </p:sp>
      <p:sp>
        <p:nvSpPr>
          <p:cNvPr id="27" name="Rounded Rectangle 26"/>
          <p:cNvSpPr/>
          <p:nvPr/>
        </p:nvSpPr>
        <p:spPr>
          <a:xfrm>
            <a:off x="4709160" y="2670048"/>
            <a:ext cx="822960" cy="5486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18888" y="2779776"/>
            <a:ext cx="603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Source</a:t>
            </a:r>
          </a:p>
        </p:txBody>
      </p:sp>
      <p:sp>
        <p:nvSpPr>
          <p:cNvPr id="29" name="Rounded Rectangle 28"/>
          <p:cNvSpPr/>
          <p:nvPr/>
        </p:nvSpPr>
        <p:spPr>
          <a:xfrm>
            <a:off x="5797296" y="2670048"/>
            <a:ext cx="822960" cy="5486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907024" y="2779776"/>
            <a:ext cx="603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Log</a:t>
            </a:r>
          </a:p>
        </p:txBody>
      </p:sp>
      <p:sp>
        <p:nvSpPr>
          <p:cNvPr id="31" name="Rounded Rectangle 30"/>
          <p:cNvSpPr/>
          <p:nvPr/>
        </p:nvSpPr>
        <p:spPr>
          <a:xfrm>
            <a:off x="6885432" y="2670048"/>
            <a:ext cx="822960" cy="5486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95160" y="2779776"/>
            <a:ext cx="603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Stream</a:t>
            </a:r>
          </a:p>
        </p:txBody>
      </p:sp>
      <p:cxnSp>
        <p:nvCxnSpPr>
          <p:cNvPr id="33" name="Connector 32"/>
          <p:cNvCxnSpPr/>
          <p:nvPr/>
        </p:nvCxnSpPr>
        <p:spPr>
          <a:xfrm>
            <a:off x="5541264" y="2944368"/>
            <a:ext cx="219456" cy="0"/>
          </a:xfrm>
          <a:prstGeom prst="line">
            <a:avLst/>
          </a:prstGeom>
          <a:ln w="1270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638544" y="2944368"/>
            <a:ext cx="210312" cy="0"/>
          </a:xfrm>
          <a:prstGeom prst="line">
            <a:avLst/>
          </a:prstGeom>
          <a:ln w="12700">
            <a:solidFill>
              <a:srgbClr val="855CF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754880" y="3657600"/>
            <a:ext cx="2880360" cy="114300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One streaming path; replay log
+ One processing model
− Long replays and state complexity</a:t>
            </a:r>
          </a:p>
        </p:txBody>
      </p:sp>
      <p:sp>
        <p:nvSpPr>
          <p:cNvPr id="36" name="Rounded Rectangle 35"/>
          <p:cNvSpPr/>
          <p:nvPr/>
        </p:nvSpPr>
        <p:spPr>
          <a:xfrm>
            <a:off x="8321040" y="1627632"/>
            <a:ext cx="3429000" cy="34747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8321040" y="1627632"/>
            <a:ext cx="3429000" cy="59436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21040" y="1810512"/>
            <a:ext cx="3429000" cy="219456"/>
          </a:xfrm>
          <a:prstGeom prst="rect">
            <a:avLst/>
          </a:prstGeom>
          <a:noFill/>
        </p:spPr>
        <p:txBody>
          <a:bodyPr wrap="none" lIns="45720" rIns="45720" anchor="t">
            <a:spAutoFit/>
          </a:bodyPr>
          <a:lstStyle/>
          <a:p>
            <a:pPr algn="ctr">
              <a:spcAft>
                <a:spcPts val="0"/>
              </a:spcAft>
            </a:pPr>
            <a:r>
              <a:rPr sz="1500" b="1" i="0">
                <a:solidFill>
                  <a:srgbClr val="FFFFFF"/>
                </a:solidFill>
                <a:latin typeface="Aptos"/>
              </a:rPr>
              <a:t>Lakehouse-centric</a:t>
            </a:r>
          </a:p>
        </p:txBody>
      </p:sp>
      <p:sp>
        <p:nvSpPr>
          <p:cNvPr id="39" name="Rounded Rectangle 38"/>
          <p:cNvSpPr/>
          <p:nvPr/>
        </p:nvSpPr>
        <p:spPr>
          <a:xfrm>
            <a:off x="8522208" y="2670048"/>
            <a:ext cx="731520" cy="5486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631936" y="2779776"/>
            <a:ext cx="512064" cy="256032"/>
          </a:xfrm>
          <a:prstGeom prst="rect">
            <a:avLst/>
          </a:prstGeom>
          <a:noFill/>
        </p:spPr>
        <p:txBody>
          <a:bodyPr wrap="none" lIns="45720" rIns="45720" anchor="t">
            <a:spAutoFit/>
          </a:bodyPr>
          <a:lstStyle/>
          <a:p>
            <a:pPr algn="ctr">
              <a:spcAft>
                <a:spcPts val="0"/>
              </a:spcAft>
            </a:pPr>
            <a:r>
              <a:rPr sz="900" b="1" i="0">
                <a:solidFill>
                  <a:srgbClr val="0C1930"/>
                </a:solidFill>
                <a:latin typeface="Aptos"/>
              </a:rPr>
              <a:t>Ingest</a:t>
            </a:r>
          </a:p>
        </p:txBody>
      </p:sp>
      <p:sp>
        <p:nvSpPr>
          <p:cNvPr id="41" name="Rounded Rectangle 40"/>
          <p:cNvSpPr/>
          <p:nvPr/>
        </p:nvSpPr>
        <p:spPr>
          <a:xfrm>
            <a:off x="9464040" y="2670048"/>
            <a:ext cx="960120" cy="5486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573767" y="2779776"/>
            <a:ext cx="740664" cy="256032"/>
          </a:xfrm>
          <a:prstGeom prst="rect">
            <a:avLst/>
          </a:prstGeom>
          <a:noFill/>
        </p:spPr>
        <p:txBody>
          <a:bodyPr wrap="none" lIns="45720" rIns="45720" anchor="t">
            <a:spAutoFit/>
          </a:bodyPr>
          <a:lstStyle/>
          <a:p>
            <a:pPr algn="ctr">
              <a:spcAft>
                <a:spcPts val="0"/>
              </a:spcAft>
            </a:pPr>
            <a:r>
              <a:rPr sz="900" b="1" i="0">
                <a:solidFill>
                  <a:srgbClr val="0C1930"/>
                </a:solidFill>
                <a:latin typeface="Aptos"/>
              </a:rPr>
              <a:t>ACID lake</a:t>
            </a:r>
          </a:p>
        </p:txBody>
      </p:sp>
      <p:sp>
        <p:nvSpPr>
          <p:cNvPr id="43" name="Rounded Rectangle 42"/>
          <p:cNvSpPr/>
          <p:nvPr/>
        </p:nvSpPr>
        <p:spPr>
          <a:xfrm>
            <a:off x="10652759" y="2670048"/>
            <a:ext cx="868680" cy="5486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762487" y="2779776"/>
            <a:ext cx="649224" cy="256032"/>
          </a:xfrm>
          <a:prstGeom prst="rect">
            <a:avLst/>
          </a:prstGeom>
          <a:noFill/>
        </p:spPr>
        <p:txBody>
          <a:bodyPr wrap="none" lIns="45720" rIns="45720" anchor="t">
            <a:spAutoFit/>
          </a:bodyPr>
          <a:lstStyle/>
          <a:p>
            <a:pPr algn="ctr">
              <a:spcAft>
                <a:spcPts val="0"/>
              </a:spcAft>
            </a:pPr>
            <a:r>
              <a:rPr sz="900" b="1" i="0">
                <a:solidFill>
                  <a:srgbClr val="0C1930"/>
                </a:solidFill>
                <a:latin typeface="Aptos"/>
              </a:rPr>
              <a:t>Engines</a:t>
            </a:r>
          </a:p>
        </p:txBody>
      </p:sp>
      <p:cxnSp>
        <p:nvCxnSpPr>
          <p:cNvPr id="45" name="Connector 44"/>
          <p:cNvCxnSpPr/>
          <p:nvPr/>
        </p:nvCxnSpPr>
        <p:spPr>
          <a:xfrm>
            <a:off x="9262872" y="2944368"/>
            <a:ext cx="164591" cy="0"/>
          </a:xfrm>
          <a:prstGeom prst="line">
            <a:avLst/>
          </a:prstGeom>
          <a:ln w="1270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442448" y="2944368"/>
            <a:ext cx="173736" cy="0"/>
          </a:xfrm>
          <a:prstGeom prst="line">
            <a:avLst/>
          </a:prstGeom>
          <a:ln w="12700">
            <a:solidFill>
              <a:srgbClr val="00AAA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595360" y="3657600"/>
            <a:ext cx="2880360" cy="114300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Durable object store + ACID tables
+ Unified batch/stream data plane
− Table maintenance and engine tuning</a:t>
            </a:r>
          </a:p>
        </p:txBody>
      </p:sp>
      <p:sp>
        <p:nvSpPr>
          <p:cNvPr id="48" name="Rounded Rectangle 47"/>
          <p:cNvSpPr/>
          <p:nvPr/>
        </p:nvSpPr>
        <p:spPr>
          <a:xfrm>
            <a:off x="1143000" y="5623560"/>
            <a:ext cx="9875520" cy="56692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289304" y="5742432"/>
            <a:ext cx="9601200" cy="384048"/>
          </a:xfrm>
          <a:prstGeom prst="rect">
            <a:avLst/>
          </a:prstGeom>
          <a:noFill/>
        </p:spPr>
        <p:txBody>
          <a:bodyPr wrap="none" lIns="45720" rIns="45720" anchor="t">
            <a:spAutoFit/>
          </a:bodyPr>
          <a:lstStyle/>
          <a:p>
            <a:pPr algn="l">
              <a:spcAft>
                <a:spcPts val="0"/>
              </a:spcAft>
            </a:pPr>
            <a:r>
              <a:rPr sz="1100" b="1" i="0">
                <a:solidFill>
                  <a:srgbClr val="0C1930"/>
                </a:solidFill>
                <a:latin typeface="Aptos"/>
              </a:rPr>
              <a:t>Choose by recovery model and team ownership—not by trend. Ask where durable truth lives and how every path is replayed.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Reference architecture: explain left to right</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Separate concerns so each stage can scale, fail, and recover independently.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13</a:t>
            </a:r>
          </a:p>
        </p:txBody>
      </p:sp>
      <p:sp>
        <p:nvSpPr>
          <p:cNvPr id="8" name="Rounded Rectangle 7"/>
          <p:cNvSpPr/>
          <p:nvPr/>
        </p:nvSpPr>
        <p:spPr>
          <a:xfrm>
            <a:off x="438912" y="1572768"/>
            <a:ext cx="2029968" cy="40690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8912" y="1572768"/>
            <a:ext cx="2029968" cy="56692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12" y="1773936"/>
            <a:ext cx="2029968"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SOURCES</a:t>
            </a:r>
          </a:p>
        </p:txBody>
      </p:sp>
      <p:sp>
        <p:nvSpPr>
          <p:cNvPr id="11" name="Rounded Rectangle 10"/>
          <p:cNvSpPr/>
          <p:nvPr/>
        </p:nvSpPr>
        <p:spPr>
          <a:xfrm>
            <a:off x="667512" y="2468880"/>
            <a:ext cx="1572768" cy="557784"/>
          </a:xfrm>
          <a:prstGeom prst="roundRect">
            <a:avLst/>
          </a:prstGeom>
          <a:solidFill>
            <a:srgbClr val="F9FBFE"/>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578608"/>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Apps/events</a:t>
            </a:r>
          </a:p>
        </p:txBody>
      </p:sp>
      <p:sp>
        <p:nvSpPr>
          <p:cNvPr id="13" name="Rounded Rectangle 12"/>
          <p:cNvSpPr/>
          <p:nvPr/>
        </p:nvSpPr>
        <p:spPr>
          <a:xfrm>
            <a:off x="667512" y="3319272"/>
            <a:ext cx="1572768" cy="557784"/>
          </a:xfrm>
          <a:prstGeom prst="roundRect">
            <a:avLst/>
          </a:prstGeom>
          <a:solidFill>
            <a:srgbClr val="F9FBFE"/>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429000"/>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DB CDC</a:t>
            </a:r>
          </a:p>
        </p:txBody>
      </p:sp>
      <p:sp>
        <p:nvSpPr>
          <p:cNvPr id="15" name="Rounded Rectangle 14"/>
          <p:cNvSpPr/>
          <p:nvPr/>
        </p:nvSpPr>
        <p:spPr>
          <a:xfrm>
            <a:off x="667512" y="4169664"/>
            <a:ext cx="1572768" cy="557784"/>
          </a:xfrm>
          <a:prstGeom prst="roundRect">
            <a:avLst/>
          </a:prstGeom>
          <a:solidFill>
            <a:srgbClr val="F9FBFE"/>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4279392"/>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SaaS/files</a:t>
            </a:r>
          </a:p>
        </p:txBody>
      </p:sp>
      <p:cxnSp>
        <p:nvCxnSpPr>
          <p:cNvPr id="17" name="Connector 16"/>
          <p:cNvCxnSpPr/>
          <p:nvPr/>
        </p:nvCxnSpPr>
        <p:spPr>
          <a:xfrm>
            <a:off x="2478024" y="3547872"/>
            <a:ext cx="246888" cy="0"/>
          </a:xfrm>
          <a:prstGeom prst="line">
            <a:avLst/>
          </a:prstGeom>
          <a:ln w="19050">
            <a:solidFill>
              <a:srgbClr val="74849A"/>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779776" y="1572768"/>
            <a:ext cx="2029968" cy="40690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2779776" y="1572768"/>
            <a:ext cx="2029968" cy="56692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79776" y="1773936"/>
            <a:ext cx="2029968"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INGEST</a:t>
            </a:r>
          </a:p>
        </p:txBody>
      </p:sp>
      <p:sp>
        <p:nvSpPr>
          <p:cNvPr id="21" name="Rounded Rectangle 20"/>
          <p:cNvSpPr/>
          <p:nvPr/>
        </p:nvSpPr>
        <p:spPr>
          <a:xfrm>
            <a:off x="3008376" y="2468880"/>
            <a:ext cx="1572768" cy="557784"/>
          </a:xfrm>
          <a:prstGeom prst="roundRect">
            <a:avLst/>
          </a:prstGeom>
          <a:solidFill>
            <a:srgbClr val="F9FBFE"/>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118104" y="2578608"/>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Kafka / Kinesis</a:t>
            </a:r>
          </a:p>
        </p:txBody>
      </p:sp>
      <p:sp>
        <p:nvSpPr>
          <p:cNvPr id="23" name="Rounded Rectangle 22"/>
          <p:cNvSpPr/>
          <p:nvPr/>
        </p:nvSpPr>
        <p:spPr>
          <a:xfrm>
            <a:off x="3008376" y="3319272"/>
            <a:ext cx="1572768" cy="557784"/>
          </a:xfrm>
          <a:prstGeom prst="roundRect">
            <a:avLst/>
          </a:prstGeom>
          <a:solidFill>
            <a:srgbClr val="F9FBFE"/>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118104" y="3429000"/>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Object landing</a:t>
            </a:r>
          </a:p>
        </p:txBody>
      </p:sp>
      <p:sp>
        <p:nvSpPr>
          <p:cNvPr id="25" name="Rounded Rectangle 24"/>
          <p:cNvSpPr/>
          <p:nvPr/>
        </p:nvSpPr>
        <p:spPr>
          <a:xfrm>
            <a:off x="3008376" y="4169664"/>
            <a:ext cx="1572768" cy="557784"/>
          </a:xfrm>
          <a:prstGeom prst="roundRect">
            <a:avLst/>
          </a:prstGeom>
          <a:solidFill>
            <a:srgbClr val="F9FBFE"/>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118104" y="4279392"/>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Schema registry</a:t>
            </a:r>
          </a:p>
        </p:txBody>
      </p:sp>
      <p:cxnSp>
        <p:nvCxnSpPr>
          <p:cNvPr id="27" name="Connector 26"/>
          <p:cNvCxnSpPr/>
          <p:nvPr/>
        </p:nvCxnSpPr>
        <p:spPr>
          <a:xfrm>
            <a:off x="4818888" y="3547872"/>
            <a:ext cx="246888" cy="0"/>
          </a:xfrm>
          <a:prstGeom prst="line">
            <a:avLst/>
          </a:prstGeom>
          <a:ln w="19050">
            <a:solidFill>
              <a:srgbClr val="74849A"/>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120640" y="1572768"/>
            <a:ext cx="2029968" cy="40690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5120640" y="1572768"/>
            <a:ext cx="2029968" cy="56692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120640" y="1773936"/>
            <a:ext cx="2029968"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PROCESS</a:t>
            </a:r>
          </a:p>
        </p:txBody>
      </p:sp>
      <p:sp>
        <p:nvSpPr>
          <p:cNvPr id="31" name="Rounded Rectangle 30"/>
          <p:cNvSpPr/>
          <p:nvPr/>
        </p:nvSpPr>
        <p:spPr>
          <a:xfrm>
            <a:off x="5349240" y="2468880"/>
            <a:ext cx="1572768" cy="557784"/>
          </a:xfrm>
          <a:prstGeom prst="roundRect">
            <a:avLst/>
          </a:prstGeom>
          <a:solidFill>
            <a:srgbClr val="F9FBFE"/>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458968" y="2578608"/>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Flink / Spark</a:t>
            </a:r>
          </a:p>
        </p:txBody>
      </p:sp>
      <p:sp>
        <p:nvSpPr>
          <p:cNvPr id="33" name="Rounded Rectangle 32"/>
          <p:cNvSpPr/>
          <p:nvPr/>
        </p:nvSpPr>
        <p:spPr>
          <a:xfrm>
            <a:off x="5349240" y="3319272"/>
            <a:ext cx="1572768" cy="557784"/>
          </a:xfrm>
          <a:prstGeom prst="roundRect">
            <a:avLst/>
          </a:prstGeom>
          <a:solidFill>
            <a:srgbClr val="F9FBFE"/>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458968" y="3429000"/>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Batch SQL</a:t>
            </a:r>
          </a:p>
        </p:txBody>
      </p:sp>
      <p:sp>
        <p:nvSpPr>
          <p:cNvPr id="35" name="Rounded Rectangle 34"/>
          <p:cNvSpPr/>
          <p:nvPr/>
        </p:nvSpPr>
        <p:spPr>
          <a:xfrm>
            <a:off x="5349240" y="4169664"/>
            <a:ext cx="1572768" cy="557784"/>
          </a:xfrm>
          <a:prstGeom prst="roundRect">
            <a:avLst/>
          </a:prstGeom>
          <a:solidFill>
            <a:srgbClr val="F9FBFE"/>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458968" y="4279392"/>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Orchestrator</a:t>
            </a:r>
          </a:p>
        </p:txBody>
      </p:sp>
      <p:cxnSp>
        <p:nvCxnSpPr>
          <p:cNvPr id="37" name="Connector 36"/>
          <p:cNvCxnSpPr/>
          <p:nvPr/>
        </p:nvCxnSpPr>
        <p:spPr>
          <a:xfrm>
            <a:off x="7159752" y="3547872"/>
            <a:ext cx="246888" cy="0"/>
          </a:xfrm>
          <a:prstGeom prst="line">
            <a:avLst/>
          </a:prstGeom>
          <a:ln w="19050">
            <a:solidFill>
              <a:srgbClr val="74849A"/>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7461504" y="1572768"/>
            <a:ext cx="2029968" cy="40690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7461504" y="1572768"/>
            <a:ext cx="2029968" cy="56692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461504" y="1773936"/>
            <a:ext cx="2029968"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STORE</a:t>
            </a:r>
          </a:p>
        </p:txBody>
      </p:sp>
      <p:sp>
        <p:nvSpPr>
          <p:cNvPr id="41" name="Rounded Rectangle 40"/>
          <p:cNvSpPr/>
          <p:nvPr/>
        </p:nvSpPr>
        <p:spPr>
          <a:xfrm>
            <a:off x="7690104" y="2468880"/>
            <a:ext cx="1572768" cy="557784"/>
          </a:xfrm>
          <a:prstGeom prst="roundRect">
            <a:avLst/>
          </a:prstGeom>
          <a:solidFill>
            <a:srgbClr val="F9FBFE"/>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799831" y="2578608"/>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Bronze/Silver</a:t>
            </a:r>
          </a:p>
        </p:txBody>
      </p:sp>
      <p:sp>
        <p:nvSpPr>
          <p:cNvPr id="43" name="Rounded Rectangle 42"/>
          <p:cNvSpPr/>
          <p:nvPr/>
        </p:nvSpPr>
        <p:spPr>
          <a:xfrm>
            <a:off x="7690104" y="3319272"/>
            <a:ext cx="1572768" cy="557784"/>
          </a:xfrm>
          <a:prstGeom prst="roundRect">
            <a:avLst/>
          </a:prstGeom>
          <a:solidFill>
            <a:srgbClr val="F9FBFE"/>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799831" y="3429000"/>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Delta / Iceberg</a:t>
            </a:r>
          </a:p>
        </p:txBody>
      </p:sp>
      <p:sp>
        <p:nvSpPr>
          <p:cNvPr id="45" name="Rounded Rectangle 44"/>
          <p:cNvSpPr/>
          <p:nvPr/>
        </p:nvSpPr>
        <p:spPr>
          <a:xfrm>
            <a:off x="7690104" y="4169664"/>
            <a:ext cx="1572768" cy="557784"/>
          </a:xfrm>
          <a:prstGeom prst="roundRect">
            <a:avLst/>
          </a:prstGeom>
          <a:solidFill>
            <a:srgbClr val="F9FBFE"/>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799831" y="4279392"/>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Catalog</a:t>
            </a:r>
          </a:p>
        </p:txBody>
      </p:sp>
      <p:cxnSp>
        <p:nvCxnSpPr>
          <p:cNvPr id="47" name="Connector 46"/>
          <p:cNvCxnSpPr/>
          <p:nvPr/>
        </p:nvCxnSpPr>
        <p:spPr>
          <a:xfrm>
            <a:off x="9500616" y="3547872"/>
            <a:ext cx="246888" cy="0"/>
          </a:xfrm>
          <a:prstGeom prst="line">
            <a:avLst/>
          </a:prstGeom>
          <a:ln w="19050">
            <a:solidFill>
              <a:srgbClr val="74849A"/>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802368" y="1572768"/>
            <a:ext cx="2029968" cy="40690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9802368" y="1572768"/>
            <a:ext cx="2029968" cy="566928"/>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802368" y="1773936"/>
            <a:ext cx="2029968"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SERVE</a:t>
            </a:r>
          </a:p>
        </p:txBody>
      </p:sp>
      <p:sp>
        <p:nvSpPr>
          <p:cNvPr id="51" name="Rounded Rectangle 50"/>
          <p:cNvSpPr/>
          <p:nvPr/>
        </p:nvSpPr>
        <p:spPr>
          <a:xfrm>
            <a:off x="10030968" y="2468880"/>
            <a:ext cx="1572768" cy="557784"/>
          </a:xfrm>
          <a:prstGeom prst="roundRect">
            <a:avLst/>
          </a:prstGeom>
          <a:solidFill>
            <a:srgbClr val="F9FBFE"/>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140696" y="2578608"/>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Warehouse/OLAP</a:t>
            </a:r>
          </a:p>
        </p:txBody>
      </p:sp>
      <p:sp>
        <p:nvSpPr>
          <p:cNvPr id="53" name="Rounded Rectangle 52"/>
          <p:cNvSpPr/>
          <p:nvPr/>
        </p:nvSpPr>
        <p:spPr>
          <a:xfrm>
            <a:off x="10030968" y="3319272"/>
            <a:ext cx="1572768" cy="557784"/>
          </a:xfrm>
          <a:prstGeom prst="roundRect">
            <a:avLst/>
          </a:prstGeom>
          <a:solidFill>
            <a:srgbClr val="F9FBFE"/>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140696" y="3429000"/>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Redis / API</a:t>
            </a:r>
          </a:p>
        </p:txBody>
      </p:sp>
      <p:sp>
        <p:nvSpPr>
          <p:cNvPr id="55" name="Rounded Rectangle 54"/>
          <p:cNvSpPr/>
          <p:nvPr/>
        </p:nvSpPr>
        <p:spPr>
          <a:xfrm>
            <a:off x="10030968" y="4169664"/>
            <a:ext cx="1572768" cy="557784"/>
          </a:xfrm>
          <a:prstGeom prst="roundRect">
            <a:avLst/>
          </a:prstGeom>
          <a:solidFill>
            <a:srgbClr val="F9FBFE"/>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0140696" y="4279392"/>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BI / ML</a:t>
            </a:r>
          </a:p>
        </p:txBody>
      </p:sp>
      <p:sp>
        <p:nvSpPr>
          <p:cNvPr id="57" name="TextBox 56"/>
          <p:cNvSpPr txBox="1"/>
          <p:nvPr/>
        </p:nvSpPr>
        <p:spPr>
          <a:xfrm>
            <a:off x="1005840" y="5852160"/>
            <a:ext cx="10149840" cy="320040"/>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Cross-cutting: security • metadata/lineage • quality • observability • cost controls • CI/CD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DATA MODELING</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3 — Medallion data progression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Each layer has a distinct contract, failure policy, and consumer boundary.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14</a:t>
            </a:r>
          </a:p>
        </p:txBody>
      </p:sp>
      <p:sp>
        <p:nvSpPr>
          <p:cNvPr id="8" name="Rounded Rectangle 7"/>
          <p:cNvSpPr/>
          <p:nvPr/>
        </p:nvSpPr>
        <p:spPr>
          <a:xfrm>
            <a:off x="731520" y="1664208"/>
            <a:ext cx="3246120" cy="3566160"/>
          </a:xfrm>
          <a:prstGeom prst="roundRect">
            <a:avLst/>
          </a:prstGeom>
          <a:solidFill>
            <a:srgbClr val="FFFFFF"/>
          </a:solidFill>
          <a:ln w="1905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1664208"/>
            <a:ext cx="3246120" cy="658368"/>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874519"/>
            <a:ext cx="3246120" cy="201168"/>
          </a:xfrm>
          <a:prstGeom prst="rect">
            <a:avLst/>
          </a:prstGeom>
          <a:noFill/>
        </p:spPr>
        <p:txBody>
          <a:bodyPr wrap="none" lIns="45720" rIns="45720" anchor="t">
            <a:spAutoFit/>
          </a:bodyPr>
          <a:lstStyle/>
          <a:p>
            <a:pPr algn="ctr">
              <a:spcAft>
                <a:spcPts val="0"/>
              </a:spcAft>
            </a:pPr>
            <a:r>
              <a:rPr sz="1600" b="1" i="0">
                <a:solidFill>
                  <a:srgbClr val="FFFFFF"/>
                </a:solidFill>
                <a:latin typeface="Aptos"/>
              </a:rPr>
              <a:t>BRONZE</a:t>
            </a:r>
          </a:p>
        </p:txBody>
      </p:sp>
      <p:sp>
        <p:nvSpPr>
          <p:cNvPr id="11" name="TextBox 10"/>
          <p:cNvSpPr txBox="1"/>
          <p:nvPr/>
        </p:nvSpPr>
        <p:spPr>
          <a:xfrm>
            <a:off x="960120" y="2587752"/>
            <a:ext cx="2788920" cy="292608"/>
          </a:xfrm>
          <a:prstGeom prst="rect">
            <a:avLst/>
          </a:prstGeom>
          <a:noFill/>
        </p:spPr>
        <p:txBody>
          <a:bodyPr wrap="none" lIns="45720" rIns="45720" anchor="t">
            <a:spAutoFit/>
          </a:bodyPr>
          <a:lstStyle/>
          <a:p>
            <a:pPr algn="ctr">
              <a:spcAft>
                <a:spcPts val="0"/>
              </a:spcAft>
            </a:pPr>
            <a:r>
              <a:rPr sz="1500" b="1" i="0">
                <a:solidFill>
                  <a:srgbClr val="0C1930"/>
                </a:solidFill>
                <a:latin typeface="Aptos"/>
              </a:rPr>
              <a:t>Immutable landing</a:t>
            </a:r>
          </a:p>
        </p:txBody>
      </p:sp>
      <p:sp>
        <p:nvSpPr>
          <p:cNvPr id="12" name="TextBox 11"/>
          <p:cNvSpPr txBox="1"/>
          <p:nvPr/>
        </p:nvSpPr>
        <p:spPr>
          <a:xfrm>
            <a:off x="1051560" y="3200400"/>
            <a:ext cx="2606040" cy="1234440"/>
          </a:xfrm>
          <a:prstGeom prst="rect">
            <a:avLst/>
          </a:prstGeom>
          <a:noFill/>
        </p:spPr>
        <p:txBody>
          <a:bodyPr wrap="none" lIns="45720" rIns="45720" anchor="t">
            <a:spAutoFit/>
          </a:bodyPr>
          <a:lstStyle/>
          <a:p>
            <a:pPr algn="ctr">
              <a:spcAft>
                <a:spcPts val="0"/>
              </a:spcAft>
            </a:pPr>
            <a:r>
              <a:rPr sz="1200" b="0" i="0">
                <a:solidFill>
                  <a:srgbClr val="253042"/>
                </a:solidFill>
                <a:latin typeface="Aptos"/>
              </a:rPr>
              <a:t>Raw payload + ingest metadata
Preserve source fidelity
Quarantine malformed records</a:t>
            </a:r>
          </a:p>
        </p:txBody>
      </p:sp>
      <p:sp>
        <p:nvSpPr>
          <p:cNvPr id="13" name="Rounded Rectangle 12"/>
          <p:cNvSpPr/>
          <p:nvPr/>
        </p:nvSpPr>
        <p:spPr>
          <a:xfrm>
            <a:off x="1783080" y="4645152"/>
            <a:ext cx="1143000" cy="310896"/>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783080" y="4695444"/>
            <a:ext cx="11430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Permissive</a:t>
            </a:r>
          </a:p>
        </p:txBody>
      </p:sp>
      <p:cxnSp>
        <p:nvCxnSpPr>
          <p:cNvPr id="15" name="Connector 14"/>
          <p:cNvCxnSpPr/>
          <p:nvPr/>
        </p:nvCxnSpPr>
        <p:spPr>
          <a:xfrm>
            <a:off x="4005072" y="3447288"/>
            <a:ext cx="457200" cy="0"/>
          </a:xfrm>
          <a:prstGeom prst="line">
            <a:avLst/>
          </a:prstGeom>
          <a:ln w="25400">
            <a:solidFill>
              <a:srgbClr val="B16F3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553712" y="1664208"/>
            <a:ext cx="3246120" cy="3566160"/>
          </a:xfrm>
          <a:prstGeom prst="roundRect">
            <a:avLst/>
          </a:prstGeom>
          <a:solidFill>
            <a:srgbClr val="FFFFFF"/>
          </a:solidFill>
          <a:ln w="1905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553712" y="1664208"/>
            <a:ext cx="3246120" cy="658368"/>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53712" y="1874519"/>
            <a:ext cx="3246120" cy="201168"/>
          </a:xfrm>
          <a:prstGeom prst="rect">
            <a:avLst/>
          </a:prstGeom>
          <a:noFill/>
        </p:spPr>
        <p:txBody>
          <a:bodyPr wrap="none" lIns="45720" rIns="45720" anchor="t">
            <a:spAutoFit/>
          </a:bodyPr>
          <a:lstStyle/>
          <a:p>
            <a:pPr algn="ctr">
              <a:spcAft>
                <a:spcPts val="0"/>
              </a:spcAft>
            </a:pPr>
            <a:r>
              <a:rPr sz="1600" b="1" i="0">
                <a:solidFill>
                  <a:srgbClr val="0C1930"/>
                </a:solidFill>
                <a:latin typeface="Aptos"/>
              </a:rPr>
              <a:t>SILVER</a:t>
            </a:r>
          </a:p>
        </p:txBody>
      </p:sp>
      <p:sp>
        <p:nvSpPr>
          <p:cNvPr id="19" name="TextBox 18"/>
          <p:cNvSpPr txBox="1"/>
          <p:nvPr/>
        </p:nvSpPr>
        <p:spPr>
          <a:xfrm>
            <a:off x="4782312" y="2587752"/>
            <a:ext cx="2788920" cy="292608"/>
          </a:xfrm>
          <a:prstGeom prst="rect">
            <a:avLst/>
          </a:prstGeom>
          <a:noFill/>
        </p:spPr>
        <p:txBody>
          <a:bodyPr wrap="none" lIns="45720" rIns="45720" anchor="t">
            <a:spAutoFit/>
          </a:bodyPr>
          <a:lstStyle/>
          <a:p>
            <a:pPr algn="ctr">
              <a:spcAft>
                <a:spcPts val="0"/>
              </a:spcAft>
            </a:pPr>
            <a:r>
              <a:rPr sz="1500" b="1" i="0">
                <a:solidFill>
                  <a:srgbClr val="0C1930"/>
                </a:solidFill>
                <a:latin typeface="Aptos"/>
              </a:rPr>
              <a:t>Trusted entities</a:t>
            </a:r>
          </a:p>
        </p:txBody>
      </p:sp>
      <p:sp>
        <p:nvSpPr>
          <p:cNvPr id="20" name="TextBox 19"/>
          <p:cNvSpPr txBox="1"/>
          <p:nvPr/>
        </p:nvSpPr>
        <p:spPr>
          <a:xfrm>
            <a:off x="4873751" y="3200400"/>
            <a:ext cx="2606040" cy="1234440"/>
          </a:xfrm>
          <a:prstGeom prst="rect">
            <a:avLst/>
          </a:prstGeom>
          <a:noFill/>
        </p:spPr>
        <p:txBody>
          <a:bodyPr wrap="none" lIns="45720" rIns="45720" anchor="t">
            <a:spAutoFit/>
          </a:bodyPr>
          <a:lstStyle/>
          <a:p>
            <a:pPr algn="ctr">
              <a:spcAft>
                <a:spcPts val="0"/>
              </a:spcAft>
            </a:pPr>
            <a:r>
              <a:rPr sz="1200" b="0" i="0">
                <a:solidFill>
                  <a:srgbClr val="253042"/>
                </a:solidFill>
                <a:latin typeface="Aptos"/>
              </a:rPr>
              <a:t>Parse, cast, deduplicate
Apply keys and conformance
Facts + dimensions</a:t>
            </a:r>
          </a:p>
        </p:txBody>
      </p:sp>
      <p:sp>
        <p:nvSpPr>
          <p:cNvPr id="21" name="Rounded Rectangle 20"/>
          <p:cNvSpPr/>
          <p:nvPr/>
        </p:nvSpPr>
        <p:spPr>
          <a:xfrm>
            <a:off x="5605271" y="4645152"/>
            <a:ext cx="1143000" cy="310896"/>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05271" y="4695444"/>
            <a:ext cx="114300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Enforced</a:t>
            </a:r>
          </a:p>
        </p:txBody>
      </p:sp>
      <p:cxnSp>
        <p:nvCxnSpPr>
          <p:cNvPr id="23" name="Connector 22"/>
          <p:cNvCxnSpPr/>
          <p:nvPr/>
        </p:nvCxnSpPr>
        <p:spPr>
          <a:xfrm>
            <a:off x="7827263" y="3447288"/>
            <a:ext cx="457200" cy="0"/>
          </a:xfrm>
          <a:prstGeom prst="line">
            <a:avLst/>
          </a:prstGeom>
          <a:ln w="25400">
            <a:solidFill>
              <a:srgbClr val="9AA4B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375904" y="1664208"/>
            <a:ext cx="3246120" cy="3566160"/>
          </a:xfrm>
          <a:prstGeom prst="roundRect">
            <a:avLst/>
          </a:prstGeom>
          <a:solidFill>
            <a:srgbClr val="FFFFFF"/>
          </a:solidFill>
          <a:ln w="1905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375904" y="1664208"/>
            <a:ext cx="3246120" cy="658368"/>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75904" y="1874519"/>
            <a:ext cx="3246120" cy="201168"/>
          </a:xfrm>
          <a:prstGeom prst="rect">
            <a:avLst/>
          </a:prstGeom>
          <a:noFill/>
        </p:spPr>
        <p:txBody>
          <a:bodyPr wrap="none" lIns="45720" rIns="45720" anchor="t">
            <a:spAutoFit/>
          </a:bodyPr>
          <a:lstStyle/>
          <a:p>
            <a:pPr algn="ctr">
              <a:spcAft>
                <a:spcPts val="0"/>
              </a:spcAft>
            </a:pPr>
            <a:r>
              <a:rPr sz="1600" b="1" i="0">
                <a:solidFill>
                  <a:srgbClr val="FFFFFF"/>
                </a:solidFill>
                <a:latin typeface="Aptos"/>
              </a:rPr>
              <a:t>GOLD</a:t>
            </a:r>
          </a:p>
        </p:txBody>
      </p:sp>
      <p:sp>
        <p:nvSpPr>
          <p:cNvPr id="27" name="TextBox 26"/>
          <p:cNvSpPr txBox="1"/>
          <p:nvPr/>
        </p:nvSpPr>
        <p:spPr>
          <a:xfrm>
            <a:off x="8604504" y="2587752"/>
            <a:ext cx="2788920" cy="292608"/>
          </a:xfrm>
          <a:prstGeom prst="rect">
            <a:avLst/>
          </a:prstGeom>
          <a:noFill/>
        </p:spPr>
        <p:txBody>
          <a:bodyPr wrap="none" lIns="45720" rIns="45720" anchor="t">
            <a:spAutoFit/>
          </a:bodyPr>
          <a:lstStyle/>
          <a:p>
            <a:pPr algn="ctr">
              <a:spcAft>
                <a:spcPts val="0"/>
              </a:spcAft>
            </a:pPr>
            <a:r>
              <a:rPr sz="1500" b="1" i="0">
                <a:solidFill>
                  <a:srgbClr val="0C1930"/>
                </a:solidFill>
                <a:latin typeface="Aptos"/>
              </a:rPr>
              <a:t>Business products</a:t>
            </a:r>
          </a:p>
        </p:txBody>
      </p:sp>
      <p:sp>
        <p:nvSpPr>
          <p:cNvPr id="28" name="TextBox 27"/>
          <p:cNvSpPr txBox="1"/>
          <p:nvPr/>
        </p:nvSpPr>
        <p:spPr>
          <a:xfrm>
            <a:off x="8695944" y="3200400"/>
            <a:ext cx="2606040" cy="1234440"/>
          </a:xfrm>
          <a:prstGeom prst="rect">
            <a:avLst/>
          </a:prstGeom>
          <a:noFill/>
        </p:spPr>
        <p:txBody>
          <a:bodyPr wrap="none" lIns="45720" rIns="45720" anchor="t">
            <a:spAutoFit/>
          </a:bodyPr>
          <a:lstStyle/>
          <a:p>
            <a:pPr algn="ctr">
              <a:spcAft>
                <a:spcPts val="0"/>
              </a:spcAft>
            </a:pPr>
            <a:r>
              <a:rPr sz="1200" b="0" i="0">
                <a:solidFill>
                  <a:srgbClr val="253042"/>
                </a:solidFill>
                <a:latin typeface="Aptos"/>
              </a:rPr>
              <a:t>Stable metrics and aggregates
Consumer-specific models
Performance + semantic contract</a:t>
            </a:r>
          </a:p>
        </p:txBody>
      </p:sp>
      <p:sp>
        <p:nvSpPr>
          <p:cNvPr id="29" name="Rounded Rectangle 28"/>
          <p:cNvSpPr/>
          <p:nvPr/>
        </p:nvSpPr>
        <p:spPr>
          <a:xfrm>
            <a:off x="9427464" y="4645152"/>
            <a:ext cx="1143000" cy="310896"/>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427464" y="4695444"/>
            <a:ext cx="11430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Versioned</a:t>
            </a:r>
          </a:p>
        </p:txBody>
      </p:sp>
      <p:sp>
        <p:nvSpPr>
          <p:cNvPr id="31" name="Rounded Rectangle 30"/>
          <p:cNvSpPr/>
          <p:nvPr/>
        </p:nvSpPr>
        <p:spPr>
          <a:xfrm>
            <a:off x="1051560" y="5669280"/>
            <a:ext cx="10058400" cy="56692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97863" y="5788152"/>
            <a:ext cx="9784080" cy="384048"/>
          </a:xfrm>
          <a:prstGeom prst="rect">
            <a:avLst/>
          </a:prstGeom>
          <a:noFill/>
        </p:spPr>
        <p:txBody>
          <a:bodyPr wrap="none" lIns="45720" rIns="45720" anchor="t">
            <a:spAutoFit/>
          </a:bodyPr>
          <a:lstStyle/>
          <a:p>
            <a:pPr algn="l">
              <a:spcAft>
                <a:spcPts val="0"/>
              </a:spcAft>
            </a:pPr>
            <a:r>
              <a:rPr sz="1100" b="1" i="0">
                <a:solidFill>
                  <a:srgbClr val="0C1930"/>
                </a:solidFill>
                <a:latin typeface="Aptos"/>
              </a:rPr>
              <a:t>Bronze is recoverability. Silver is reusable truth. Gold is a documented data product—not simply “the final table.”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DATA MODELING</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Design facts and dimensions from the grain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State the grain before listing columns: one row represents exactly what?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15</a:t>
            </a:r>
          </a:p>
        </p:txBody>
      </p:sp>
      <p:sp>
        <p:nvSpPr>
          <p:cNvPr id="8" name="Rounded Rectangle 7"/>
          <p:cNvSpPr/>
          <p:nvPr/>
        </p:nvSpPr>
        <p:spPr>
          <a:xfrm>
            <a:off x="4709160" y="2377440"/>
            <a:ext cx="2788920" cy="1234440"/>
          </a:xfrm>
          <a:prstGeom prst="roundRect">
            <a:avLst/>
          </a:prstGeom>
          <a:solidFill>
            <a:srgbClr val="EEF8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18888" y="2487168"/>
            <a:ext cx="2569463" cy="256032"/>
          </a:xfrm>
          <a:prstGeom prst="rect">
            <a:avLst/>
          </a:prstGeom>
          <a:noFill/>
        </p:spPr>
        <p:txBody>
          <a:bodyPr wrap="none" lIns="45720" rIns="45720" anchor="t">
            <a:spAutoFit/>
          </a:bodyPr>
          <a:lstStyle/>
          <a:p>
            <a:pPr algn="ctr">
              <a:spcAft>
                <a:spcPts val="0"/>
              </a:spcAft>
            </a:pPr>
            <a:r>
              <a:rPr sz="1600" b="1" i="0">
                <a:solidFill>
                  <a:srgbClr val="0C1930"/>
                </a:solidFill>
                <a:latin typeface="Aptos"/>
              </a:rPr>
              <a:t>fact_order_event</a:t>
            </a:r>
          </a:p>
        </p:txBody>
      </p:sp>
      <p:sp>
        <p:nvSpPr>
          <p:cNvPr id="10" name="TextBox 9"/>
          <p:cNvSpPr txBox="1"/>
          <p:nvPr/>
        </p:nvSpPr>
        <p:spPr>
          <a:xfrm>
            <a:off x="4818888" y="2807208"/>
            <a:ext cx="2569463" cy="731520"/>
          </a:xfrm>
          <a:prstGeom prst="rect">
            <a:avLst/>
          </a:prstGeom>
          <a:noFill/>
        </p:spPr>
        <p:txBody>
          <a:bodyPr wrap="none" lIns="45720" rIns="45720" anchor="t">
            <a:spAutoFit/>
          </a:bodyPr>
          <a:lstStyle/>
          <a:p>
            <a:pPr algn="ctr">
              <a:spcAft>
                <a:spcPts val="0"/>
              </a:spcAft>
            </a:pPr>
            <a:r>
              <a:rPr sz="900" b="0" i="0">
                <a:solidFill>
                  <a:srgbClr val="253042"/>
                </a:solidFill>
                <a:latin typeface="Aptos"/>
              </a:rPr>
              <a:t>grain: one order lifecycle event
measures: amount, duration</a:t>
            </a:r>
          </a:p>
        </p:txBody>
      </p:sp>
      <p:sp>
        <p:nvSpPr>
          <p:cNvPr id="11" name="Rounded Rectangle 10"/>
          <p:cNvSpPr/>
          <p:nvPr/>
        </p:nvSpPr>
        <p:spPr>
          <a:xfrm>
            <a:off x="685800" y="1572768"/>
            <a:ext cx="2606040" cy="86868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8" y="1682495"/>
            <a:ext cx="2386584"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dim_customer</a:t>
            </a:r>
          </a:p>
        </p:txBody>
      </p:sp>
      <p:sp>
        <p:nvSpPr>
          <p:cNvPr id="13" name="TextBox 12"/>
          <p:cNvSpPr txBox="1"/>
          <p:nvPr/>
        </p:nvSpPr>
        <p:spPr>
          <a:xfrm>
            <a:off x="795528" y="2002536"/>
            <a:ext cx="238658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customer_key • segment</a:t>
            </a:r>
          </a:p>
        </p:txBody>
      </p:sp>
      <p:cxnSp>
        <p:nvCxnSpPr>
          <p:cNvPr id="14" name="Connector 13"/>
          <p:cNvCxnSpPr/>
          <p:nvPr/>
        </p:nvCxnSpPr>
        <p:spPr>
          <a:xfrm>
            <a:off x="3319272" y="2011680"/>
            <a:ext cx="1344168" cy="987552"/>
          </a:xfrm>
          <a:prstGeom prst="line">
            <a:avLst/>
          </a:prstGeom>
          <a:ln w="19050">
            <a:solidFill>
              <a:srgbClr val="855CF8"/>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85800" y="4251960"/>
            <a:ext cx="2606040" cy="86868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5528" y="4361688"/>
            <a:ext cx="2386584"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dim_restaurant</a:t>
            </a:r>
          </a:p>
        </p:txBody>
      </p:sp>
      <p:sp>
        <p:nvSpPr>
          <p:cNvPr id="17" name="TextBox 16"/>
          <p:cNvSpPr txBox="1"/>
          <p:nvPr/>
        </p:nvSpPr>
        <p:spPr>
          <a:xfrm>
            <a:off x="795528" y="4681728"/>
            <a:ext cx="238658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restaurant_key • cuisine</a:t>
            </a:r>
          </a:p>
        </p:txBody>
      </p:sp>
      <p:cxnSp>
        <p:nvCxnSpPr>
          <p:cNvPr id="18" name="Connector 17"/>
          <p:cNvCxnSpPr/>
          <p:nvPr/>
        </p:nvCxnSpPr>
        <p:spPr>
          <a:xfrm flipV="1">
            <a:off x="3319272" y="2999232"/>
            <a:ext cx="1344168" cy="1691640"/>
          </a:xfrm>
          <a:prstGeom prst="line">
            <a:avLst/>
          </a:prstGeom>
          <a:ln w="19050">
            <a:solidFill>
              <a:srgbClr val="855CF8"/>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732520" y="1572768"/>
            <a:ext cx="2606040" cy="86868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42248" y="1682495"/>
            <a:ext cx="2386584"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dim_date</a:t>
            </a:r>
          </a:p>
        </p:txBody>
      </p:sp>
      <p:sp>
        <p:nvSpPr>
          <p:cNvPr id="21" name="TextBox 20"/>
          <p:cNvSpPr txBox="1"/>
          <p:nvPr/>
        </p:nvSpPr>
        <p:spPr>
          <a:xfrm>
            <a:off x="8842248" y="2002536"/>
            <a:ext cx="238658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date_key • week • month</a:t>
            </a:r>
          </a:p>
        </p:txBody>
      </p:sp>
      <p:cxnSp>
        <p:nvCxnSpPr>
          <p:cNvPr id="22" name="Connector 21"/>
          <p:cNvCxnSpPr/>
          <p:nvPr/>
        </p:nvCxnSpPr>
        <p:spPr>
          <a:xfrm flipH="1">
            <a:off x="7543800" y="2011680"/>
            <a:ext cx="1188720" cy="987552"/>
          </a:xfrm>
          <a:prstGeom prst="line">
            <a:avLst/>
          </a:prstGeom>
          <a:ln w="19050">
            <a:solidFill>
              <a:srgbClr val="855CF8"/>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732520" y="4251960"/>
            <a:ext cx="2606040" cy="86868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842248" y="4361688"/>
            <a:ext cx="2386584"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dim_location</a:t>
            </a:r>
          </a:p>
        </p:txBody>
      </p:sp>
      <p:sp>
        <p:nvSpPr>
          <p:cNvPr id="25" name="TextBox 24"/>
          <p:cNvSpPr txBox="1"/>
          <p:nvPr/>
        </p:nvSpPr>
        <p:spPr>
          <a:xfrm>
            <a:off x="8842248" y="4681728"/>
            <a:ext cx="238658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location_key • city • region</a:t>
            </a:r>
          </a:p>
        </p:txBody>
      </p:sp>
      <p:cxnSp>
        <p:nvCxnSpPr>
          <p:cNvPr id="26" name="Connector 25"/>
          <p:cNvCxnSpPr/>
          <p:nvPr/>
        </p:nvCxnSpPr>
        <p:spPr>
          <a:xfrm flipH="1" flipV="1">
            <a:off x="7543800" y="2999232"/>
            <a:ext cx="1188720" cy="1691640"/>
          </a:xfrm>
          <a:prstGeom prst="line">
            <a:avLst/>
          </a:prstGeom>
          <a:ln w="19050">
            <a:solidFill>
              <a:srgbClr val="855CF8"/>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188720" y="5669280"/>
            <a:ext cx="9784080" cy="56692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335024" y="5788152"/>
            <a:ext cx="9509759" cy="384048"/>
          </a:xfrm>
          <a:prstGeom prst="rect">
            <a:avLst/>
          </a:prstGeom>
          <a:noFill/>
        </p:spPr>
        <p:txBody>
          <a:bodyPr wrap="none" lIns="45720" rIns="45720" anchor="t">
            <a:spAutoFit/>
          </a:bodyPr>
          <a:lstStyle/>
          <a:p>
            <a:pPr algn="l">
              <a:spcAft>
                <a:spcPts val="0"/>
              </a:spcAft>
            </a:pPr>
            <a:r>
              <a:rPr sz="1100" b="1" i="0">
                <a:solidFill>
                  <a:srgbClr val="0C1930"/>
                </a:solidFill>
                <a:latin typeface="Aptos"/>
              </a:rPr>
              <a:t>Design sequence: business process → grain → dimensions → facts/measures → keys → late-arriving behavior → SCD strategy.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DATA MODELING</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Star, snowflake, or one big table?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Choose by consumer behavior, governance needs, update patterns, and engine performance.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16</a:t>
            </a:r>
          </a:p>
        </p:txBody>
      </p:sp>
      <p:graphicFrame>
        <p:nvGraphicFramePr>
          <p:cNvPr id="8" name="Table 7"/>
          <p:cNvGraphicFramePr>
            <a:graphicFrameLocks noGrp="1"/>
          </p:cNvGraphicFramePr>
          <p:nvPr/>
        </p:nvGraphicFramePr>
        <p:xfrm>
          <a:off x="594360" y="1627632"/>
          <a:ext cx="11018520" cy="393192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3063240">
                  <a:extLst>
                    <a:ext uri="{9D8B030D-6E8A-4147-A177-3AD203B41FA5}">
                      <a16:colId xmlns:a16="http://schemas.microsoft.com/office/drawing/2014/main" val="20003"/>
                    </a:ext>
                  </a:extLst>
                </a:gridCol>
              </a:tblGrid>
              <a:tr h="786384">
                <a:tc>
                  <a:txBody>
                    <a:bodyPr/>
                    <a:lstStyle/>
                    <a:p>
                      <a:pPr algn="l"/>
                      <a:r>
                        <a:rPr sz="919" b="1">
                          <a:solidFill>
                            <a:srgbClr val="FFFFFF"/>
                          </a:solidFill>
                          <a:latin typeface="Aptos"/>
                        </a:rPr>
                        <a:t>Model</a:t>
                      </a:r>
                    </a:p>
                  </a:txBody>
                  <a:tcPr marL="73152" marR="54864" marB="27432">
                    <a:solidFill>
                      <a:srgbClr val="0C1930"/>
                    </a:solidFill>
                  </a:tcPr>
                </a:tc>
                <a:tc>
                  <a:txBody>
                    <a:bodyPr/>
                    <a:lstStyle/>
                    <a:p>
                      <a:pPr algn="l"/>
                      <a:r>
                        <a:rPr sz="919" b="1">
                          <a:solidFill>
                            <a:srgbClr val="FFFFFF"/>
                          </a:solidFill>
                          <a:latin typeface="Aptos"/>
                        </a:rPr>
                        <a:t>Advantages</a:t>
                      </a:r>
                    </a:p>
                  </a:txBody>
                  <a:tcPr marL="73152" marR="54864" marB="27432">
                    <a:solidFill>
                      <a:srgbClr val="0C1930"/>
                    </a:solidFill>
                  </a:tcPr>
                </a:tc>
                <a:tc>
                  <a:txBody>
                    <a:bodyPr/>
                    <a:lstStyle/>
                    <a:p>
                      <a:pPr algn="l"/>
                      <a:r>
                        <a:rPr sz="919" b="1">
                          <a:solidFill>
                            <a:srgbClr val="FFFFFF"/>
                          </a:solidFill>
                          <a:latin typeface="Aptos"/>
                        </a:rPr>
                        <a:t>Costs / risks</a:t>
                      </a:r>
                    </a:p>
                  </a:txBody>
                  <a:tcPr marL="73152" marR="54864" marB="27432">
                    <a:solidFill>
                      <a:srgbClr val="0C1930"/>
                    </a:solidFill>
                  </a:tcPr>
                </a:tc>
                <a:tc>
                  <a:txBody>
                    <a:bodyPr/>
                    <a:lstStyle/>
                    <a:p>
                      <a:pPr algn="l"/>
                      <a:r>
                        <a:rPr sz="919" b="1">
                          <a:solidFill>
                            <a:srgbClr val="FFFFFF"/>
                          </a:solidFill>
                          <a:latin typeface="Aptos"/>
                        </a:rPr>
                        <a:t>Use when</a:t>
                      </a:r>
                    </a:p>
                  </a:txBody>
                  <a:tcPr marL="73152" marR="54864" marB="27432">
                    <a:solidFill>
                      <a:srgbClr val="0C1930"/>
                    </a:solidFill>
                  </a:tcPr>
                </a:tc>
                <a:extLst>
                  <a:ext uri="{0D108BD9-81ED-4DB2-BD59-A6C34878D82A}">
                    <a16:rowId xmlns:a16="http://schemas.microsoft.com/office/drawing/2014/main" val="10000"/>
                  </a:ext>
                </a:extLst>
              </a:tr>
              <a:tr h="786384">
                <a:tc>
                  <a:txBody>
                    <a:bodyPr/>
                    <a:lstStyle/>
                    <a:p>
                      <a:pPr algn="l"/>
                      <a:r>
                        <a:rPr sz="969" b="0">
                          <a:solidFill>
                            <a:srgbClr val="253042"/>
                          </a:solidFill>
                          <a:latin typeface="Aptos"/>
                        </a:rPr>
                        <a:t>Star schema</a:t>
                      </a:r>
                    </a:p>
                  </a:txBody>
                  <a:tcPr marL="73152" marR="54864" marB="27432">
                    <a:solidFill>
                      <a:srgbClr val="FFFFFF"/>
                    </a:solidFill>
                  </a:tcPr>
                </a:tc>
                <a:tc>
                  <a:txBody>
                    <a:bodyPr/>
                    <a:lstStyle/>
                    <a:p>
                      <a:pPr algn="l"/>
                      <a:r>
                        <a:rPr sz="969" b="0">
                          <a:solidFill>
                            <a:srgbClr val="253042"/>
                          </a:solidFill>
                          <a:latin typeface="Aptos"/>
                        </a:rPr>
                        <a:t>Clear grain; reusable dimensions; governed metrics</a:t>
                      </a:r>
                    </a:p>
                  </a:txBody>
                  <a:tcPr marL="73152" marR="54864" marB="27432">
                    <a:solidFill>
                      <a:srgbClr val="FFFFFF"/>
                    </a:solidFill>
                  </a:tcPr>
                </a:tc>
                <a:tc>
                  <a:txBody>
                    <a:bodyPr/>
                    <a:lstStyle/>
                    <a:p>
                      <a:pPr algn="l"/>
                      <a:r>
                        <a:rPr sz="969" b="0">
                          <a:solidFill>
                            <a:srgbClr val="253042"/>
                          </a:solidFill>
                          <a:latin typeface="Aptos"/>
                        </a:rPr>
                        <a:t>Joins; surrogate-key and SCD management</a:t>
                      </a:r>
                    </a:p>
                  </a:txBody>
                  <a:tcPr marL="73152" marR="54864" marB="27432">
                    <a:solidFill>
                      <a:srgbClr val="FFFFFF"/>
                    </a:solidFill>
                  </a:tcPr>
                </a:tc>
                <a:tc>
                  <a:txBody>
                    <a:bodyPr/>
                    <a:lstStyle/>
                    <a:p>
                      <a:pPr algn="l"/>
                      <a:r>
                        <a:rPr sz="969" b="0">
                          <a:solidFill>
                            <a:srgbClr val="253042"/>
                          </a:solidFill>
                          <a:latin typeface="Aptos"/>
                        </a:rPr>
                        <a:t>BI, semantic layers, many related analyses</a:t>
                      </a:r>
                    </a:p>
                  </a:txBody>
                  <a:tcPr marL="73152" marR="54864" marB="27432">
                    <a:solidFill>
                      <a:srgbClr val="FFFFFF"/>
                    </a:solidFill>
                  </a:tcPr>
                </a:tc>
                <a:extLst>
                  <a:ext uri="{0D108BD9-81ED-4DB2-BD59-A6C34878D82A}">
                    <a16:rowId xmlns:a16="http://schemas.microsoft.com/office/drawing/2014/main" val="10001"/>
                  </a:ext>
                </a:extLst>
              </a:tr>
              <a:tr h="786384">
                <a:tc>
                  <a:txBody>
                    <a:bodyPr/>
                    <a:lstStyle/>
                    <a:p>
                      <a:pPr algn="l"/>
                      <a:r>
                        <a:rPr sz="969" b="0">
                          <a:solidFill>
                            <a:srgbClr val="253042"/>
                          </a:solidFill>
                          <a:latin typeface="Aptos"/>
                        </a:rPr>
                        <a:t>Snowflake</a:t>
                      </a:r>
                    </a:p>
                  </a:txBody>
                  <a:tcPr marL="73152" marR="54864" marB="27432">
                    <a:solidFill>
                      <a:srgbClr val="F7F9FC"/>
                    </a:solidFill>
                  </a:tcPr>
                </a:tc>
                <a:tc>
                  <a:txBody>
                    <a:bodyPr/>
                    <a:lstStyle/>
                    <a:p>
                      <a:pPr algn="l"/>
                      <a:r>
                        <a:rPr sz="969" b="0">
                          <a:solidFill>
                            <a:srgbClr val="253042"/>
                          </a:solidFill>
                          <a:latin typeface="Aptos"/>
                        </a:rPr>
                        <a:t>Less duplication; normalized hierarchies</a:t>
                      </a:r>
                    </a:p>
                  </a:txBody>
                  <a:tcPr marL="73152" marR="54864" marB="27432">
                    <a:solidFill>
                      <a:srgbClr val="F7F9FC"/>
                    </a:solidFill>
                  </a:tcPr>
                </a:tc>
                <a:tc>
                  <a:txBody>
                    <a:bodyPr/>
                    <a:lstStyle/>
                    <a:p>
                      <a:pPr algn="l"/>
                      <a:r>
                        <a:rPr sz="969" b="0">
                          <a:solidFill>
                            <a:srgbClr val="253042"/>
                          </a:solidFill>
                          <a:latin typeface="Aptos"/>
                        </a:rPr>
                        <a:t>More joins; harder for users</a:t>
                      </a:r>
                    </a:p>
                  </a:txBody>
                  <a:tcPr marL="73152" marR="54864" marB="27432">
                    <a:solidFill>
                      <a:srgbClr val="F7F9FC"/>
                    </a:solidFill>
                  </a:tcPr>
                </a:tc>
                <a:tc>
                  <a:txBody>
                    <a:bodyPr/>
                    <a:lstStyle/>
                    <a:p>
                      <a:pPr algn="l"/>
                      <a:r>
                        <a:rPr sz="969" b="0">
                          <a:solidFill>
                            <a:srgbClr val="253042"/>
                          </a:solidFill>
                          <a:latin typeface="Aptos"/>
                        </a:rPr>
                        <a:t>Complex shared hierarchies with strong governance</a:t>
                      </a:r>
                    </a:p>
                  </a:txBody>
                  <a:tcPr marL="73152" marR="54864" marB="27432">
                    <a:solidFill>
                      <a:srgbClr val="F7F9FC"/>
                    </a:solidFill>
                  </a:tcPr>
                </a:tc>
                <a:extLst>
                  <a:ext uri="{0D108BD9-81ED-4DB2-BD59-A6C34878D82A}">
                    <a16:rowId xmlns:a16="http://schemas.microsoft.com/office/drawing/2014/main" val="10002"/>
                  </a:ext>
                </a:extLst>
              </a:tr>
              <a:tr h="786384">
                <a:tc>
                  <a:txBody>
                    <a:bodyPr/>
                    <a:lstStyle/>
                    <a:p>
                      <a:pPr algn="l"/>
                      <a:r>
                        <a:rPr sz="969" b="0">
                          <a:solidFill>
                            <a:srgbClr val="253042"/>
                          </a:solidFill>
                          <a:latin typeface="Aptos"/>
                        </a:rPr>
                        <a:t>One big table</a:t>
                      </a:r>
                    </a:p>
                  </a:txBody>
                  <a:tcPr marL="73152" marR="54864" marB="27432">
                    <a:solidFill>
                      <a:srgbClr val="FFFFFF"/>
                    </a:solidFill>
                  </a:tcPr>
                </a:tc>
                <a:tc>
                  <a:txBody>
                    <a:bodyPr/>
                    <a:lstStyle/>
                    <a:p>
                      <a:pPr algn="l"/>
                      <a:r>
                        <a:rPr sz="969" b="0">
                          <a:solidFill>
                            <a:srgbClr val="253042"/>
                          </a:solidFill>
                          <a:latin typeface="Aptos"/>
                        </a:rPr>
                        <a:t>Simple queries; fewer runtime joins</a:t>
                      </a:r>
                    </a:p>
                  </a:txBody>
                  <a:tcPr marL="73152" marR="54864" marB="27432">
                    <a:solidFill>
                      <a:srgbClr val="FFFFFF"/>
                    </a:solidFill>
                  </a:tcPr>
                </a:tc>
                <a:tc>
                  <a:txBody>
                    <a:bodyPr/>
                    <a:lstStyle/>
                    <a:p>
                      <a:pPr algn="l"/>
                      <a:r>
                        <a:rPr sz="969" b="0">
                          <a:solidFill>
                            <a:srgbClr val="253042"/>
                          </a:solidFill>
                          <a:latin typeface="Aptos"/>
                        </a:rPr>
                        <a:t>Duplication, wide scans, update anomalies</a:t>
                      </a:r>
                    </a:p>
                  </a:txBody>
                  <a:tcPr marL="73152" marR="54864" marB="27432">
                    <a:solidFill>
                      <a:srgbClr val="FFFFFF"/>
                    </a:solidFill>
                  </a:tcPr>
                </a:tc>
                <a:tc>
                  <a:txBody>
                    <a:bodyPr/>
                    <a:lstStyle/>
                    <a:p>
                      <a:pPr algn="l"/>
                      <a:r>
                        <a:rPr sz="969" b="0">
                          <a:solidFill>
                            <a:srgbClr val="253042"/>
                          </a:solidFill>
                          <a:latin typeface="Aptos"/>
                        </a:rPr>
                        <a:t>Stable narrow use case; query engine benefits</a:t>
                      </a:r>
                    </a:p>
                  </a:txBody>
                  <a:tcPr marL="73152" marR="54864" marB="27432">
                    <a:solidFill>
                      <a:srgbClr val="FFFFFF"/>
                    </a:solidFill>
                  </a:tcPr>
                </a:tc>
                <a:extLst>
                  <a:ext uri="{0D108BD9-81ED-4DB2-BD59-A6C34878D82A}">
                    <a16:rowId xmlns:a16="http://schemas.microsoft.com/office/drawing/2014/main" val="10003"/>
                  </a:ext>
                </a:extLst>
              </a:tr>
              <a:tr h="786384">
                <a:tc>
                  <a:txBody>
                    <a:bodyPr/>
                    <a:lstStyle/>
                    <a:p>
                      <a:pPr algn="l"/>
                      <a:r>
                        <a:rPr sz="969" b="0">
                          <a:solidFill>
                            <a:srgbClr val="253042"/>
                          </a:solidFill>
                          <a:latin typeface="Aptos"/>
                        </a:rPr>
                        <a:t>Data Vault</a:t>
                      </a:r>
                    </a:p>
                  </a:txBody>
                  <a:tcPr marL="73152" marR="54864" marB="27432">
                    <a:solidFill>
                      <a:srgbClr val="F7F9FC"/>
                    </a:solidFill>
                  </a:tcPr>
                </a:tc>
                <a:tc>
                  <a:txBody>
                    <a:bodyPr/>
                    <a:lstStyle/>
                    <a:p>
                      <a:pPr algn="l"/>
                      <a:r>
                        <a:rPr sz="969" b="0">
                          <a:solidFill>
                            <a:srgbClr val="253042"/>
                          </a:solidFill>
                          <a:latin typeface="Aptos"/>
                        </a:rPr>
                        <a:t>Auditability; change tolerance; source traceability</a:t>
                      </a:r>
                    </a:p>
                  </a:txBody>
                  <a:tcPr marL="73152" marR="54864" marB="27432">
                    <a:solidFill>
                      <a:srgbClr val="F7F9FC"/>
                    </a:solidFill>
                  </a:tcPr>
                </a:tc>
                <a:tc>
                  <a:txBody>
                    <a:bodyPr/>
                    <a:lstStyle/>
                    <a:p>
                      <a:pPr algn="l"/>
                      <a:r>
                        <a:rPr sz="969" b="0">
                          <a:solidFill>
                            <a:srgbClr val="253042"/>
                          </a:solidFill>
                          <a:latin typeface="Aptos"/>
                        </a:rPr>
                        <a:t>Model complexity; business marts still needed</a:t>
                      </a:r>
                    </a:p>
                  </a:txBody>
                  <a:tcPr marL="73152" marR="54864" marB="27432">
                    <a:solidFill>
                      <a:srgbClr val="F7F9FC"/>
                    </a:solidFill>
                  </a:tcPr>
                </a:tc>
                <a:tc>
                  <a:txBody>
                    <a:bodyPr/>
                    <a:lstStyle/>
                    <a:p>
                      <a:pPr algn="l"/>
                      <a:r>
                        <a:rPr sz="969" b="0">
                          <a:solidFill>
                            <a:srgbClr val="253042"/>
                          </a:solidFill>
                          <a:latin typeface="Aptos"/>
                        </a:rPr>
                        <a:t>Large integration programs and regulated history</a:t>
                      </a:r>
                    </a:p>
                  </a:txBody>
                  <a:tcPr marL="73152" marR="54864" marB="27432">
                    <a:solidFill>
                      <a:srgbClr val="F7F9FC"/>
                    </a:solidFill>
                  </a:tcPr>
                </a:tc>
                <a:extLst>
                  <a:ext uri="{0D108BD9-81ED-4DB2-BD59-A6C34878D82A}">
                    <a16:rowId xmlns:a16="http://schemas.microsoft.com/office/drawing/2014/main" val="10004"/>
                  </a:ext>
                </a:extLst>
              </a:tr>
            </a:tbl>
          </a:graphicData>
        </a:graphic>
      </p:graphicFrame>
      <p:sp>
        <p:nvSpPr>
          <p:cNvPr id="9" name="Rounded Rectangle 8"/>
          <p:cNvSpPr/>
          <p:nvPr/>
        </p:nvSpPr>
        <p:spPr>
          <a:xfrm>
            <a:off x="868680" y="5669280"/>
            <a:ext cx="10469880" cy="64008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14983" y="5788152"/>
            <a:ext cx="10195559" cy="457199"/>
          </a:xfrm>
          <a:prstGeom prst="rect">
            <a:avLst/>
          </a:prstGeom>
          <a:noFill/>
        </p:spPr>
        <p:txBody>
          <a:bodyPr wrap="none" lIns="45720" rIns="45720" anchor="t">
            <a:spAutoFit/>
          </a:bodyPr>
          <a:lstStyle/>
          <a:p>
            <a:pPr algn="l">
              <a:spcAft>
                <a:spcPts val="0"/>
              </a:spcAft>
            </a:pPr>
            <a:r>
              <a:rPr sz="1100" b="1" i="0">
                <a:solidFill>
                  <a:srgbClr val="0C1930"/>
                </a:solidFill>
                <a:latin typeface="Aptos"/>
              </a:rPr>
              <a:t>Interview answer: propose a default, then name the condition that would make you switch. Example: star for governed BI; OBT only for a proven hot query path.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DATA MODELING</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Slowly Changing Dimensions (SCD)</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Select history behavior per attribute—not necessarily once for the entire dimension.</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17</a:t>
            </a:r>
          </a:p>
        </p:txBody>
      </p:sp>
      <p:graphicFrame>
        <p:nvGraphicFramePr>
          <p:cNvPr id="8" name="Table 7"/>
          <p:cNvGraphicFramePr>
            <a:graphicFrameLocks noGrp="1"/>
          </p:cNvGraphicFramePr>
          <p:nvPr/>
        </p:nvGraphicFramePr>
        <p:xfrm>
          <a:off x="685800" y="1627632"/>
          <a:ext cx="10835640" cy="233172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971800">
                  <a:extLst>
                    <a:ext uri="{9D8B030D-6E8A-4147-A177-3AD203B41FA5}">
                      <a16:colId xmlns:a16="http://schemas.microsoft.com/office/drawing/2014/main" val="20003"/>
                    </a:ext>
                  </a:extLst>
                </a:gridCol>
              </a:tblGrid>
              <a:tr h="582930">
                <a:tc>
                  <a:txBody>
                    <a:bodyPr/>
                    <a:lstStyle/>
                    <a:p>
                      <a:pPr algn="l"/>
                      <a:r>
                        <a:rPr sz="1000" b="1">
                          <a:solidFill>
                            <a:srgbClr val="FFFFFF"/>
                          </a:solidFill>
                          <a:latin typeface="Aptos"/>
                        </a:rPr>
                        <a:t>Type</a:t>
                      </a:r>
                    </a:p>
                  </a:txBody>
                  <a:tcPr marL="73152" marR="54864" marB="27432">
                    <a:solidFill>
                      <a:srgbClr val="0C1930"/>
                    </a:solidFill>
                  </a:tcPr>
                </a:tc>
                <a:tc>
                  <a:txBody>
                    <a:bodyPr/>
                    <a:lstStyle/>
                    <a:p>
                      <a:pPr algn="l"/>
                      <a:r>
                        <a:rPr sz="1000" b="1">
                          <a:solidFill>
                            <a:srgbClr val="FFFFFF"/>
                          </a:solidFill>
                          <a:latin typeface="Aptos"/>
                        </a:rPr>
                        <a:t>Behavior</a:t>
                      </a:r>
                    </a:p>
                  </a:txBody>
                  <a:tcPr marL="73152" marR="54864" marB="27432">
                    <a:solidFill>
                      <a:srgbClr val="0C1930"/>
                    </a:solidFill>
                  </a:tcPr>
                </a:tc>
                <a:tc>
                  <a:txBody>
                    <a:bodyPr/>
                    <a:lstStyle/>
                    <a:p>
                      <a:pPr algn="l"/>
                      <a:r>
                        <a:rPr sz="1000" b="1">
                          <a:solidFill>
                            <a:srgbClr val="FFFFFF"/>
                          </a:solidFill>
                          <a:latin typeface="Aptos"/>
                        </a:rPr>
                        <a:t>Example</a:t>
                      </a:r>
                    </a:p>
                  </a:txBody>
                  <a:tcPr marL="73152" marR="54864" marB="27432">
                    <a:solidFill>
                      <a:srgbClr val="0C1930"/>
                    </a:solidFill>
                  </a:tcPr>
                </a:tc>
                <a:tc>
                  <a:txBody>
                    <a:bodyPr/>
                    <a:lstStyle/>
                    <a:p>
                      <a:pPr algn="l"/>
                      <a:r>
                        <a:rPr sz="1000" b="1">
                          <a:solidFill>
                            <a:srgbClr val="FFFFFF"/>
                          </a:solidFill>
                          <a:latin typeface="Aptos"/>
                        </a:rPr>
                        <a:t>Trade-off</a:t>
                      </a:r>
                    </a:p>
                  </a:txBody>
                  <a:tcPr marL="73152" marR="54864" marB="27432">
                    <a:solidFill>
                      <a:srgbClr val="0C1930"/>
                    </a:solidFill>
                  </a:tcPr>
                </a:tc>
                <a:extLst>
                  <a:ext uri="{0D108BD9-81ED-4DB2-BD59-A6C34878D82A}">
                    <a16:rowId xmlns:a16="http://schemas.microsoft.com/office/drawing/2014/main" val="10000"/>
                  </a:ext>
                </a:extLst>
              </a:tr>
              <a:tr h="582930">
                <a:tc>
                  <a:txBody>
                    <a:bodyPr/>
                    <a:lstStyle/>
                    <a:p>
                      <a:pPr algn="l"/>
                      <a:r>
                        <a:rPr sz="1050" b="0">
                          <a:solidFill>
                            <a:srgbClr val="253042"/>
                          </a:solidFill>
                          <a:latin typeface="Aptos"/>
                        </a:rPr>
                        <a:t>SCD 1</a:t>
                      </a:r>
                    </a:p>
                  </a:txBody>
                  <a:tcPr marL="73152" marR="54864" marB="27432">
                    <a:solidFill>
                      <a:srgbClr val="FFFFFF"/>
                    </a:solidFill>
                  </a:tcPr>
                </a:tc>
                <a:tc>
                  <a:txBody>
                    <a:bodyPr/>
                    <a:lstStyle/>
                    <a:p>
                      <a:pPr algn="l"/>
                      <a:r>
                        <a:rPr sz="1050" b="0">
                          <a:solidFill>
                            <a:srgbClr val="253042"/>
                          </a:solidFill>
                          <a:latin typeface="Aptos"/>
                        </a:rPr>
                        <a:t>Overwrite current value</a:t>
                      </a:r>
                    </a:p>
                  </a:txBody>
                  <a:tcPr marL="73152" marR="54864" marB="27432">
                    <a:solidFill>
                      <a:srgbClr val="FFFFFF"/>
                    </a:solidFill>
                  </a:tcPr>
                </a:tc>
                <a:tc>
                  <a:txBody>
                    <a:bodyPr/>
                    <a:lstStyle/>
                    <a:p>
                      <a:pPr algn="l"/>
                      <a:r>
                        <a:rPr sz="1050" b="0">
                          <a:solidFill>
                            <a:srgbClr val="253042"/>
                          </a:solidFill>
                          <a:latin typeface="Aptos"/>
                        </a:rPr>
                        <a:t>Correct misspelled customer name</a:t>
                      </a:r>
                    </a:p>
                  </a:txBody>
                  <a:tcPr marL="73152" marR="54864" marB="27432">
                    <a:solidFill>
                      <a:srgbClr val="FFFFFF"/>
                    </a:solidFill>
                  </a:tcPr>
                </a:tc>
                <a:tc>
                  <a:txBody>
                    <a:bodyPr/>
                    <a:lstStyle/>
                    <a:p>
                      <a:pPr algn="l"/>
                      <a:r>
                        <a:rPr sz="1050" b="0">
                          <a:solidFill>
                            <a:srgbClr val="253042"/>
                          </a:solidFill>
                          <a:latin typeface="Aptos"/>
                        </a:rPr>
                        <a:t>Simple; no prior history</a:t>
                      </a:r>
                    </a:p>
                  </a:txBody>
                  <a:tcPr marL="73152" marR="54864" marB="27432">
                    <a:solidFill>
                      <a:srgbClr val="FFFFFF"/>
                    </a:solidFill>
                  </a:tcPr>
                </a:tc>
                <a:extLst>
                  <a:ext uri="{0D108BD9-81ED-4DB2-BD59-A6C34878D82A}">
                    <a16:rowId xmlns:a16="http://schemas.microsoft.com/office/drawing/2014/main" val="10001"/>
                  </a:ext>
                </a:extLst>
              </a:tr>
              <a:tr h="582930">
                <a:tc>
                  <a:txBody>
                    <a:bodyPr/>
                    <a:lstStyle/>
                    <a:p>
                      <a:pPr algn="l"/>
                      <a:r>
                        <a:rPr sz="1050" b="0">
                          <a:solidFill>
                            <a:srgbClr val="253042"/>
                          </a:solidFill>
                          <a:latin typeface="Aptos"/>
                        </a:rPr>
                        <a:t>SCD 2</a:t>
                      </a:r>
                    </a:p>
                  </a:txBody>
                  <a:tcPr marL="73152" marR="54864" marB="27432">
                    <a:solidFill>
                      <a:srgbClr val="F7F9FC"/>
                    </a:solidFill>
                  </a:tcPr>
                </a:tc>
                <a:tc>
                  <a:txBody>
                    <a:bodyPr/>
                    <a:lstStyle/>
                    <a:p>
                      <a:pPr algn="l"/>
                      <a:r>
                        <a:rPr sz="1050" b="0">
                          <a:solidFill>
                            <a:srgbClr val="253042"/>
                          </a:solidFill>
                          <a:latin typeface="Aptos"/>
                        </a:rPr>
                        <a:t>Insert new version with effective range</a:t>
                      </a:r>
                    </a:p>
                  </a:txBody>
                  <a:tcPr marL="73152" marR="54864" marB="27432">
                    <a:solidFill>
                      <a:srgbClr val="F7F9FC"/>
                    </a:solidFill>
                  </a:tcPr>
                </a:tc>
                <a:tc>
                  <a:txBody>
                    <a:bodyPr/>
                    <a:lstStyle/>
                    <a:p>
                      <a:pPr algn="l"/>
                      <a:r>
                        <a:rPr sz="1050" b="0">
                          <a:solidFill>
                            <a:srgbClr val="253042"/>
                          </a:solidFill>
                          <a:latin typeface="Aptos"/>
                        </a:rPr>
                        <a:t>Track customer loyalty tier over time</a:t>
                      </a:r>
                    </a:p>
                  </a:txBody>
                  <a:tcPr marL="73152" marR="54864" marB="27432">
                    <a:solidFill>
                      <a:srgbClr val="F7F9FC"/>
                    </a:solidFill>
                  </a:tcPr>
                </a:tc>
                <a:tc>
                  <a:txBody>
                    <a:bodyPr/>
                    <a:lstStyle/>
                    <a:p>
                      <a:pPr algn="l"/>
                      <a:r>
                        <a:rPr sz="1050" b="0">
                          <a:solidFill>
                            <a:srgbClr val="253042"/>
                          </a:solidFill>
                          <a:latin typeface="Aptos"/>
                        </a:rPr>
                        <a:t>Full history; joins and late updates are harder</a:t>
                      </a:r>
                    </a:p>
                  </a:txBody>
                  <a:tcPr marL="73152" marR="54864" marB="27432">
                    <a:solidFill>
                      <a:srgbClr val="F7F9FC"/>
                    </a:solidFill>
                  </a:tcPr>
                </a:tc>
                <a:extLst>
                  <a:ext uri="{0D108BD9-81ED-4DB2-BD59-A6C34878D82A}">
                    <a16:rowId xmlns:a16="http://schemas.microsoft.com/office/drawing/2014/main" val="10002"/>
                  </a:ext>
                </a:extLst>
              </a:tr>
              <a:tr h="582930">
                <a:tc>
                  <a:txBody>
                    <a:bodyPr/>
                    <a:lstStyle/>
                    <a:p>
                      <a:pPr algn="l"/>
                      <a:r>
                        <a:rPr sz="1050" b="0">
                          <a:solidFill>
                            <a:srgbClr val="253042"/>
                          </a:solidFill>
                          <a:latin typeface="Aptos"/>
                        </a:rPr>
                        <a:t>SCD 3</a:t>
                      </a:r>
                    </a:p>
                  </a:txBody>
                  <a:tcPr marL="73152" marR="54864" marB="27432">
                    <a:solidFill>
                      <a:srgbClr val="FFFFFF"/>
                    </a:solidFill>
                  </a:tcPr>
                </a:tc>
                <a:tc>
                  <a:txBody>
                    <a:bodyPr/>
                    <a:lstStyle/>
                    <a:p>
                      <a:pPr algn="l"/>
                      <a:r>
                        <a:rPr sz="1050" b="0">
                          <a:solidFill>
                            <a:srgbClr val="253042"/>
                          </a:solidFill>
                          <a:latin typeface="Aptos"/>
                        </a:rPr>
                        <a:t>Keep limited prior value in extra column</a:t>
                      </a:r>
                    </a:p>
                  </a:txBody>
                  <a:tcPr marL="73152" marR="54864" marB="27432">
                    <a:solidFill>
                      <a:srgbClr val="FFFFFF"/>
                    </a:solidFill>
                  </a:tcPr>
                </a:tc>
                <a:tc>
                  <a:txBody>
                    <a:bodyPr/>
                    <a:lstStyle/>
                    <a:p>
                      <a:pPr algn="l"/>
                      <a:r>
                        <a:rPr sz="1050" b="0">
                          <a:solidFill>
                            <a:srgbClr val="253042"/>
                          </a:solidFill>
                          <a:latin typeface="Aptos"/>
                        </a:rPr>
                        <a:t>Current and previous sales territory</a:t>
                      </a:r>
                    </a:p>
                  </a:txBody>
                  <a:tcPr marL="73152" marR="54864" marB="27432">
                    <a:solidFill>
                      <a:srgbClr val="FFFFFF"/>
                    </a:solidFill>
                  </a:tcPr>
                </a:tc>
                <a:tc>
                  <a:txBody>
                    <a:bodyPr/>
                    <a:lstStyle/>
                    <a:p>
                      <a:pPr algn="l"/>
                      <a:r>
                        <a:rPr sz="1050" b="0">
                          <a:solidFill>
                            <a:srgbClr val="253042"/>
                          </a:solidFill>
                          <a:latin typeface="Aptos"/>
                        </a:rPr>
                        <a:t>Simple comparison; only limited history</a:t>
                      </a:r>
                    </a:p>
                  </a:txBody>
                  <a:tcPr marL="73152" marR="54864" marB="27432">
                    <a:solidFill>
                      <a:srgbClr val="FFFFFF"/>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777240" y="4315968"/>
            <a:ext cx="2011680" cy="274320"/>
          </a:xfrm>
          <a:prstGeom prst="rect">
            <a:avLst/>
          </a:prstGeom>
          <a:noFill/>
        </p:spPr>
        <p:txBody>
          <a:bodyPr wrap="none" lIns="45720" rIns="45720" anchor="t">
            <a:spAutoFit/>
          </a:bodyPr>
          <a:lstStyle/>
          <a:p>
            <a:pPr algn="l">
              <a:spcAft>
                <a:spcPts val="0"/>
              </a:spcAft>
            </a:pPr>
            <a:r>
              <a:rPr sz="1400" b="1" i="0">
                <a:solidFill>
                  <a:srgbClr val="0C1930"/>
                </a:solidFill>
                <a:latin typeface="Aptos"/>
              </a:rPr>
              <a:t>SCD 2 record shape</a:t>
            </a:r>
          </a:p>
        </p:txBody>
      </p:sp>
      <p:graphicFrame>
        <p:nvGraphicFramePr>
          <p:cNvPr id="10" name="Table 9"/>
          <p:cNvGraphicFramePr>
            <a:graphicFrameLocks noGrp="1"/>
          </p:cNvGraphicFramePr>
          <p:nvPr/>
        </p:nvGraphicFramePr>
        <p:xfrm>
          <a:off x="731520" y="4617720"/>
          <a:ext cx="9326880" cy="114300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tblGrid>
              <a:tr h="381000">
                <a:tc>
                  <a:txBody>
                    <a:bodyPr/>
                    <a:lstStyle/>
                    <a:p>
                      <a:pPr algn="l"/>
                      <a:r>
                        <a:rPr sz="900" b="1">
                          <a:solidFill>
                            <a:srgbClr val="FFFFFF"/>
                          </a:solidFill>
                          <a:latin typeface="Aptos"/>
                        </a:rPr>
                        <a:t>customer_key</a:t>
                      </a:r>
                    </a:p>
                  </a:txBody>
                  <a:tcPr marL="73152" marR="54864" marB="27432">
                    <a:solidFill>
                      <a:srgbClr val="855CF8"/>
                    </a:solidFill>
                  </a:tcPr>
                </a:tc>
                <a:tc>
                  <a:txBody>
                    <a:bodyPr/>
                    <a:lstStyle/>
                    <a:p>
                      <a:pPr algn="l"/>
                      <a:r>
                        <a:rPr sz="900" b="1">
                          <a:solidFill>
                            <a:srgbClr val="FFFFFF"/>
                          </a:solidFill>
                          <a:latin typeface="Aptos"/>
                        </a:rPr>
                        <a:t>customer_id</a:t>
                      </a:r>
                    </a:p>
                  </a:txBody>
                  <a:tcPr marL="73152" marR="54864" marB="27432">
                    <a:solidFill>
                      <a:srgbClr val="855CF8"/>
                    </a:solidFill>
                  </a:tcPr>
                </a:tc>
                <a:tc>
                  <a:txBody>
                    <a:bodyPr/>
                    <a:lstStyle/>
                    <a:p>
                      <a:pPr algn="l"/>
                      <a:r>
                        <a:rPr sz="900" b="1">
                          <a:solidFill>
                            <a:srgbClr val="FFFFFF"/>
                          </a:solidFill>
                          <a:latin typeface="Aptos"/>
                        </a:rPr>
                        <a:t>tier</a:t>
                      </a:r>
                    </a:p>
                  </a:txBody>
                  <a:tcPr marL="73152" marR="54864" marB="27432">
                    <a:solidFill>
                      <a:srgbClr val="855CF8"/>
                    </a:solidFill>
                  </a:tcPr>
                </a:tc>
                <a:tc>
                  <a:txBody>
                    <a:bodyPr/>
                    <a:lstStyle/>
                    <a:p>
                      <a:pPr algn="l"/>
                      <a:r>
                        <a:rPr sz="900" b="1">
                          <a:solidFill>
                            <a:srgbClr val="FFFFFF"/>
                          </a:solidFill>
                          <a:latin typeface="Aptos"/>
                        </a:rPr>
                        <a:t>effective_from</a:t>
                      </a:r>
                    </a:p>
                  </a:txBody>
                  <a:tcPr marL="73152" marR="54864" marB="27432">
                    <a:solidFill>
                      <a:srgbClr val="855CF8"/>
                    </a:solidFill>
                  </a:tcPr>
                </a:tc>
                <a:tc>
                  <a:txBody>
                    <a:bodyPr/>
                    <a:lstStyle/>
                    <a:p>
                      <a:pPr algn="l"/>
                      <a:r>
                        <a:rPr sz="900" b="1">
                          <a:solidFill>
                            <a:srgbClr val="FFFFFF"/>
                          </a:solidFill>
                          <a:latin typeface="Aptos"/>
                        </a:rPr>
                        <a:t>effective_to</a:t>
                      </a:r>
                    </a:p>
                  </a:txBody>
                  <a:tcPr marL="73152" marR="54864" marB="27432">
                    <a:solidFill>
                      <a:srgbClr val="855CF8"/>
                    </a:solidFill>
                  </a:tcPr>
                </a:tc>
                <a:tc>
                  <a:txBody>
                    <a:bodyPr/>
                    <a:lstStyle/>
                    <a:p>
                      <a:pPr algn="l"/>
                      <a:r>
                        <a:rPr sz="900" b="1">
                          <a:solidFill>
                            <a:srgbClr val="FFFFFF"/>
                          </a:solidFill>
                          <a:latin typeface="Aptos"/>
                        </a:rPr>
                        <a:t>is_current</a:t>
                      </a:r>
                    </a:p>
                  </a:txBody>
                  <a:tcPr marL="73152" marR="54864" marB="27432">
                    <a:solidFill>
                      <a:srgbClr val="855CF8"/>
                    </a:solidFill>
                  </a:tcPr>
                </a:tc>
                <a:extLst>
                  <a:ext uri="{0D108BD9-81ED-4DB2-BD59-A6C34878D82A}">
                    <a16:rowId xmlns:a16="http://schemas.microsoft.com/office/drawing/2014/main" val="10000"/>
                  </a:ext>
                </a:extLst>
              </a:tr>
              <a:tr h="381000">
                <a:tc>
                  <a:txBody>
                    <a:bodyPr/>
                    <a:lstStyle/>
                    <a:p>
                      <a:pPr algn="l"/>
                      <a:r>
                        <a:rPr sz="950" b="0">
                          <a:solidFill>
                            <a:srgbClr val="253042"/>
                          </a:solidFill>
                          <a:latin typeface="Aptos"/>
                        </a:rPr>
                        <a:t>101</a:t>
                      </a:r>
                    </a:p>
                  </a:txBody>
                  <a:tcPr marL="73152" marR="54864" marB="27432">
                    <a:solidFill>
                      <a:srgbClr val="FFFFFF"/>
                    </a:solidFill>
                  </a:tcPr>
                </a:tc>
                <a:tc>
                  <a:txBody>
                    <a:bodyPr/>
                    <a:lstStyle/>
                    <a:p>
                      <a:pPr algn="l"/>
                      <a:r>
                        <a:rPr sz="950" b="0">
                          <a:solidFill>
                            <a:srgbClr val="253042"/>
                          </a:solidFill>
                          <a:latin typeface="Aptos"/>
                        </a:rPr>
                        <a:t>C55</a:t>
                      </a:r>
                    </a:p>
                  </a:txBody>
                  <a:tcPr marL="73152" marR="54864" marB="27432">
                    <a:solidFill>
                      <a:srgbClr val="FFFFFF"/>
                    </a:solidFill>
                  </a:tcPr>
                </a:tc>
                <a:tc>
                  <a:txBody>
                    <a:bodyPr/>
                    <a:lstStyle/>
                    <a:p>
                      <a:pPr algn="l"/>
                      <a:r>
                        <a:rPr sz="950" b="0">
                          <a:solidFill>
                            <a:srgbClr val="253042"/>
                          </a:solidFill>
                          <a:latin typeface="Aptos"/>
                        </a:rPr>
                        <a:t>SILVER</a:t>
                      </a:r>
                    </a:p>
                  </a:txBody>
                  <a:tcPr marL="73152" marR="54864" marB="27432">
                    <a:solidFill>
                      <a:srgbClr val="FFFFFF"/>
                    </a:solidFill>
                  </a:tcPr>
                </a:tc>
                <a:tc>
                  <a:txBody>
                    <a:bodyPr/>
                    <a:lstStyle/>
                    <a:p>
                      <a:pPr algn="l"/>
                      <a:r>
                        <a:rPr sz="950" b="0">
                          <a:solidFill>
                            <a:srgbClr val="253042"/>
                          </a:solidFill>
                          <a:latin typeface="Aptos"/>
                        </a:rPr>
                        <a:t>2026-01-01</a:t>
                      </a:r>
                    </a:p>
                  </a:txBody>
                  <a:tcPr marL="73152" marR="54864" marB="27432">
                    <a:solidFill>
                      <a:srgbClr val="FFFFFF"/>
                    </a:solidFill>
                  </a:tcPr>
                </a:tc>
                <a:tc>
                  <a:txBody>
                    <a:bodyPr/>
                    <a:lstStyle/>
                    <a:p>
                      <a:pPr algn="l"/>
                      <a:r>
                        <a:rPr sz="950" b="0">
                          <a:solidFill>
                            <a:srgbClr val="253042"/>
                          </a:solidFill>
                          <a:latin typeface="Aptos"/>
                        </a:rPr>
                        <a:t>2026-09-23</a:t>
                      </a:r>
                    </a:p>
                  </a:txBody>
                  <a:tcPr marL="73152" marR="54864" marB="27432">
                    <a:solidFill>
                      <a:srgbClr val="FFFFFF"/>
                    </a:solidFill>
                  </a:tcPr>
                </a:tc>
                <a:tc>
                  <a:txBody>
                    <a:bodyPr/>
                    <a:lstStyle/>
                    <a:p>
                      <a:pPr algn="l"/>
                      <a:r>
                        <a:rPr sz="950" b="0">
                          <a:solidFill>
                            <a:srgbClr val="253042"/>
                          </a:solidFill>
                          <a:latin typeface="Aptos"/>
                        </a:rPr>
                        <a:t>false</a:t>
                      </a:r>
                    </a:p>
                  </a:txBody>
                  <a:tcPr marL="73152" marR="54864" marB="27432">
                    <a:solidFill>
                      <a:srgbClr val="FFFFFF"/>
                    </a:solidFill>
                  </a:tcPr>
                </a:tc>
                <a:extLst>
                  <a:ext uri="{0D108BD9-81ED-4DB2-BD59-A6C34878D82A}">
                    <a16:rowId xmlns:a16="http://schemas.microsoft.com/office/drawing/2014/main" val="10001"/>
                  </a:ext>
                </a:extLst>
              </a:tr>
              <a:tr h="381000">
                <a:tc>
                  <a:txBody>
                    <a:bodyPr/>
                    <a:lstStyle/>
                    <a:p>
                      <a:pPr algn="l"/>
                      <a:r>
                        <a:rPr sz="950" b="0">
                          <a:solidFill>
                            <a:srgbClr val="253042"/>
                          </a:solidFill>
                          <a:latin typeface="Aptos"/>
                        </a:rPr>
                        <a:t>145</a:t>
                      </a:r>
                    </a:p>
                  </a:txBody>
                  <a:tcPr marL="73152" marR="54864" marB="27432">
                    <a:solidFill>
                      <a:srgbClr val="F7F9FC"/>
                    </a:solidFill>
                  </a:tcPr>
                </a:tc>
                <a:tc>
                  <a:txBody>
                    <a:bodyPr/>
                    <a:lstStyle/>
                    <a:p>
                      <a:pPr algn="l"/>
                      <a:r>
                        <a:rPr sz="950" b="0">
                          <a:solidFill>
                            <a:srgbClr val="253042"/>
                          </a:solidFill>
                          <a:latin typeface="Aptos"/>
                        </a:rPr>
                        <a:t>C55</a:t>
                      </a:r>
                    </a:p>
                  </a:txBody>
                  <a:tcPr marL="73152" marR="54864" marB="27432">
                    <a:solidFill>
                      <a:srgbClr val="F7F9FC"/>
                    </a:solidFill>
                  </a:tcPr>
                </a:tc>
                <a:tc>
                  <a:txBody>
                    <a:bodyPr/>
                    <a:lstStyle/>
                    <a:p>
                      <a:pPr algn="l"/>
                      <a:r>
                        <a:rPr sz="950" b="0">
                          <a:solidFill>
                            <a:srgbClr val="253042"/>
                          </a:solidFill>
                          <a:latin typeface="Aptos"/>
                        </a:rPr>
                        <a:t>GOLD</a:t>
                      </a:r>
                    </a:p>
                  </a:txBody>
                  <a:tcPr marL="73152" marR="54864" marB="27432">
                    <a:solidFill>
                      <a:srgbClr val="F7F9FC"/>
                    </a:solidFill>
                  </a:tcPr>
                </a:tc>
                <a:tc>
                  <a:txBody>
                    <a:bodyPr/>
                    <a:lstStyle/>
                    <a:p>
                      <a:pPr algn="l"/>
                      <a:r>
                        <a:rPr sz="950" b="0">
                          <a:solidFill>
                            <a:srgbClr val="253042"/>
                          </a:solidFill>
                          <a:latin typeface="Aptos"/>
                        </a:rPr>
                        <a:t>2026-09-24</a:t>
                      </a:r>
                    </a:p>
                  </a:txBody>
                  <a:tcPr marL="73152" marR="54864" marB="27432">
                    <a:solidFill>
                      <a:srgbClr val="F7F9FC"/>
                    </a:solidFill>
                  </a:tcPr>
                </a:tc>
                <a:tc>
                  <a:txBody>
                    <a:bodyPr/>
                    <a:lstStyle/>
                    <a:p>
                      <a:pPr algn="l"/>
                      <a:r>
                        <a:rPr sz="950" b="0">
                          <a:solidFill>
                            <a:srgbClr val="253042"/>
                          </a:solidFill>
                          <a:latin typeface="Aptos"/>
                        </a:rPr>
                        <a:t>NULL</a:t>
                      </a:r>
                    </a:p>
                  </a:txBody>
                  <a:tcPr marL="73152" marR="54864" marB="27432">
                    <a:solidFill>
                      <a:srgbClr val="F7F9FC"/>
                    </a:solidFill>
                  </a:tcPr>
                </a:tc>
                <a:tc>
                  <a:txBody>
                    <a:bodyPr/>
                    <a:lstStyle/>
                    <a:p>
                      <a:pPr algn="l"/>
                      <a:r>
                        <a:rPr sz="950" b="0">
                          <a:solidFill>
                            <a:srgbClr val="253042"/>
                          </a:solidFill>
                          <a:latin typeface="Aptos"/>
                        </a:rPr>
                        <a:t>true</a:t>
                      </a:r>
                    </a:p>
                  </a:txBody>
                  <a:tcPr marL="73152" marR="54864" marB="27432">
                    <a:solidFill>
                      <a:srgbClr val="F7F9FC"/>
                    </a:solidFill>
                  </a:tcPr>
                </a:tc>
                <a:extLst>
                  <a:ext uri="{0D108BD9-81ED-4DB2-BD59-A6C34878D82A}">
                    <a16:rowId xmlns:a16="http://schemas.microsoft.com/office/drawing/2014/main" val="10002"/>
                  </a:ext>
                </a:extLst>
              </a:tr>
            </a:tbl>
          </a:graphicData>
        </a:graphic>
      </p:graphicFrame>
      <p:sp>
        <p:nvSpPr>
          <p:cNvPr id="11" name="TextBox 10"/>
          <p:cNvSpPr txBox="1"/>
          <p:nvPr/>
        </p:nvSpPr>
        <p:spPr>
          <a:xfrm>
            <a:off x="914400" y="5961888"/>
            <a:ext cx="10332720" cy="256032"/>
          </a:xfrm>
          <a:prstGeom prst="rect">
            <a:avLst/>
          </a:prstGeom>
          <a:noFill/>
        </p:spPr>
        <p:txBody>
          <a:bodyPr wrap="none" lIns="45720" rIns="45720" anchor="t">
            <a:spAutoFit/>
          </a:bodyPr>
          <a:lstStyle/>
          <a:p>
            <a:pPr algn="ctr">
              <a:spcAft>
                <a:spcPts val="0"/>
              </a:spcAft>
            </a:pPr>
            <a:r>
              <a:rPr sz="1000" b="1" i="0">
                <a:solidFill>
                  <a:srgbClr val="007874"/>
                </a:solidFill>
                <a:latin typeface="Aptos"/>
              </a:rPr>
              <a:t>Protect against overlapping effective ranges; define how late-arriving facts choose the correct dimension version.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STORAGE</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4 — File format decision matrix</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Serialization format and table format solve different problems.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18</a:t>
            </a:r>
          </a:p>
        </p:txBody>
      </p:sp>
      <p:graphicFrame>
        <p:nvGraphicFramePr>
          <p:cNvPr id="8" name="Table 7"/>
          <p:cNvGraphicFramePr>
            <a:graphicFrameLocks noGrp="1"/>
          </p:cNvGraphicFramePr>
          <p:nvPr/>
        </p:nvGraphicFramePr>
        <p:xfrm>
          <a:off x="548640" y="1572768"/>
          <a:ext cx="11109960" cy="434340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2423160">
                  <a:extLst>
                    <a:ext uri="{9D8B030D-6E8A-4147-A177-3AD203B41FA5}">
                      <a16:colId xmlns:a16="http://schemas.microsoft.com/office/drawing/2014/main" val="20004"/>
                    </a:ext>
                  </a:extLst>
                </a:gridCol>
              </a:tblGrid>
              <a:tr h="723900">
                <a:tc>
                  <a:txBody>
                    <a:bodyPr/>
                    <a:lstStyle/>
                    <a:p>
                      <a:pPr algn="l"/>
                      <a:r>
                        <a:rPr sz="880" b="1">
                          <a:solidFill>
                            <a:srgbClr val="FFFFFF"/>
                          </a:solidFill>
                          <a:latin typeface="Aptos"/>
                        </a:rPr>
                        <a:t>Format</a:t>
                      </a:r>
                    </a:p>
                  </a:txBody>
                  <a:tcPr marL="73152" marR="54864" marB="27432">
                    <a:solidFill>
                      <a:srgbClr val="0C1930"/>
                    </a:solidFill>
                  </a:tcPr>
                </a:tc>
                <a:tc>
                  <a:txBody>
                    <a:bodyPr/>
                    <a:lstStyle/>
                    <a:p>
                      <a:pPr algn="l"/>
                      <a:r>
                        <a:rPr sz="880" b="1">
                          <a:solidFill>
                            <a:srgbClr val="FFFFFF"/>
                          </a:solidFill>
                          <a:latin typeface="Aptos"/>
                        </a:rPr>
                        <a:t>Layout</a:t>
                      </a:r>
                    </a:p>
                  </a:txBody>
                  <a:tcPr marL="73152" marR="54864" marB="27432">
                    <a:solidFill>
                      <a:srgbClr val="0C1930"/>
                    </a:solidFill>
                  </a:tcPr>
                </a:tc>
                <a:tc>
                  <a:txBody>
                    <a:bodyPr/>
                    <a:lstStyle/>
                    <a:p>
                      <a:pPr algn="l"/>
                      <a:r>
                        <a:rPr sz="880" b="1">
                          <a:solidFill>
                            <a:srgbClr val="FFFFFF"/>
                          </a:solidFill>
                          <a:latin typeface="Aptos"/>
                        </a:rPr>
                        <a:t>Strength</a:t>
                      </a:r>
                    </a:p>
                  </a:txBody>
                  <a:tcPr marL="73152" marR="54864" marB="27432">
                    <a:solidFill>
                      <a:srgbClr val="0C1930"/>
                    </a:solidFill>
                  </a:tcPr>
                </a:tc>
                <a:tc>
                  <a:txBody>
                    <a:bodyPr/>
                    <a:lstStyle/>
                    <a:p>
                      <a:pPr algn="l"/>
                      <a:r>
                        <a:rPr sz="880" b="1">
                          <a:solidFill>
                            <a:srgbClr val="FFFFFF"/>
                          </a:solidFill>
                          <a:latin typeface="Aptos"/>
                        </a:rPr>
                        <a:t>Best fit</a:t>
                      </a:r>
                    </a:p>
                  </a:txBody>
                  <a:tcPr marL="73152" marR="54864" marB="27432">
                    <a:solidFill>
                      <a:srgbClr val="0C1930"/>
                    </a:solidFill>
                  </a:tcPr>
                </a:tc>
                <a:tc>
                  <a:txBody>
                    <a:bodyPr/>
                    <a:lstStyle/>
                    <a:p>
                      <a:pPr algn="l"/>
                      <a:r>
                        <a:rPr sz="880" b="1">
                          <a:solidFill>
                            <a:srgbClr val="FFFFFF"/>
                          </a:solidFill>
                          <a:latin typeface="Aptos"/>
                        </a:rPr>
                        <a:t>Watch-outs</a:t>
                      </a:r>
                    </a:p>
                  </a:txBody>
                  <a:tcPr marL="73152" marR="54864" marB="27432">
                    <a:solidFill>
                      <a:srgbClr val="0C1930"/>
                    </a:solidFill>
                  </a:tcPr>
                </a:tc>
                <a:extLst>
                  <a:ext uri="{0D108BD9-81ED-4DB2-BD59-A6C34878D82A}">
                    <a16:rowId xmlns:a16="http://schemas.microsoft.com/office/drawing/2014/main" val="10000"/>
                  </a:ext>
                </a:extLst>
              </a:tr>
              <a:tr h="723900">
                <a:tc>
                  <a:txBody>
                    <a:bodyPr/>
                    <a:lstStyle/>
                    <a:p>
                      <a:pPr algn="l"/>
                      <a:r>
                        <a:rPr sz="930" b="0">
                          <a:solidFill>
                            <a:srgbClr val="253042"/>
                          </a:solidFill>
                          <a:latin typeface="Aptos"/>
                        </a:rPr>
                        <a:t>CSV / JSON</a:t>
                      </a:r>
                    </a:p>
                  </a:txBody>
                  <a:tcPr marL="73152" marR="54864" marB="27432">
                    <a:solidFill>
                      <a:srgbClr val="FFFFFF"/>
                    </a:solidFill>
                  </a:tcPr>
                </a:tc>
                <a:tc>
                  <a:txBody>
                    <a:bodyPr/>
                    <a:lstStyle/>
                    <a:p>
                      <a:pPr algn="l"/>
                      <a:r>
                        <a:rPr sz="930" b="0">
                          <a:solidFill>
                            <a:srgbClr val="253042"/>
                          </a:solidFill>
                          <a:latin typeface="Aptos"/>
                        </a:rPr>
                        <a:t>Text / row-like</a:t>
                      </a:r>
                    </a:p>
                  </a:txBody>
                  <a:tcPr marL="73152" marR="54864" marB="27432">
                    <a:solidFill>
                      <a:srgbClr val="FFFFFF"/>
                    </a:solidFill>
                  </a:tcPr>
                </a:tc>
                <a:tc>
                  <a:txBody>
                    <a:bodyPr/>
                    <a:lstStyle/>
                    <a:p>
                      <a:pPr algn="l"/>
                      <a:r>
                        <a:rPr sz="930" b="0">
                          <a:solidFill>
                            <a:srgbClr val="253042"/>
                          </a:solidFill>
                          <a:latin typeface="Aptos"/>
                        </a:rPr>
                        <a:t>Human-readable; universal</a:t>
                      </a:r>
                    </a:p>
                  </a:txBody>
                  <a:tcPr marL="73152" marR="54864" marB="27432">
                    <a:solidFill>
                      <a:srgbClr val="FFFFFF"/>
                    </a:solidFill>
                  </a:tcPr>
                </a:tc>
                <a:tc>
                  <a:txBody>
                    <a:bodyPr/>
                    <a:lstStyle/>
                    <a:p>
                      <a:pPr algn="l"/>
                      <a:r>
                        <a:rPr sz="930" b="0">
                          <a:solidFill>
                            <a:srgbClr val="253042"/>
                          </a:solidFill>
                          <a:latin typeface="Aptos"/>
                        </a:rPr>
                        <a:t>Landing, interchange, debugging</a:t>
                      </a:r>
                    </a:p>
                  </a:txBody>
                  <a:tcPr marL="73152" marR="54864" marB="27432">
                    <a:solidFill>
                      <a:srgbClr val="FFFFFF"/>
                    </a:solidFill>
                  </a:tcPr>
                </a:tc>
                <a:tc>
                  <a:txBody>
                    <a:bodyPr/>
                    <a:lstStyle/>
                    <a:p>
                      <a:pPr algn="l"/>
                      <a:r>
                        <a:rPr sz="930" b="0">
                          <a:solidFill>
                            <a:srgbClr val="253042"/>
                          </a:solidFill>
                          <a:latin typeface="Aptos"/>
                        </a:rPr>
                        <a:t>Large; weak typing; slow analytics</a:t>
                      </a:r>
                    </a:p>
                  </a:txBody>
                  <a:tcPr marL="73152" marR="54864" marB="27432">
                    <a:solidFill>
                      <a:srgbClr val="FFFFFF"/>
                    </a:solidFill>
                  </a:tcPr>
                </a:tc>
                <a:extLst>
                  <a:ext uri="{0D108BD9-81ED-4DB2-BD59-A6C34878D82A}">
                    <a16:rowId xmlns:a16="http://schemas.microsoft.com/office/drawing/2014/main" val="10001"/>
                  </a:ext>
                </a:extLst>
              </a:tr>
              <a:tr h="723900">
                <a:tc>
                  <a:txBody>
                    <a:bodyPr/>
                    <a:lstStyle/>
                    <a:p>
                      <a:pPr algn="l"/>
                      <a:r>
                        <a:rPr sz="930" b="0">
                          <a:solidFill>
                            <a:srgbClr val="253042"/>
                          </a:solidFill>
                          <a:latin typeface="Aptos"/>
                        </a:rPr>
                        <a:t>Avro</a:t>
                      </a:r>
                    </a:p>
                  </a:txBody>
                  <a:tcPr marL="73152" marR="54864" marB="27432">
                    <a:solidFill>
                      <a:srgbClr val="F7F9FC"/>
                    </a:solidFill>
                  </a:tcPr>
                </a:tc>
                <a:tc>
                  <a:txBody>
                    <a:bodyPr/>
                    <a:lstStyle/>
                    <a:p>
                      <a:pPr algn="l"/>
                      <a:r>
                        <a:rPr sz="930" b="0">
                          <a:solidFill>
                            <a:srgbClr val="253042"/>
                          </a:solidFill>
                          <a:latin typeface="Aptos"/>
                        </a:rPr>
                        <a:t>Row-oriented binary</a:t>
                      </a:r>
                    </a:p>
                  </a:txBody>
                  <a:tcPr marL="73152" marR="54864" marB="27432">
                    <a:solidFill>
                      <a:srgbClr val="F7F9FC"/>
                    </a:solidFill>
                  </a:tcPr>
                </a:tc>
                <a:tc>
                  <a:txBody>
                    <a:bodyPr/>
                    <a:lstStyle/>
                    <a:p>
                      <a:pPr algn="l"/>
                      <a:r>
                        <a:rPr sz="930" b="0">
                          <a:solidFill>
                            <a:srgbClr val="253042"/>
                          </a:solidFill>
                          <a:latin typeface="Aptos"/>
                        </a:rPr>
                        <a:t>Fast record serialization; schema support</a:t>
                      </a:r>
                    </a:p>
                  </a:txBody>
                  <a:tcPr marL="73152" marR="54864" marB="27432">
                    <a:solidFill>
                      <a:srgbClr val="F7F9FC"/>
                    </a:solidFill>
                  </a:tcPr>
                </a:tc>
                <a:tc>
                  <a:txBody>
                    <a:bodyPr/>
                    <a:lstStyle/>
                    <a:p>
                      <a:pPr algn="l"/>
                      <a:r>
                        <a:rPr sz="930" b="0">
                          <a:solidFill>
                            <a:srgbClr val="253042"/>
                          </a:solidFill>
                          <a:latin typeface="Aptos"/>
                        </a:rPr>
                        <a:t>Event payloads, write-heavy exchange</a:t>
                      </a:r>
                    </a:p>
                  </a:txBody>
                  <a:tcPr marL="73152" marR="54864" marB="27432">
                    <a:solidFill>
                      <a:srgbClr val="F7F9FC"/>
                    </a:solidFill>
                  </a:tcPr>
                </a:tc>
                <a:tc>
                  <a:txBody>
                    <a:bodyPr/>
                    <a:lstStyle/>
                    <a:p>
                      <a:pPr algn="l"/>
                      <a:r>
                        <a:rPr sz="930" b="0">
                          <a:solidFill>
                            <a:srgbClr val="253042"/>
                          </a:solidFill>
                          <a:latin typeface="Aptos"/>
                        </a:rPr>
                        <a:t>Not optimal for analytical scans</a:t>
                      </a:r>
                    </a:p>
                  </a:txBody>
                  <a:tcPr marL="73152" marR="54864" marB="27432">
                    <a:solidFill>
                      <a:srgbClr val="F7F9FC"/>
                    </a:solidFill>
                  </a:tcPr>
                </a:tc>
                <a:extLst>
                  <a:ext uri="{0D108BD9-81ED-4DB2-BD59-A6C34878D82A}">
                    <a16:rowId xmlns:a16="http://schemas.microsoft.com/office/drawing/2014/main" val="10002"/>
                  </a:ext>
                </a:extLst>
              </a:tr>
              <a:tr h="723900">
                <a:tc>
                  <a:txBody>
                    <a:bodyPr/>
                    <a:lstStyle/>
                    <a:p>
                      <a:pPr algn="l"/>
                      <a:r>
                        <a:rPr sz="930" b="0">
                          <a:solidFill>
                            <a:srgbClr val="253042"/>
                          </a:solidFill>
                          <a:latin typeface="Aptos"/>
                        </a:rPr>
                        <a:t>Parquet</a:t>
                      </a:r>
                    </a:p>
                  </a:txBody>
                  <a:tcPr marL="73152" marR="54864" marB="27432">
                    <a:solidFill>
                      <a:srgbClr val="FFFFFF"/>
                    </a:solidFill>
                  </a:tcPr>
                </a:tc>
                <a:tc>
                  <a:txBody>
                    <a:bodyPr/>
                    <a:lstStyle/>
                    <a:p>
                      <a:pPr algn="l"/>
                      <a:r>
                        <a:rPr sz="930" b="0">
                          <a:solidFill>
                            <a:srgbClr val="253042"/>
                          </a:solidFill>
                          <a:latin typeface="Aptos"/>
                        </a:rPr>
                        <a:t>Columnar</a:t>
                      </a:r>
                    </a:p>
                  </a:txBody>
                  <a:tcPr marL="73152" marR="54864" marB="27432">
                    <a:solidFill>
                      <a:srgbClr val="FFFFFF"/>
                    </a:solidFill>
                  </a:tcPr>
                </a:tc>
                <a:tc>
                  <a:txBody>
                    <a:bodyPr/>
                    <a:lstStyle/>
                    <a:p>
                      <a:pPr algn="l"/>
                      <a:r>
                        <a:rPr sz="930" b="0">
                          <a:solidFill>
                            <a:srgbClr val="253042"/>
                          </a:solidFill>
                          <a:latin typeface="Aptos"/>
                        </a:rPr>
                        <a:t>Column pruning, encoding, compression</a:t>
                      </a:r>
                    </a:p>
                  </a:txBody>
                  <a:tcPr marL="73152" marR="54864" marB="27432">
                    <a:solidFill>
                      <a:srgbClr val="FFFFFF"/>
                    </a:solidFill>
                  </a:tcPr>
                </a:tc>
                <a:tc>
                  <a:txBody>
                    <a:bodyPr/>
                    <a:lstStyle/>
                    <a:p>
                      <a:pPr algn="l"/>
                      <a:r>
                        <a:rPr sz="930" b="0">
                          <a:solidFill>
                            <a:srgbClr val="253042"/>
                          </a:solidFill>
                          <a:latin typeface="Aptos"/>
                        </a:rPr>
                        <a:t>Lakehouse analytics and large scans</a:t>
                      </a:r>
                    </a:p>
                  </a:txBody>
                  <a:tcPr marL="73152" marR="54864" marB="27432">
                    <a:solidFill>
                      <a:srgbClr val="FFFFFF"/>
                    </a:solidFill>
                  </a:tcPr>
                </a:tc>
                <a:tc>
                  <a:txBody>
                    <a:bodyPr/>
                    <a:lstStyle/>
                    <a:p>
                      <a:pPr algn="l"/>
                      <a:r>
                        <a:rPr sz="930" b="0">
                          <a:solidFill>
                            <a:srgbClr val="253042"/>
                          </a:solidFill>
                          <a:latin typeface="Aptos"/>
                        </a:rPr>
                        <a:t>Small files; update semantics need table layer</a:t>
                      </a:r>
                    </a:p>
                  </a:txBody>
                  <a:tcPr marL="73152" marR="54864" marB="27432">
                    <a:solidFill>
                      <a:srgbClr val="FFFFFF"/>
                    </a:solidFill>
                  </a:tcPr>
                </a:tc>
                <a:extLst>
                  <a:ext uri="{0D108BD9-81ED-4DB2-BD59-A6C34878D82A}">
                    <a16:rowId xmlns:a16="http://schemas.microsoft.com/office/drawing/2014/main" val="10003"/>
                  </a:ext>
                </a:extLst>
              </a:tr>
              <a:tr h="723900">
                <a:tc>
                  <a:txBody>
                    <a:bodyPr/>
                    <a:lstStyle/>
                    <a:p>
                      <a:pPr algn="l"/>
                      <a:r>
                        <a:rPr sz="930" b="0">
                          <a:solidFill>
                            <a:srgbClr val="253042"/>
                          </a:solidFill>
                          <a:latin typeface="Aptos"/>
                        </a:rPr>
                        <a:t>ORC</a:t>
                      </a:r>
                    </a:p>
                  </a:txBody>
                  <a:tcPr marL="73152" marR="54864" marB="27432">
                    <a:solidFill>
                      <a:srgbClr val="F7F9FC"/>
                    </a:solidFill>
                  </a:tcPr>
                </a:tc>
                <a:tc>
                  <a:txBody>
                    <a:bodyPr/>
                    <a:lstStyle/>
                    <a:p>
                      <a:pPr algn="l"/>
                      <a:r>
                        <a:rPr sz="930" b="0">
                          <a:solidFill>
                            <a:srgbClr val="253042"/>
                          </a:solidFill>
                          <a:latin typeface="Aptos"/>
                        </a:rPr>
                        <a:t>Columnar</a:t>
                      </a:r>
                    </a:p>
                  </a:txBody>
                  <a:tcPr marL="73152" marR="54864" marB="27432">
                    <a:solidFill>
                      <a:srgbClr val="F7F9FC"/>
                    </a:solidFill>
                  </a:tcPr>
                </a:tc>
                <a:tc>
                  <a:txBody>
                    <a:bodyPr/>
                    <a:lstStyle/>
                    <a:p>
                      <a:pPr algn="l"/>
                      <a:r>
                        <a:rPr sz="930" b="0">
                          <a:solidFill>
                            <a:srgbClr val="253042"/>
                          </a:solidFill>
                          <a:latin typeface="Aptos"/>
                        </a:rPr>
                        <a:t>Strong compression and predicate filtering</a:t>
                      </a:r>
                    </a:p>
                  </a:txBody>
                  <a:tcPr marL="73152" marR="54864" marB="27432">
                    <a:solidFill>
                      <a:srgbClr val="F7F9FC"/>
                    </a:solidFill>
                  </a:tcPr>
                </a:tc>
                <a:tc>
                  <a:txBody>
                    <a:bodyPr/>
                    <a:lstStyle/>
                    <a:p>
                      <a:pPr algn="l"/>
                      <a:r>
                        <a:rPr sz="930" b="0">
                          <a:solidFill>
                            <a:srgbClr val="253042"/>
                          </a:solidFill>
                          <a:latin typeface="Aptos"/>
                        </a:rPr>
                        <a:t>Hive-centric analytics</a:t>
                      </a:r>
                    </a:p>
                  </a:txBody>
                  <a:tcPr marL="73152" marR="54864" marB="27432">
                    <a:solidFill>
                      <a:srgbClr val="F7F9FC"/>
                    </a:solidFill>
                  </a:tcPr>
                </a:tc>
                <a:tc>
                  <a:txBody>
                    <a:bodyPr/>
                    <a:lstStyle/>
                    <a:p>
                      <a:pPr algn="l"/>
                      <a:r>
                        <a:rPr sz="930" b="0">
                          <a:solidFill>
                            <a:srgbClr val="253042"/>
                          </a:solidFill>
                          <a:latin typeface="Aptos"/>
                        </a:rPr>
                        <a:t>Ecosystem preference may vary</a:t>
                      </a:r>
                    </a:p>
                  </a:txBody>
                  <a:tcPr marL="73152" marR="54864" marB="27432">
                    <a:solidFill>
                      <a:srgbClr val="F7F9FC"/>
                    </a:solidFill>
                  </a:tcPr>
                </a:tc>
                <a:extLst>
                  <a:ext uri="{0D108BD9-81ED-4DB2-BD59-A6C34878D82A}">
                    <a16:rowId xmlns:a16="http://schemas.microsoft.com/office/drawing/2014/main" val="10004"/>
                  </a:ext>
                </a:extLst>
              </a:tr>
              <a:tr h="723900">
                <a:tc>
                  <a:txBody>
                    <a:bodyPr/>
                    <a:lstStyle/>
                    <a:p>
                      <a:pPr algn="l"/>
                      <a:r>
                        <a:rPr sz="930" b="0">
                          <a:solidFill>
                            <a:srgbClr val="253042"/>
                          </a:solidFill>
                          <a:latin typeface="Aptos"/>
                        </a:rPr>
                        <a:t>Delta / Iceberg</a:t>
                      </a:r>
                    </a:p>
                  </a:txBody>
                  <a:tcPr marL="73152" marR="54864" marB="27432">
                    <a:solidFill>
                      <a:srgbClr val="FFFFFF"/>
                    </a:solidFill>
                  </a:tcPr>
                </a:tc>
                <a:tc>
                  <a:txBody>
                    <a:bodyPr/>
                    <a:lstStyle/>
                    <a:p>
                      <a:pPr algn="l"/>
                      <a:r>
                        <a:rPr sz="930" b="0">
                          <a:solidFill>
                            <a:srgbClr val="253042"/>
                          </a:solidFill>
                          <a:latin typeface="Aptos"/>
                        </a:rPr>
                        <a:t>Table metadata over data files</a:t>
                      </a:r>
                    </a:p>
                  </a:txBody>
                  <a:tcPr marL="73152" marR="54864" marB="27432">
                    <a:solidFill>
                      <a:srgbClr val="FFFFFF"/>
                    </a:solidFill>
                  </a:tcPr>
                </a:tc>
                <a:tc>
                  <a:txBody>
                    <a:bodyPr/>
                    <a:lstStyle/>
                    <a:p>
                      <a:pPr algn="l"/>
                      <a:r>
                        <a:rPr sz="930" b="0">
                          <a:solidFill>
                            <a:srgbClr val="253042"/>
                          </a:solidFill>
                          <a:latin typeface="Aptos"/>
                        </a:rPr>
                        <a:t>ACID, snapshots, schema/partition evolution</a:t>
                      </a:r>
                    </a:p>
                  </a:txBody>
                  <a:tcPr marL="73152" marR="54864" marB="27432">
                    <a:solidFill>
                      <a:srgbClr val="FFFFFF"/>
                    </a:solidFill>
                  </a:tcPr>
                </a:tc>
                <a:tc>
                  <a:txBody>
                    <a:bodyPr/>
                    <a:lstStyle/>
                    <a:p>
                      <a:pPr algn="l"/>
                      <a:r>
                        <a:rPr sz="930" b="0">
                          <a:solidFill>
                            <a:srgbClr val="253042"/>
                          </a:solidFill>
                          <a:latin typeface="Aptos"/>
                        </a:rPr>
                        <a:t>Managed analytical tables</a:t>
                      </a:r>
                    </a:p>
                  </a:txBody>
                  <a:tcPr marL="73152" marR="54864" marB="27432">
                    <a:solidFill>
                      <a:srgbClr val="FFFFFF"/>
                    </a:solidFill>
                  </a:tcPr>
                </a:tc>
                <a:tc>
                  <a:txBody>
                    <a:bodyPr/>
                    <a:lstStyle/>
                    <a:p>
                      <a:pPr algn="l"/>
                      <a:r>
                        <a:rPr sz="930" b="0">
                          <a:solidFill>
                            <a:srgbClr val="253042"/>
                          </a:solidFill>
                          <a:latin typeface="Aptos"/>
                        </a:rPr>
                        <a:t>Metadata/compaction/version compatibility</a:t>
                      </a:r>
                    </a:p>
                  </a:txBody>
                  <a:tcPr marL="73152" marR="54864" marB="27432">
                    <a:solidFill>
                      <a:srgbClr val="FFFFFF"/>
                    </a:solidFill>
                  </a:tcPr>
                </a:tc>
                <a:extLst>
                  <a:ext uri="{0D108BD9-81ED-4DB2-BD59-A6C34878D82A}">
                    <a16:rowId xmlns:a16="http://schemas.microsoft.com/office/drawing/2014/main" val="10005"/>
                  </a:ext>
                </a:extLst>
              </a:tr>
            </a:tbl>
          </a:graphicData>
        </a:graphic>
      </p:graphicFrame>
      <p:sp>
        <p:nvSpPr>
          <p:cNvPr id="9" name="Rounded Rectangle 8"/>
          <p:cNvSpPr/>
          <p:nvPr/>
        </p:nvSpPr>
        <p:spPr>
          <a:xfrm>
            <a:off x="1234440" y="5870448"/>
            <a:ext cx="9692640" cy="521207"/>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80744" y="5989320"/>
            <a:ext cx="9418319" cy="338327"/>
          </a:xfrm>
          <a:prstGeom prst="rect">
            <a:avLst/>
          </a:prstGeom>
          <a:noFill/>
        </p:spPr>
        <p:txBody>
          <a:bodyPr wrap="none" lIns="45720" rIns="45720" anchor="t">
            <a:spAutoFit/>
          </a:bodyPr>
          <a:lstStyle/>
          <a:p>
            <a:pPr algn="l">
              <a:spcAft>
                <a:spcPts val="0"/>
              </a:spcAft>
            </a:pPr>
            <a:r>
              <a:rPr sz="1100" b="1" i="0">
                <a:solidFill>
                  <a:srgbClr val="0C1930"/>
                </a:solidFill>
                <a:latin typeface="Aptos"/>
              </a:rPr>
              <a:t>Common pairing: Avro/Protobuf on the event bus → Parquet data files inside Delta Lake or Iceberg tables.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STORAGE</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Storage layout: optimize for access patterns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Partitioning is a pruning strategy, not a default checkbox.</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19</a:t>
            </a:r>
          </a:p>
        </p:txBody>
      </p:sp>
      <p:sp>
        <p:nvSpPr>
          <p:cNvPr id="8" name="Rounded Rectangle 7"/>
          <p:cNvSpPr/>
          <p:nvPr/>
        </p:nvSpPr>
        <p:spPr>
          <a:xfrm>
            <a:off x="640080" y="1572768"/>
            <a:ext cx="5257800"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572768"/>
            <a:ext cx="64008" cy="150876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2" y="1700784"/>
            <a:ext cx="489204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Partitioning</a:t>
            </a:r>
          </a:p>
        </p:txBody>
      </p:sp>
      <p:sp>
        <p:nvSpPr>
          <p:cNvPr id="11" name="TextBox 10"/>
          <p:cNvSpPr txBox="1"/>
          <p:nvPr/>
        </p:nvSpPr>
        <p:spPr>
          <a:xfrm>
            <a:off x="850392" y="2167128"/>
            <a:ext cx="4864608" cy="795527"/>
          </a:xfrm>
          <a:prstGeom prst="rect">
            <a:avLst/>
          </a:prstGeom>
          <a:noFill/>
        </p:spPr>
        <p:txBody>
          <a:bodyPr wrap="none" lIns="45720" rIns="45720" anchor="t">
            <a:spAutoFit/>
          </a:bodyPr>
          <a:lstStyle/>
          <a:p>
            <a:pPr algn="l">
              <a:spcAft>
                <a:spcPts val="0"/>
              </a:spcAft>
            </a:pPr>
            <a:r>
              <a:rPr sz="1050" b="0" i="0">
                <a:solidFill>
                  <a:srgbClr val="253042"/>
                </a:solidFill>
                <a:latin typeface="Aptos"/>
              </a:rPr>
              <a:t>Use low/medium-cardinality columns frequently used in filters (often date). Avoid millions of tiny partitions.</a:t>
            </a:r>
          </a:p>
        </p:txBody>
      </p:sp>
      <p:sp>
        <p:nvSpPr>
          <p:cNvPr id="12" name="Rounded Rectangle 11"/>
          <p:cNvSpPr/>
          <p:nvPr/>
        </p:nvSpPr>
        <p:spPr>
          <a:xfrm>
            <a:off x="6263640" y="1572768"/>
            <a:ext cx="5257800"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572768"/>
            <a:ext cx="64008" cy="150876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73952" y="1700784"/>
            <a:ext cx="489204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Clustering / sorting</a:t>
            </a:r>
          </a:p>
        </p:txBody>
      </p:sp>
      <p:sp>
        <p:nvSpPr>
          <p:cNvPr id="15" name="TextBox 14"/>
          <p:cNvSpPr txBox="1"/>
          <p:nvPr/>
        </p:nvSpPr>
        <p:spPr>
          <a:xfrm>
            <a:off x="6473952" y="2167128"/>
            <a:ext cx="4864608" cy="795527"/>
          </a:xfrm>
          <a:prstGeom prst="rect">
            <a:avLst/>
          </a:prstGeom>
          <a:noFill/>
        </p:spPr>
        <p:txBody>
          <a:bodyPr wrap="none" lIns="45720" rIns="45720" anchor="t">
            <a:spAutoFit/>
          </a:bodyPr>
          <a:lstStyle/>
          <a:p>
            <a:pPr algn="l">
              <a:spcAft>
                <a:spcPts val="0"/>
              </a:spcAft>
            </a:pPr>
            <a:r>
              <a:rPr sz="1050" b="0" i="0">
                <a:solidFill>
                  <a:srgbClr val="253042"/>
                </a:solidFill>
                <a:latin typeface="Aptos"/>
              </a:rPr>
              <a:t>Co-locate frequently filtered keys without rigid directory explosion; benefits depend on engine and workload.</a:t>
            </a:r>
          </a:p>
        </p:txBody>
      </p:sp>
      <p:sp>
        <p:nvSpPr>
          <p:cNvPr id="16" name="Rounded Rectangle 15"/>
          <p:cNvSpPr/>
          <p:nvPr/>
        </p:nvSpPr>
        <p:spPr>
          <a:xfrm>
            <a:off x="640080" y="3538728"/>
            <a:ext cx="5257800"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3538728"/>
            <a:ext cx="64008" cy="150876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2" y="3666744"/>
            <a:ext cx="489204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Compaction</a:t>
            </a:r>
          </a:p>
        </p:txBody>
      </p:sp>
      <p:sp>
        <p:nvSpPr>
          <p:cNvPr id="19" name="TextBox 18"/>
          <p:cNvSpPr txBox="1"/>
          <p:nvPr/>
        </p:nvSpPr>
        <p:spPr>
          <a:xfrm>
            <a:off x="850392" y="4133088"/>
            <a:ext cx="4864608" cy="795527"/>
          </a:xfrm>
          <a:prstGeom prst="rect">
            <a:avLst/>
          </a:prstGeom>
          <a:noFill/>
        </p:spPr>
        <p:txBody>
          <a:bodyPr wrap="none" lIns="45720" rIns="45720" anchor="t">
            <a:spAutoFit/>
          </a:bodyPr>
          <a:lstStyle/>
          <a:p>
            <a:pPr algn="l">
              <a:spcAft>
                <a:spcPts val="0"/>
              </a:spcAft>
            </a:pPr>
            <a:r>
              <a:rPr sz="1050" b="0" i="0">
                <a:solidFill>
                  <a:srgbClr val="253042"/>
                </a:solidFill>
                <a:latin typeface="Aptos"/>
              </a:rPr>
              <a:t>Combine small files to improve listing, planning, and read efficiency; schedule around ingestion patterns.</a:t>
            </a:r>
          </a:p>
        </p:txBody>
      </p:sp>
      <p:sp>
        <p:nvSpPr>
          <p:cNvPr id="20" name="Rounded Rectangle 19"/>
          <p:cNvSpPr/>
          <p:nvPr/>
        </p:nvSpPr>
        <p:spPr>
          <a:xfrm>
            <a:off x="6263640" y="3538728"/>
            <a:ext cx="5257800"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3538728"/>
            <a:ext cx="64008" cy="150876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73952" y="3666744"/>
            <a:ext cx="489204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Metadata maintenance</a:t>
            </a:r>
          </a:p>
        </p:txBody>
      </p:sp>
      <p:sp>
        <p:nvSpPr>
          <p:cNvPr id="23" name="TextBox 22"/>
          <p:cNvSpPr txBox="1"/>
          <p:nvPr/>
        </p:nvSpPr>
        <p:spPr>
          <a:xfrm>
            <a:off x="6473952" y="4133088"/>
            <a:ext cx="4864608" cy="795527"/>
          </a:xfrm>
          <a:prstGeom prst="rect">
            <a:avLst/>
          </a:prstGeom>
          <a:noFill/>
        </p:spPr>
        <p:txBody>
          <a:bodyPr wrap="none" lIns="45720" rIns="45720" anchor="t">
            <a:spAutoFit/>
          </a:bodyPr>
          <a:lstStyle/>
          <a:p>
            <a:pPr algn="l">
              <a:spcAft>
                <a:spcPts val="0"/>
              </a:spcAft>
            </a:pPr>
            <a:r>
              <a:rPr sz="1050" b="0" i="0">
                <a:solidFill>
                  <a:srgbClr val="253042"/>
                </a:solidFill>
                <a:latin typeface="Aptos"/>
              </a:rPr>
              <a:t>Expire snapshots safely, vacuum only beyond replay/time-travel needs, and monitor manifest/log growth.</a:t>
            </a:r>
          </a:p>
        </p:txBody>
      </p:sp>
      <p:sp>
        <p:nvSpPr>
          <p:cNvPr id="24" name="Rounded Rectangle 23"/>
          <p:cNvSpPr/>
          <p:nvPr/>
        </p:nvSpPr>
        <p:spPr>
          <a:xfrm>
            <a:off x="1005840" y="5623560"/>
            <a:ext cx="10149840" cy="621792"/>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52144" y="5742432"/>
            <a:ext cx="9875519" cy="438912"/>
          </a:xfrm>
          <a:prstGeom prst="rect">
            <a:avLst/>
          </a:prstGeom>
          <a:noFill/>
        </p:spPr>
        <p:txBody>
          <a:bodyPr wrap="none" lIns="45720" rIns="45720" anchor="t">
            <a:spAutoFit/>
          </a:bodyPr>
          <a:lstStyle/>
          <a:p>
            <a:pPr algn="l">
              <a:spcAft>
                <a:spcPts val="0"/>
              </a:spcAft>
            </a:pPr>
            <a:r>
              <a:rPr sz="1100" b="1" i="0">
                <a:solidFill>
                  <a:srgbClr val="0C1930"/>
                </a:solidFill>
                <a:latin typeface="Aptos"/>
              </a:rPr>
              <a:t>Explain the read path: filter → partition pruning → file/data skipping → column pruning → decompression. Then show how layout reduces bytes scanned.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QUALITY &amp; OBSERVABILITY</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5 — Data quality by layer</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Quality checks should have owners, thresholds, actions, and measured outcomes.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20</a:t>
            </a:r>
          </a:p>
        </p:txBody>
      </p:sp>
      <p:sp>
        <p:nvSpPr>
          <p:cNvPr id="8" name="Rounded Rectangle 7"/>
          <p:cNvSpPr/>
          <p:nvPr/>
        </p:nvSpPr>
        <p:spPr>
          <a:xfrm>
            <a:off x="640080" y="1600200"/>
            <a:ext cx="3474720" cy="4069080"/>
          </a:xfrm>
          <a:prstGeom prst="roundRect">
            <a:avLst/>
          </a:prstGeom>
          <a:solidFill>
            <a:srgbClr val="FFFFFF"/>
          </a:solidFill>
          <a:ln w="1651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0080" y="1600200"/>
            <a:ext cx="3474720" cy="585216"/>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792224"/>
            <a:ext cx="3474720" cy="182880"/>
          </a:xfrm>
          <a:prstGeom prst="rect">
            <a:avLst/>
          </a:prstGeom>
          <a:noFill/>
        </p:spPr>
        <p:txBody>
          <a:bodyPr wrap="none" lIns="45720" rIns="45720" anchor="t">
            <a:spAutoFit/>
          </a:bodyPr>
          <a:lstStyle/>
          <a:p>
            <a:pPr algn="ctr">
              <a:spcAft>
                <a:spcPts val="0"/>
              </a:spcAft>
            </a:pPr>
            <a:r>
              <a:rPr sz="1400" b="1" i="0">
                <a:solidFill>
                  <a:srgbClr val="FFFFFF"/>
                </a:solidFill>
                <a:latin typeface="Aptos"/>
              </a:rPr>
              <a:t>BRONZE</a:t>
            </a:r>
          </a:p>
        </p:txBody>
      </p:sp>
      <p:sp>
        <p:nvSpPr>
          <p:cNvPr id="11" name="TextBox 10"/>
          <p:cNvSpPr txBox="1"/>
          <p:nvPr/>
        </p:nvSpPr>
        <p:spPr>
          <a:xfrm>
            <a:off x="868680" y="2468880"/>
            <a:ext cx="3017520" cy="502920"/>
          </a:xfrm>
          <a:prstGeom prst="rect">
            <a:avLst/>
          </a:prstGeom>
          <a:noFill/>
        </p:spPr>
        <p:txBody>
          <a:bodyPr wrap="none" lIns="45720" rIns="45720" anchor="t">
            <a:spAutoFit/>
          </a:bodyPr>
          <a:lstStyle/>
          <a:p>
            <a:pPr algn="ctr">
              <a:spcAft>
                <a:spcPts val="0"/>
              </a:spcAft>
            </a:pPr>
            <a:r>
              <a:rPr sz="1300" b="1" i="0">
                <a:solidFill>
                  <a:srgbClr val="0C1930"/>
                </a:solidFill>
                <a:latin typeface="Aptos"/>
              </a:rPr>
              <a:t>Can we ingest and replay?</a:t>
            </a:r>
          </a:p>
        </p:txBody>
      </p:sp>
      <p:sp>
        <p:nvSpPr>
          <p:cNvPr id="12" name="TextBox 11"/>
          <p:cNvSpPr txBox="1"/>
          <p:nvPr/>
        </p:nvSpPr>
        <p:spPr>
          <a:xfrm>
            <a:off x="1024127" y="3246120"/>
            <a:ext cx="2788920" cy="1691640"/>
          </a:xfrm>
          <a:prstGeom prst="rect">
            <a:avLst/>
          </a:prstGeom>
          <a:noFill/>
        </p:spPr>
        <p:txBody>
          <a:bodyPr wrap="none" lIns="64008" tIns="27432" rIns="36576" bIns="27432">
            <a:spAutoFit/>
          </a:bodyPr>
          <a:lstStyle/>
          <a:p>
            <a:pPr>
              <a:lnSpc>
                <a:spcPct val="105000"/>
              </a:lnSpc>
              <a:spcAft>
                <a:spcPts val="800"/>
              </a:spcAft>
            </a:pPr>
            <a:r>
              <a:rPr b="1">
                <a:solidFill>
                  <a:srgbClr val="B16F3F"/>
                </a:solidFill>
              </a:rPr>
              <a:t>• </a:t>
            </a:r>
            <a:r>
              <a:rPr sz="1100">
                <a:solidFill>
                  <a:srgbClr val="253042"/>
                </a:solidFill>
                <a:latin typeface="Aptos"/>
              </a:rPr>
              <a:t>Parse success rate</a:t>
            </a:r>
          </a:p>
          <a:p>
            <a:pPr>
              <a:lnSpc>
                <a:spcPct val="105000"/>
              </a:lnSpc>
              <a:spcAft>
                <a:spcPts val="800"/>
              </a:spcAft>
            </a:pPr>
            <a:r>
              <a:rPr b="1">
                <a:solidFill>
                  <a:srgbClr val="B16F3F"/>
                </a:solidFill>
              </a:rPr>
              <a:t>• </a:t>
            </a:r>
            <a:r>
              <a:rPr sz="1100">
                <a:solidFill>
                  <a:srgbClr val="253042"/>
                </a:solidFill>
                <a:latin typeface="Aptos"/>
              </a:rPr>
              <a:t>Required envelope fields</a:t>
            </a:r>
          </a:p>
          <a:p>
            <a:pPr>
              <a:lnSpc>
                <a:spcPct val="105000"/>
              </a:lnSpc>
              <a:spcAft>
                <a:spcPts val="800"/>
              </a:spcAft>
            </a:pPr>
            <a:r>
              <a:rPr b="1">
                <a:solidFill>
                  <a:srgbClr val="B16F3F"/>
                </a:solidFill>
              </a:rPr>
              <a:t>• </a:t>
            </a:r>
            <a:r>
              <a:rPr sz="1100">
                <a:solidFill>
                  <a:srgbClr val="253042"/>
                </a:solidFill>
                <a:latin typeface="Aptos"/>
              </a:rPr>
              <a:t>Source count / checksum</a:t>
            </a:r>
          </a:p>
          <a:p>
            <a:pPr>
              <a:lnSpc>
                <a:spcPct val="105000"/>
              </a:lnSpc>
              <a:spcAft>
                <a:spcPts val="800"/>
              </a:spcAft>
            </a:pPr>
            <a:r>
              <a:rPr b="1">
                <a:solidFill>
                  <a:srgbClr val="B16F3F"/>
                </a:solidFill>
              </a:rPr>
              <a:t>• </a:t>
            </a:r>
            <a:r>
              <a:rPr sz="1100">
                <a:solidFill>
                  <a:srgbClr val="253042"/>
                </a:solidFill>
                <a:latin typeface="Aptos"/>
              </a:rPr>
              <a:t>Quarantine malformed data</a:t>
            </a:r>
          </a:p>
        </p:txBody>
      </p:sp>
      <p:sp>
        <p:nvSpPr>
          <p:cNvPr id="13" name="Rounded Rectangle 12"/>
          <p:cNvSpPr/>
          <p:nvPr/>
        </p:nvSpPr>
        <p:spPr>
          <a:xfrm>
            <a:off x="1581912" y="5138928"/>
            <a:ext cx="1600200" cy="310896"/>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581912" y="5189220"/>
            <a:ext cx="1600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Alert + retain</a:t>
            </a:r>
          </a:p>
        </p:txBody>
      </p:sp>
      <p:sp>
        <p:nvSpPr>
          <p:cNvPr id="15" name="Rounded Rectangle 14"/>
          <p:cNvSpPr/>
          <p:nvPr/>
        </p:nvSpPr>
        <p:spPr>
          <a:xfrm>
            <a:off x="4480560" y="1600200"/>
            <a:ext cx="3474720" cy="4069080"/>
          </a:xfrm>
          <a:prstGeom prst="roundRect">
            <a:avLst/>
          </a:prstGeom>
          <a:solidFill>
            <a:srgbClr val="FFFFFF"/>
          </a:solidFill>
          <a:ln w="1651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480560" y="1600200"/>
            <a:ext cx="3474720" cy="585216"/>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80560" y="1792224"/>
            <a:ext cx="3474720" cy="18288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SILVER</a:t>
            </a:r>
          </a:p>
        </p:txBody>
      </p:sp>
      <p:sp>
        <p:nvSpPr>
          <p:cNvPr id="18" name="TextBox 17"/>
          <p:cNvSpPr txBox="1"/>
          <p:nvPr/>
        </p:nvSpPr>
        <p:spPr>
          <a:xfrm>
            <a:off x="4709160" y="2468880"/>
            <a:ext cx="3017520" cy="502920"/>
          </a:xfrm>
          <a:prstGeom prst="rect">
            <a:avLst/>
          </a:prstGeom>
          <a:noFill/>
        </p:spPr>
        <p:txBody>
          <a:bodyPr wrap="none" lIns="45720" rIns="45720" anchor="t">
            <a:spAutoFit/>
          </a:bodyPr>
          <a:lstStyle/>
          <a:p>
            <a:pPr algn="ctr">
              <a:spcAft>
                <a:spcPts val="0"/>
              </a:spcAft>
            </a:pPr>
            <a:r>
              <a:rPr sz="1300" b="1" i="0">
                <a:solidFill>
                  <a:srgbClr val="0C1930"/>
                </a:solidFill>
                <a:latin typeface="Aptos"/>
              </a:rPr>
              <a:t>Is it trustworthy?</a:t>
            </a:r>
          </a:p>
        </p:txBody>
      </p:sp>
      <p:sp>
        <p:nvSpPr>
          <p:cNvPr id="19" name="TextBox 18"/>
          <p:cNvSpPr txBox="1"/>
          <p:nvPr/>
        </p:nvSpPr>
        <p:spPr>
          <a:xfrm>
            <a:off x="4864608" y="3246120"/>
            <a:ext cx="2788920" cy="1691640"/>
          </a:xfrm>
          <a:prstGeom prst="rect">
            <a:avLst/>
          </a:prstGeom>
          <a:noFill/>
        </p:spPr>
        <p:txBody>
          <a:bodyPr wrap="none" lIns="64008" tIns="27432" rIns="36576" bIns="27432">
            <a:spAutoFit/>
          </a:bodyPr>
          <a:lstStyle/>
          <a:p>
            <a:pPr>
              <a:lnSpc>
                <a:spcPct val="105000"/>
              </a:lnSpc>
              <a:spcAft>
                <a:spcPts val="800"/>
              </a:spcAft>
            </a:pPr>
            <a:r>
              <a:rPr b="1">
                <a:solidFill>
                  <a:srgbClr val="9AA4B0"/>
                </a:solidFill>
              </a:rPr>
              <a:t>• </a:t>
            </a:r>
            <a:r>
              <a:rPr sz="1100">
                <a:solidFill>
                  <a:srgbClr val="253042"/>
                </a:solidFill>
                <a:latin typeface="Aptos"/>
              </a:rPr>
              <a:t>Uniqueness and dedupe</a:t>
            </a:r>
          </a:p>
          <a:p>
            <a:pPr>
              <a:lnSpc>
                <a:spcPct val="105000"/>
              </a:lnSpc>
              <a:spcAft>
                <a:spcPts val="800"/>
              </a:spcAft>
            </a:pPr>
            <a:r>
              <a:rPr b="1">
                <a:solidFill>
                  <a:srgbClr val="9AA4B0"/>
                </a:solidFill>
              </a:rPr>
              <a:t>• </a:t>
            </a:r>
            <a:r>
              <a:rPr sz="1100">
                <a:solidFill>
                  <a:srgbClr val="253042"/>
                </a:solidFill>
                <a:latin typeface="Aptos"/>
              </a:rPr>
              <a:t>Type/domain validity</a:t>
            </a:r>
          </a:p>
          <a:p>
            <a:pPr>
              <a:lnSpc>
                <a:spcPct val="105000"/>
              </a:lnSpc>
              <a:spcAft>
                <a:spcPts val="800"/>
              </a:spcAft>
            </a:pPr>
            <a:r>
              <a:rPr b="1">
                <a:solidFill>
                  <a:srgbClr val="9AA4B0"/>
                </a:solidFill>
              </a:rPr>
              <a:t>• </a:t>
            </a:r>
            <a:r>
              <a:rPr sz="1100">
                <a:solidFill>
                  <a:srgbClr val="253042"/>
                </a:solidFill>
                <a:latin typeface="Aptos"/>
              </a:rPr>
              <a:t>Referential integrity</a:t>
            </a:r>
          </a:p>
          <a:p>
            <a:pPr>
              <a:lnSpc>
                <a:spcPct val="105000"/>
              </a:lnSpc>
              <a:spcAft>
                <a:spcPts val="800"/>
              </a:spcAft>
            </a:pPr>
            <a:r>
              <a:rPr b="1">
                <a:solidFill>
                  <a:srgbClr val="9AA4B0"/>
                </a:solidFill>
              </a:rPr>
              <a:t>• </a:t>
            </a:r>
            <a:r>
              <a:rPr sz="1100">
                <a:solidFill>
                  <a:srgbClr val="253042"/>
                </a:solidFill>
                <a:latin typeface="Aptos"/>
              </a:rPr>
              <a:t>Freshness and completeness</a:t>
            </a:r>
          </a:p>
        </p:txBody>
      </p:sp>
      <p:sp>
        <p:nvSpPr>
          <p:cNvPr id="20" name="Rounded Rectangle 19"/>
          <p:cNvSpPr/>
          <p:nvPr/>
        </p:nvSpPr>
        <p:spPr>
          <a:xfrm>
            <a:off x="5422392" y="5138928"/>
            <a:ext cx="1600200" cy="310896"/>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22392" y="5189220"/>
            <a:ext cx="160020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Block/quarantine</a:t>
            </a:r>
          </a:p>
        </p:txBody>
      </p:sp>
      <p:sp>
        <p:nvSpPr>
          <p:cNvPr id="22" name="Rounded Rectangle 21"/>
          <p:cNvSpPr/>
          <p:nvPr/>
        </p:nvSpPr>
        <p:spPr>
          <a:xfrm>
            <a:off x="8321040" y="1600200"/>
            <a:ext cx="3474720" cy="4069080"/>
          </a:xfrm>
          <a:prstGeom prst="roundRect">
            <a:avLst/>
          </a:prstGeom>
          <a:solidFill>
            <a:srgbClr val="FFFFFF"/>
          </a:solidFill>
          <a:ln w="1651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321040" y="1600200"/>
            <a:ext cx="3474720" cy="585216"/>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1792224"/>
            <a:ext cx="3474720" cy="182880"/>
          </a:xfrm>
          <a:prstGeom prst="rect">
            <a:avLst/>
          </a:prstGeom>
          <a:noFill/>
        </p:spPr>
        <p:txBody>
          <a:bodyPr wrap="none" lIns="45720" rIns="45720" anchor="t">
            <a:spAutoFit/>
          </a:bodyPr>
          <a:lstStyle/>
          <a:p>
            <a:pPr algn="ctr">
              <a:spcAft>
                <a:spcPts val="0"/>
              </a:spcAft>
            </a:pPr>
            <a:r>
              <a:rPr sz="1400" b="1" i="0">
                <a:solidFill>
                  <a:srgbClr val="FFFFFF"/>
                </a:solidFill>
                <a:latin typeface="Aptos"/>
              </a:rPr>
              <a:t>GOLD</a:t>
            </a:r>
          </a:p>
        </p:txBody>
      </p:sp>
      <p:sp>
        <p:nvSpPr>
          <p:cNvPr id="25" name="TextBox 24"/>
          <p:cNvSpPr txBox="1"/>
          <p:nvPr/>
        </p:nvSpPr>
        <p:spPr>
          <a:xfrm>
            <a:off x="8549640" y="2468880"/>
            <a:ext cx="3017520" cy="502920"/>
          </a:xfrm>
          <a:prstGeom prst="rect">
            <a:avLst/>
          </a:prstGeom>
          <a:noFill/>
        </p:spPr>
        <p:txBody>
          <a:bodyPr wrap="none" lIns="45720" rIns="45720" anchor="t">
            <a:spAutoFit/>
          </a:bodyPr>
          <a:lstStyle/>
          <a:p>
            <a:pPr algn="ctr">
              <a:spcAft>
                <a:spcPts val="0"/>
              </a:spcAft>
            </a:pPr>
            <a:r>
              <a:rPr sz="1300" b="1" i="0">
                <a:solidFill>
                  <a:srgbClr val="0C1930"/>
                </a:solidFill>
                <a:latin typeface="Aptos"/>
              </a:rPr>
              <a:t>Is it fit for business?</a:t>
            </a:r>
          </a:p>
        </p:txBody>
      </p:sp>
      <p:sp>
        <p:nvSpPr>
          <p:cNvPr id="26" name="TextBox 25"/>
          <p:cNvSpPr txBox="1"/>
          <p:nvPr/>
        </p:nvSpPr>
        <p:spPr>
          <a:xfrm>
            <a:off x="8705088" y="3246120"/>
            <a:ext cx="2788920" cy="1691640"/>
          </a:xfrm>
          <a:prstGeom prst="rect">
            <a:avLst/>
          </a:prstGeom>
          <a:noFill/>
        </p:spPr>
        <p:txBody>
          <a:bodyPr wrap="none" lIns="64008" tIns="27432" rIns="36576" bIns="27432">
            <a:spAutoFit/>
          </a:bodyPr>
          <a:lstStyle/>
          <a:p>
            <a:pPr>
              <a:lnSpc>
                <a:spcPct val="105000"/>
              </a:lnSpc>
              <a:spcAft>
                <a:spcPts val="800"/>
              </a:spcAft>
            </a:pPr>
            <a:r>
              <a:rPr b="1">
                <a:solidFill>
                  <a:srgbClr val="D6A22A"/>
                </a:solidFill>
              </a:rPr>
              <a:t>• </a:t>
            </a:r>
            <a:r>
              <a:rPr sz="1100">
                <a:solidFill>
                  <a:srgbClr val="253042"/>
                </a:solidFill>
                <a:latin typeface="Aptos"/>
              </a:rPr>
              <a:t>Metric reconciliation</a:t>
            </a:r>
          </a:p>
          <a:p>
            <a:pPr>
              <a:lnSpc>
                <a:spcPct val="105000"/>
              </a:lnSpc>
              <a:spcAft>
                <a:spcPts val="800"/>
              </a:spcAft>
            </a:pPr>
            <a:r>
              <a:rPr b="1">
                <a:solidFill>
                  <a:srgbClr val="D6A22A"/>
                </a:solidFill>
              </a:rPr>
              <a:t>• </a:t>
            </a:r>
            <a:r>
              <a:rPr sz="1100">
                <a:solidFill>
                  <a:srgbClr val="253042"/>
                </a:solidFill>
                <a:latin typeface="Aptos"/>
              </a:rPr>
              <a:t>Business invariants</a:t>
            </a:r>
          </a:p>
          <a:p>
            <a:pPr>
              <a:lnSpc>
                <a:spcPct val="105000"/>
              </a:lnSpc>
              <a:spcAft>
                <a:spcPts val="800"/>
              </a:spcAft>
            </a:pPr>
            <a:r>
              <a:rPr b="1">
                <a:solidFill>
                  <a:srgbClr val="D6A22A"/>
                </a:solidFill>
              </a:rPr>
              <a:t>• </a:t>
            </a:r>
            <a:r>
              <a:rPr sz="1100">
                <a:solidFill>
                  <a:srgbClr val="253042"/>
                </a:solidFill>
                <a:latin typeface="Aptos"/>
              </a:rPr>
              <a:t>SLA and anomaly checks</a:t>
            </a:r>
          </a:p>
          <a:p>
            <a:pPr>
              <a:lnSpc>
                <a:spcPct val="105000"/>
              </a:lnSpc>
              <a:spcAft>
                <a:spcPts val="800"/>
              </a:spcAft>
            </a:pPr>
            <a:r>
              <a:rPr b="1">
                <a:solidFill>
                  <a:srgbClr val="D6A22A"/>
                </a:solidFill>
              </a:rPr>
              <a:t>• </a:t>
            </a:r>
            <a:r>
              <a:rPr sz="1100">
                <a:solidFill>
                  <a:srgbClr val="253042"/>
                </a:solidFill>
                <a:latin typeface="Aptos"/>
              </a:rPr>
              <a:t>Consumer contract tests</a:t>
            </a:r>
          </a:p>
        </p:txBody>
      </p:sp>
      <p:sp>
        <p:nvSpPr>
          <p:cNvPr id="27" name="Rounded Rectangle 26"/>
          <p:cNvSpPr/>
          <p:nvPr/>
        </p:nvSpPr>
        <p:spPr>
          <a:xfrm>
            <a:off x="9262872" y="5138928"/>
            <a:ext cx="1600200" cy="310896"/>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62872" y="5189220"/>
            <a:ext cx="1600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Hold publication</a:t>
            </a:r>
          </a:p>
        </p:txBody>
      </p:sp>
      <p:sp>
        <p:nvSpPr>
          <p:cNvPr id="29" name="TextBox 28"/>
          <p:cNvSpPr txBox="1"/>
          <p:nvPr/>
        </p:nvSpPr>
        <p:spPr>
          <a:xfrm>
            <a:off x="914400" y="5916168"/>
            <a:ext cx="10332720" cy="246888"/>
          </a:xfrm>
          <a:prstGeom prst="rect">
            <a:avLst/>
          </a:prstGeom>
          <a:noFill/>
        </p:spPr>
        <p:txBody>
          <a:bodyPr wrap="none" lIns="45720" rIns="45720" anchor="t">
            <a:spAutoFit/>
          </a:bodyPr>
          <a:lstStyle/>
          <a:p>
            <a:pPr algn="ctr">
              <a:spcAft>
                <a:spcPts val="0"/>
              </a:spcAft>
            </a:pPr>
            <a:r>
              <a:rPr sz="1050" b="1" i="0">
                <a:solidFill>
                  <a:srgbClr val="007874"/>
                </a:solidFill>
                <a:latin typeface="Aptos"/>
              </a:rPr>
              <a:t>Dimensions: completeness • accuracy • consistency • freshness • uniqueness • validity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QUALITY &amp; OBSERVABILITY</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Data contracts shift failures left</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 contract aligns producers and consumers before incompatible data reaches production.</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21</a:t>
            </a:r>
          </a:p>
        </p:txBody>
      </p:sp>
      <p:sp>
        <p:nvSpPr>
          <p:cNvPr id="8" name="Rounded Rectangle 7"/>
          <p:cNvSpPr/>
          <p:nvPr/>
        </p:nvSpPr>
        <p:spPr>
          <a:xfrm>
            <a:off x="640080" y="1536192"/>
            <a:ext cx="50292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536192"/>
            <a:ext cx="64008" cy="86868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2" y="1664207"/>
            <a:ext cx="46634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Schema</a:t>
            </a:r>
          </a:p>
        </p:txBody>
      </p:sp>
      <p:sp>
        <p:nvSpPr>
          <p:cNvPr id="11" name="TextBox 10"/>
          <p:cNvSpPr txBox="1"/>
          <p:nvPr/>
        </p:nvSpPr>
        <p:spPr>
          <a:xfrm>
            <a:off x="850392" y="2130552"/>
            <a:ext cx="4636008" cy="155447"/>
          </a:xfrm>
          <a:prstGeom prst="rect">
            <a:avLst/>
          </a:prstGeom>
          <a:noFill/>
        </p:spPr>
        <p:txBody>
          <a:bodyPr wrap="none" lIns="45720" rIns="45720" anchor="t">
            <a:spAutoFit/>
          </a:bodyPr>
          <a:lstStyle/>
          <a:p>
            <a:pPr algn="l">
              <a:spcAft>
                <a:spcPts val="0"/>
              </a:spcAft>
            </a:pPr>
            <a:r>
              <a:rPr sz="950" b="0" i="0">
                <a:solidFill>
                  <a:srgbClr val="253042"/>
                </a:solidFill>
                <a:latin typeface="Aptos"/>
              </a:rPr>
              <a:t>Field names, types, nullability, compatibility mode</a:t>
            </a:r>
          </a:p>
        </p:txBody>
      </p:sp>
      <p:sp>
        <p:nvSpPr>
          <p:cNvPr id="12" name="Rounded Rectangle 11"/>
          <p:cNvSpPr/>
          <p:nvPr/>
        </p:nvSpPr>
        <p:spPr>
          <a:xfrm>
            <a:off x="640080" y="2587752"/>
            <a:ext cx="50292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 y="2587752"/>
            <a:ext cx="64008" cy="86868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0392" y="2715768"/>
            <a:ext cx="46634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Semantics</a:t>
            </a:r>
          </a:p>
        </p:txBody>
      </p:sp>
      <p:sp>
        <p:nvSpPr>
          <p:cNvPr id="15" name="TextBox 14"/>
          <p:cNvSpPr txBox="1"/>
          <p:nvPr/>
        </p:nvSpPr>
        <p:spPr>
          <a:xfrm>
            <a:off x="850392" y="3182112"/>
            <a:ext cx="4636008" cy="155447"/>
          </a:xfrm>
          <a:prstGeom prst="rect">
            <a:avLst/>
          </a:prstGeom>
          <a:noFill/>
        </p:spPr>
        <p:txBody>
          <a:bodyPr wrap="none" lIns="45720" rIns="45720" anchor="t">
            <a:spAutoFit/>
          </a:bodyPr>
          <a:lstStyle/>
          <a:p>
            <a:pPr algn="l">
              <a:spcAft>
                <a:spcPts val="0"/>
              </a:spcAft>
            </a:pPr>
            <a:r>
              <a:rPr sz="950" b="0" i="0">
                <a:solidFill>
                  <a:srgbClr val="253042"/>
                </a:solidFill>
                <a:latin typeface="Aptos"/>
              </a:rPr>
              <a:t>Meaning, units, event lifecycle, allowed values</a:t>
            </a:r>
          </a:p>
        </p:txBody>
      </p:sp>
      <p:sp>
        <p:nvSpPr>
          <p:cNvPr id="16" name="Rounded Rectangle 15"/>
          <p:cNvSpPr/>
          <p:nvPr/>
        </p:nvSpPr>
        <p:spPr>
          <a:xfrm>
            <a:off x="640080" y="3639311"/>
            <a:ext cx="50292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3639311"/>
            <a:ext cx="64008" cy="86868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2" y="3767327"/>
            <a:ext cx="46634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SLOs</a:t>
            </a:r>
          </a:p>
        </p:txBody>
      </p:sp>
      <p:sp>
        <p:nvSpPr>
          <p:cNvPr id="19" name="TextBox 18"/>
          <p:cNvSpPr txBox="1"/>
          <p:nvPr/>
        </p:nvSpPr>
        <p:spPr>
          <a:xfrm>
            <a:off x="850392" y="4233672"/>
            <a:ext cx="4636008" cy="155447"/>
          </a:xfrm>
          <a:prstGeom prst="rect">
            <a:avLst/>
          </a:prstGeom>
          <a:noFill/>
        </p:spPr>
        <p:txBody>
          <a:bodyPr wrap="none" lIns="45720" rIns="45720" anchor="t">
            <a:spAutoFit/>
          </a:bodyPr>
          <a:lstStyle/>
          <a:p>
            <a:pPr algn="l">
              <a:spcAft>
                <a:spcPts val="0"/>
              </a:spcAft>
            </a:pPr>
            <a:r>
              <a:rPr sz="950" b="0" i="0">
                <a:solidFill>
                  <a:srgbClr val="253042"/>
                </a:solidFill>
                <a:latin typeface="Aptos"/>
              </a:rPr>
              <a:t>Freshness, completeness, availability, support hours</a:t>
            </a:r>
          </a:p>
        </p:txBody>
      </p:sp>
      <p:sp>
        <p:nvSpPr>
          <p:cNvPr id="20" name="Rounded Rectangle 19"/>
          <p:cNvSpPr/>
          <p:nvPr/>
        </p:nvSpPr>
        <p:spPr>
          <a:xfrm>
            <a:off x="640080" y="4690872"/>
            <a:ext cx="50292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40080" y="4690872"/>
            <a:ext cx="64008" cy="86868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0392" y="4818888"/>
            <a:ext cx="46634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Ownership</a:t>
            </a:r>
          </a:p>
        </p:txBody>
      </p:sp>
      <p:sp>
        <p:nvSpPr>
          <p:cNvPr id="23" name="TextBox 22"/>
          <p:cNvSpPr txBox="1"/>
          <p:nvPr/>
        </p:nvSpPr>
        <p:spPr>
          <a:xfrm>
            <a:off x="850392" y="5285232"/>
            <a:ext cx="4636008" cy="155447"/>
          </a:xfrm>
          <a:prstGeom prst="rect">
            <a:avLst/>
          </a:prstGeom>
          <a:noFill/>
        </p:spPr>
        <p:txBody>
          <a:bodyPr wrap="none" lIns="45720" rIns="45720" anchor="t">
            <a:spAutoFit/>
          </a:bodyPr>
          <a:lstStyle/>
          <a:p>
            <a:pPr algn="l">
              <a:spcAft>
                <a:spcPts val="0"/>
              </a:spcAft>
            </a:pPr>
            <a:r>
              <a:rPr sz="950" b="0" i="0">
                <a:solidFill>
                  <a:srgbClr val="253042"/>
                </a:solidFill>
                <a:latin typeface="Aptos"/>
              </a:rPr>
              <a:t>Producer, consumer, escalation, change approval</a:t>
            </a:r>
          </a:p>
        </p:txBody>
      </p:sp>
      <p:sp>
        <p:nvSpPr>
          <p:cNvPr id="24" name="TextBox 23"/>
          <p:cNvSpPr txBox="1"/>
          <p:nvPr/>
        </p:nvSpPr>
        <p:spPr>
          <a:xfrm>
            <a:off x="6172200" y="1600200"/>
            <a:ext cx="5120640" cy="292608"/>
          </a:xfrm>
          <a:prstGeom prst="rect">
            <a:avLst/>
          </a:prstGeom>
          <a:noFill/>
        </p:spPr>
        <p:txBody>
          <a:bodyPr wrap="none" lIns="45720" rIns="45720" anchor="t">
            <a:spAutoFit/>
          </a:bodyPr>
          <a:lstStyle/>
          <a:p>
            <a:pPr algn="ctr">
              <a:spcAft>
                <a:spcPts val="0"/>
              </a:spcAft>
            </a:pPr>
            <a:r>
              <a:rPr sz="1500" b="1" i="0">
                <a:solidFill>
                  <a:srgbClr val="0C1930"/>
                </a:solidFill>
                <a:latin typeface="Aptos"/>
              </a:rPr>
              <a:t>Contract enforcement path</a:t>
            </a:r>
          </a:p>
        </p:txBody>
      </p:sp>
      <p:sp>
        <p:nvSpPr>
          <p:cNvPr id="25" name="Rounded Rectangle 24"/>
          <p:cNvSpPr/>
          <p:nvPr/>
        </p:nvSpPr>
        <p:spPr>
          <a:xfrm>
            <a:off x="6400800" y="2212848"/>
            <a:ext cx="1234440" cy="73152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10528" y="2322576"/>
            <a:ext cx="101498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Producer</a:t>
            </a:r>
          </a:p>
        </p:txBody>
      </p:sp>
      <p:sp>
        <p:nvSpPr>
          <p:cNvPr id="27" name="TextBox 26"/>
          <p:cNvSpPr txBox="1"/>
          <p:nvPr/>
        </p:nvSpPr>
        <p:spPr>
          <a:xfrm>
            <a:off x="6510528" y="2642615"/>
            <a:ext cx="1014984" cy="2286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CI validation</a:t>
            </a:r>
          </a:p>
        </p:txBody>
      </p:sp>
      <p:sp>
        <p:nvSpPr>
          <p:cNvPr id="28" name="Rounded Rectangle 27"/>
          <p:cNvSpPr/>
          <p:nvPr/>
        </p:nvSpPr>
        <p:spPr>
          <a:xfrm>
            <a:off x="8229600" y="2212848"/>
            <a:ext cx="1234440" cy="73152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39327" y="2322576"/>
            <a:ext cx="101498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Registry</a:t>
            </a:r>
          </a:p>
        </p:txBody>
      </p:sp>
      <p:sp>
        <p:nvSpPr>
          <p:cNvPr id="30" name="TextBox 29"/>
          <p:cNvSpPr txBox="1"/>
          <p:nvPr/>
        </p:nvSpPr>
        <p:spPr>
          <a:xfrm>
            <a:off x="8339327" y="2642615"/>
            <a:ext cx="1014984" cy="2286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compatibility</a:t>
            </a:r>
          </a:p>
        </p:txBody>
      </p:sp>
      <p:sp>
        <p:nvSpPr>
          <p:cNvPr id="31" name="Rounded Rectangle 30"/>
          <p:cNvSpPr/>
          <p:nvPr/>
        </p:nvSpPr>
        <p:spPr>
          <a:xfrm>
            <a:off x="10058400" y="2212848"/>
            <a:ext cx="1234440" cy="73152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168128" y="2322576"/>
            <a:ext cx="101498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Consumer</a:t>
            </a:r>
          </a:p>
        </p:txBody>
      </p:sp>
      <p:sp>
        <p:nvSpPr>
          <p:cNvPr id="33" name="TextBox 32"/>
          <p:cNvSpPr txBox="1"/>
          <p:nvPr/>
        </p:nvSpPr>
        <p:spPr>
          <a:xfrm>
            <a:off x="10168128" y="2642615"/>
            <a:ext cx="1014984" cy="2286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contract test</a:t>
            </a:r>
          </a:p>
        </p:txBody>
      </p:sp>
      <p:cxnSp>
        <p:nvCxnSpPr>
          <p:cNvPr id="34" name="Connector 33"/>
          <p:cNvCxnSpPr/>
          <p:nvPr/>
        </p:nvCxnSpPr>
        <p:spPr>
          <a:xfrm>
            <a:off x="7662672" y="2578608"/>
            <a:ext cx="521207" cy="0"/>
          </a:xfrm>
          <a:prstGeom prst="line">
            <a:avLst/>
          </a:prstGeom>
          <a:ln w="1905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491472" y="2578608"/>
            <a:ext cx="521208" cy="0"/>
          </a:xfrm>
          <a:prstGeom prst="line">
            <a:avLst/>
          </a:prstGeom>
          <a:ln w="19050">
            <a:solidFill>
              <a:srgbClr val="4385F5"/>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172200" y="3429000"/>
            <a:ext cx="5212080" cy="914400"/>
          </a:xfrm>
          <a:prstGeom prst="roundRect">
            <a:avLst/>
          </a:prstGeom>
          <a:solidFill>
            <a:srgbClr val="FFF6EA"/>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18504" y="3547872"/>
            <a:ext cx="4937760" cy="731520"/>
          </a:xfrm>
          <a:prstGeom prst="rect">
            <a:avLst/>
          </a:prstGeom>
          <a:noFill/>
        </p:spPr>
        <p:txBody>
          <a:bodyPr wrap="none" lIns="45720" rIns="45720" anchor="t">
            <a:spAutoFit/>
          </a:bodyPr>
          <a:lstStyle/>
          <a:p>
            <a:pPr algn="l">
              <a:spcAft>
                <a:spcPts val="0"/>
              </a:spcAft>
            </a:pPr>
            <a:r>
              <a:rPr sz="1100" b="1" i="0">
                <a:solidFill>
                  <a:srgbClr val="0C1930"/>
                </a:solidFill>
                <a:latin typeface="Aptos"/>
              </a:rPr>
              <a:t>Breaking change? Create a new version, dual-publish during migration, measure consumer adoption, then retire the old contract.</a:t>
            </a:r>
          </a:p>
        </p:txBody>
      </p:sp>
      <p:sp>
        <p:nvSpPr>
          <p:cNvPr id="38" name="Rounded Rectangle 37"/>
          <p:cNvSpPr/>
          <p:nvPr/>
        </p:nvSpPr>
        <p:spPr>
          <a:xfrm>
            <a:off x="6172200" y="4709160"/>
            <a:ext cx="5212080" cy="822960"/>
          </a:xfrm>
          <a:prstGeom prst="roundRect">
            <a:avLst/>
          </a:prstGeom>
          <a:solidFill>
            <a:srgbClr val="EBF8FF"/>
          </a:solidFill>
          <a:ln w="1270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18504" y="4828032"/>
            <a:ext cx="4937760" cy="640080"/>
          </a:xfrm>
          <a:prstGeom prst="rect">
            <a:avLst/>
          </a:prstGeom>
          <a:noFill/>
        </p:spPr>
        <p:txBody>
          <a:bodyPr wrap="none" lIns="45720" rIns="45720" anchor="t">
            <a:spAutoFit/>
          </a:bodyPr>
          <a:lstStyle/>
          <a:p>
            <a:pPr algn="l">
              <a:spcAft>
                <a:spcPts val="0"/>
              </a:spcAft>
            </a:pPr>
            <a:r>
              <a:rPr sz="1100" b="1" i="0">
                <a:solidFill>
                  <a:srgbClr val="0C1930"/>
                </a:solidFill>
                <a:latin typeface="Aptos"/>
              </a:rPr>
              <a:t>A schema registry validates structure; a full data contract also captures semantics, SLOs, ownership, and change policy.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QUALITY &amp; OBSERVABILITY</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Observability: detect, explain, and recover</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Monitor the data product, the pipeline, and the infrastructure together.</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22</a:t>
            </a:r>
          </a:p>
        </p:txBody>
      </p:sp>
      <p:sp>
        <p:nvSpPr>
          <p:cNvPr id="8" name="Rounded Rectangle 7"/>
          <p:cNvSpPr/>
          <p:nvPr/>
        </p:nvSpPr>
        <p:spPr>
          <a:xfrm>
            <a:off x="594360" y="1581912"/>
            <a:ext cx="2578608" cy="36118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94360" y="1581912"/>
            <a:ext cx="2578608" cy="56692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1773936"/>
            <a:ext cx="2578608"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DATA</a:t>
            </a:r>
          </a:p>
        </p:txBody>
      </p:sp>
      <p:sp>
        <p:nvSpPr>
          <p:cNvPr id="11" name="TextBox 10"/>
          <p:cNvSpPr txBox="1"/>
          <p:nvPr/>
        </p:nvSpPr>
        <p:spPr>
          <a:xfrm>
            <a:off x="850392" y="2514600"/>
            <a:ext cx="2103120" cy="1920240"/>
          </a:xfrm>
          <a:prstGeom prst="rect">
            <a:avLst/>
          </a:prstGeom>
          <a:noFill/>
        </p:spPr>
        <p:txBody>
          <a:bodyPr wrap="none" lIns="64008" tIns="27432" rIns="36576" bIns="27432">
            <a:spAutoFit/>
          </a:bodyPr>
          <a:lstStyle/>
          <a:p>
            <a:pPr>
              <a:lnSpc>
                <a:spcPct val="105000"/>
              </a:lnSpc>
              <a:spcAft>
                <a:spcPts val="900"/>
              </a:spcAft>
            </a:pPr>
            <a:r>
              <a:rPr b="1">
                <a:solidFill>
                  <a:srgbClr val="00AAA0"/>
                </a:solidFill>
              </a:rPr>
              <a:t>• </a:t>
            </a:r>
            <a:r>
              <a:rPr sz="1100">
                <a:solidFill>
                  <a:srgbClr val="253042"/>
                </a:solidFill>
                <a:latin typeface="Aptos"/>
              </a:rPr>
              <a:t>Freshness lag</a:t>
            </a:r>
          </a:p>
          <a:p>
            <a:pPr>
              <a:lnSpc>
                <a:spcPct val="105000"/>
              </a:lnSpc>
              <a:spcAft>
                <a:spcPts val="900"/>
              </a:spcAft>
            </a:pPr>
            <a:r>
              <a:rPr b="1">
                <a:solidFill>
                  <a:srgbClr val="00AAA0"/>
                </a:solidFill>
              </a:rPr>
              <a:t>• </a:t>
            </a:r>
            <a:r>
              <a:rPr sz="1100">
                <a:solidFill>
                  <a:srgbClr val="253042"/>
                </a:solidFill>
                <a:latin typeface="Aptos"/>
              </a:rPr>
              <a:t>Row/event counts</a:t>
            </a:r>
          </a:p>
          <a:p>
            <a:pPr>
              <a:lnSpc>
                <a:spcPct val="105000"/>
              </a:lnSpc>
              <a:spcAft>
                <a:spcPts val="900"/>
              </a:spcAft>
            </a:pPr>
            <a:r>
              <a:rPr b="1">
                <a:solidFill>
                  <a:srgbClr val="00AAA0"/>
                </a:solidFill>
              </a:rPr>
              <a:t>• </a:t>
            </a:r>
            <a:r>
              <a:rPr sz="1100">
                <a:solidFill>
                  <a:srgbClr val="253042"/>
                </a:solidFill>
                <a:latin typeface="Aptos"/>
              </a:rPr>
              <a:t>Null/duplicate rate</a:t>
            </a:r>
          </a:p>
          <a:p>
            <a:pPr>
              <a:lnSpc>
                <a:spcPct val="105000"/>
              </a:lnSpc>
              <a:spcAft>
                <a:spcPts val="900"/>
              </a:spcAft>
            </a:pPr>
            <a:r>
              <a:rPr b="1">
                <a:solidFill>
                  <a:srgbClr val="00AAA0"/>
                </a:solidFill>
              </a:rPr>
              <a:t>• </a:t>
            </a:r>
            <a:r>
              <a:rPr sz="1100">
                <a:solidFill>
                  <a:srgbClr val="253042"/>
                </a:solidFill>
                <a:latin typeface="Aptos"/>
              </a:rPr>
              <a:t>Distribution drift</a:t>
            </a:r>
          </a:p>
        </p:txBody>
      </p:sp>
      <p:sp>
        <p:nvSpPr>
          <p:cNvPr id="12" name="Rounded Rectangle 11"/>
          <p:cNvSpPr/>
          <p:nvPr/>
        </p:nvSpPr>
        <p:spPr>
          <a:xfrm>
            <a:off x="1280160" y="4599432"/>
            <a:ext cx="1207008" cy="310896"/>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80160" y="4649724"/>
            <a:ext cx="12070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owner + runbook</a:t>
            </a:r>
          </a:p>
        </p:txBody>
      </p:sp>
      <p:sp>
        <p:nvSpPr>
          <p:cNvPr id="14" name="Rounded Rectangle 13"/>
          <p:cNvSpPr/>
          <p:nvPr/>
        </p:nvSpPr>
        <p:spPr>
          <a:xfrm>
            <a:off x="3474720" y="1581912"/>
            <a:ext cx="2578608" cy="36118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74720" y="1581912"/>
            <a:ext cx="2578608" cy="56692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74720" y="1773936"/>
            <a:ext cx="2578608"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PIPELINE</a:t>
            </a:r>
          </a:p>
        </p:txBody>
      </p:sp>
      <p:sp>
        <p:nvSpPr>
          <p:cNvPr id="17" name="TextBox 16"/>
          <p:cNvSpPr txBox="1"/>
          <p:nvPr/>
        </p:nvSpPr>
        <p:spPr>
          <a:xfrm>
            <a:off x="3730752" y="2514600"/>
            <a:ext cx="2103120" cy="1920240"/>
          </a:xfrm>
          <a:prstGeom prst="rect">
            <a:avLst/>
          </a:prstGeom>
          <a:noFill/>
        </p:spPr>
        <p:txBody>
          <a:bodyPr wrap="none" lIns="64008" tIns="27432" rIns="36576" bIns="27432">
            <a:spAutoFit/>
          </a:bodyPr>
          <a:lstStyle/>
          <a:p>
            <a:pPr>
              <a:lnSpc>
                <a:spcPct val="105000"/>
              </a:lnSpc>
              <a:spcAft>
                <a:spcPts val="900"/>
              </a:spcAft>
            </a:pPr>
            <a:r>
              <a:rPr b="1">
                <a:solidFill>
                  <a:srgbClr val="4385F5"/>
                </a:solidFill>
              </a:rPr>
              <a:t>• </a:t>
            </a:r>
            <a:r>
              <a:rPr sz="1100">
                <a:solidFill>
                  <a:srgbClr val="253042"/>
                </a:solidFill>
                <a:latin typeface="Aptos"/>
              </a:rPr>
              <a:t>DAG / batch duration</a:t>
            </a:r>
          </a:p>
          <a:p>
            <a:pPr>
              <a:lnSpc>
                <a:spcPct val="105000"/>
              </a:lnSpc>
              <a:spcAft>
                <a:spcPts val="900"/>
              </a:spcAft>
            </a:pPr>
            <a:r>
              <a:rPr b="1">
                <a:solidFill>
                  <a:srgbClr val="4385F5"/>
                </a:solidFill>
              </a:rPr>
              <a:t>• </a:t>
            </a:r>
            <a:r>
              <a:rPr sz="1100">
                <a:solidFill>
                  <a:srgbClr val="253042"/>
                </a:solidFill>
                <a:latin typeface="Aptos"/>
              </a:rPr>
              <a:t>Consumer lag</a:t>
            </a:r>
          </a:p>
          <a:p>
            <a:pPr>
              <a:lnSpc>
                <a:spcPct val="105000"/>
              </a:lnSpc>
              <a:spcAft>
                <a:spcPts val="900"/>
              </a:spcAft>
            </a:pPr>
            <a:r>
              <a:rPr b="1">
                <a:solidFill>
                  <a:srgbClr val="4385F5"/>
                </a:solidFill>
              </a:rPr>
              <a:t>• </a:t>
            </a:r>
            <a:r>
              <a:rPr sz="1100">
                <a:solidFill>
                  <a:srgbClr val="253042"/>
                </a:solidFill>
                <a:latin typeface="Aptos"/>
              </a:rPr>
              <a:t>Watermark delay</a:t>
            </a:r>
          </a:p>
          <a:p>
            <a:pPr>
              <a:lnSpc>
                <a:spcPct val="105000"/>
              </a:lnSpc>
              <a:spcAft>
                <a:spcPts val="900"/>
              </a:spcAft>
            </a:pPr>
            <a:r>
              <a:rPr b="1">
                <a:solidFill>
                  <a:srgbClr val="4385F5"/>
                </a:solidFill>
              </a:rPr>
              <a:t>• </a:t>
            </a:r>
            <a:r>
              <a:rPr sz="1100">
                <a:solidFill>
                  <a:srgbClr val="253042"/>
                </a:solidFill>
                <a:latin typeface="Aptos"/>
              </a:rPr>
              <a:t>Retries / DLQ volume</a:t>
            </a:r>
          </a:p>
        </p:txBody>
      </p:sp>
      <p:sp>
        <p:nvSpPr>
          <p:cNvPr id="18" name="Rounded Rectangle 17"/>
          <p:cNvSpPr/>
          <p:nvPr/>
        </p:nvSpPr>
        <p:spPr>
          <a:xfrm>
            <a:off x="4160520" y="4599432"/>
            <a:ext cx="1207008" cy="310896"/>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60520" y="4649724"/>
            <a:ext cx="12070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owner + runbook</a:t>
            </a:r>
          </a:p>
        </p:txBody>
      </p:sp>
      <p:sp>
        <p:nvSpPr>
          <p:cNvPr id="20" name="Rounded Rectangle 19"/>
          <p:cNvSpPr/>
          <p:nvPr/>
        </p:nvSpPr>
        <p:spPr>
          <a:xfrm>
            <a:off x="6355080" y="1581912"/>
            <a:ext cx="2578608" cy="36118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355080" y="1581912"/>
            <a:ext cx="2578608" cy="56692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5080" y="1773936"/>
            <a:ext cx="2578608"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PLATFORM</a:t>
            </a:r>
          </a:p>
        </p:txBody>
      </p:sp>
      <p:sp>
        <p:nvSpPr>
          <p:cNvPr id="23" name="TextBox 22"/>
          <p:cNvSpPr txBox="1"/>
          <p:nvPr/>
        </p:nvSpPr>
        <p:spPr>
          <a:xfrm>
            <a:off x="6611112" y="2514600"/>
            <a:ext cx="2103120" cy="1920240"/>
          </a:xfrm>
          <a:prstGeom prst="rect">
            <a:avLst/>
          </a:prstGeom>
          <a:noFill/>
        </p:spPr>
        <p:txBody>
          <a:bodyPr wrap="none" lIns="64008" tIns="27432" rIns="36576" bIns="27432">
            <a:spAutoFit/>
          </a:bodyPr>
          <a:lstStyle/>
          <a:p>
            <a:pPr>
              <a:lnSpc>
                <a:spcPct val="105000"/>
              </a:lnSpc>
              <a:spcAft>
                <a:spcPts val="900"/>
              </a:spcAft>
            </a:pPr>
            <a:r>
              <a:rPr b="1">
                <a:solidFill>
                  <a:srgbClr val="855CF8"/>
                </a:solidFill>
              </a:rPr>
              <a:t>• </a:t>
            </a:r>
            <a:r>
              <a:rPr sz="1100">
                <a:solidFill>
                  <a:srgbClr val="253042"/>
                </a:solidFill>
                <a:latin typeface="Aptos"/>
              </a:rPr>
              <a:t>CPU / memory / disk</a:t>
            </a:r>
          </a:p>
          <a:p>
            <a:pPr>
              <a:lnSpc>
                <a:spcPct val="105000"/>
              </a:lnSpc>
              <a:spcAft>
                <a:spcPts val="900"/>
              </a:spcAft>
            </a:pPr>
            <a:r>
              <a:rPr b="1">
                <a:solidFill>
                  <a:srgbClr val="855CF8"/>
                </a:solidFill>
              </a:rPr>
              <a:t>• </a:t>
            </a:r>
            <a:r>
              <a:rPr sz="1100">
                <a:solidFill>
                  <a:srgbClr val="253042"/>
                </a:solidFill>
                <a:latin typeface="Aptos"/>
              </a:rPr>
              <a:t>Shuffle and spill</a:t>
            </a:r>
          </a:p>
          <a:p>
            <a:pPr>
              <a:lnSpc>
                <a:spcPct val="105000"/>
              </a:lnSpc>
              <a:spcAft>
                <a:spcPts val="900"/>
              </a:spcAft>
            </a:pPr>
            <a:r>
              <a:rPr b="1">
                <a:solidFill>
                  <a:srgbClr val="855CF8"/>
                </a:solidFill>
              </a:rPr>
              <a:t>• </a:t>
            </a:r>
            <a:r>
              <a:rPr sz="1100">
                <a:solidFill>
                  <a:srgbClr val="253042"/>
                </a:solidFill>
                <a:latin typeface="Aptos"/>
              </a:rPr>
              <a:t>Checkpoint latency</a:t>
            </a:r>
          </a:p>
          <a:p>
            <a:pPr>
              <a:lnSpc>
                <a:spcPct val="105000"/>
              </a:lnSpc>
              <a:spcAft>
                <a:spcPts val="900"/>
              </a:spcAft>
            </a:pPr>
            <a:r>
              <a:rPr b="1">
                <a:solidFill>
                  <a:srgbClr val="855CF8"/>
                </a:solidFill>
              </a:rPr>
              <a:t>• </a:t>
            </a:r>
            <a:r>
              <a:rPr sz="1100">
                <a:solidFill>
                  <a:srgbClr val="253042"/>
                </a:solidFill>
                <a:latin typeface="Aptos"/>
              </a:rPr>
              <a:t>Quota / throttling</a:t>
            </a:r>
          </a:p>
        </p:txBody>
      </p:sp>
      <p:sp>
        <p:nvSpPr>
          <p:cNvPr id="24" name="Rounded Rectangle 23"/>
          <p:cNvSpPr/>
          <p:nvPr/>
        </p:nvSpPr>
        <p:spPr>
          <a:xfrm>
            <a:off x="7040880" y="4599432"/>
            <a:ext cx="1207008" cy="310896"/>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040880" y="4649724"/>
            <a:ext cx="12070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owner + runbook</a:t>
            </a:r>
          </a:p>
        </p:txBody>
      </p:sp>
      <p:sp>
        <p:nvSpPr>
          <p:cNvPr id="26" name="Rounded Rectangle 25"/>
          <p:cNvSpPr/>
          <p:nvPr/>
        </p:nvSpPr>
        <p:spPr>
          <a:xfrm>
            <a:off x="9235440" y="1581912"/>
            <a:ext cx="2578608" cy="36118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235440" y="1581912"/>
            <a:ext cx="2578608" cy="56692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35440" y="1773936"/>
            <a:ext cx="2578608"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BUSINESS</a:t>
            </a:r>
          </a:p>
        </p:txBody>
      </p:sp>
      <p:sp>
        <p:nvSpPr>
          <p:cNvPr id="29" name="TextBox 28"/>
          <p:cNvSpPr txBox="1"/>
          <p:nvPr/>
        </p:nvSpPr>
        <p:spPr>
          <a:xfrm>
            <a:off x="9491472" y="2514600"/>
            <a:ext cx="2103120" cy="1920240"/>
          </a:xfrm>
          <a:prstGeom prst="rect">
            <a:avLst/>
          </a:prstGeom>
          <a:noFill/>
        </p:spPr>
        <p:txBody>
          <a:bodyPr wrap="none" lIns="64008" tIns="27432" rIns="36576" bIns="27432">
            <a:spAutoFit/>
          </a:bodyPr>
          <a:lstStyle/>
          <a:p>
            <a:pPr>
              <a:lnSpc>
                <a:spcPct val="105000"/>
              </a:lnSpc>
              <a:spcAft>
                <a:spcPts val="900"/>
              </a:spcAft>
            </a:pPr>
            <a:r>
              <a:rPr b="1">
                <a:solidFill>
                  <a:srgbClr val="FF9F43"/>
                </a:solidFill>
              </a:rPr>
              <a:t>• </a:t>
            </a:r>
            <a:r>
              <a:rPr sz="1100">
                <a:solidFill>
                  <a:srgbClr val="253042"/>
                </a:solidFill>
                <a:latin typeface="Aptos"/>
              </a:rPr>
              <a:t>Orders vs. source</a:t>
            </a:r>
          </a:p>
          <a:p>
            <a:pPr>
              <a:lnSpc>
                <a:spcPct val="105000"/>
              </a:lnSpc>
              <a:spcAft>
                <a:spcPts val="900"/>
              </a:spcAft>
            </a:pPr>
            <a:r>
              <a:rPr b="1">
                <a:solidFill>
                  <a:srgbClr val="FF9F43"/>
                </a:solidFill>
              </a:rPr>
              <a:t>• </a:t>
            </a:r>
            <a:r>
              <a:rPr sz="1100">
                <a:solidFill>
                  <a:srgbClr val="253042"/>
                </a:solidFill>
                <a:latin typeface="Aptos"/>
              </a:rPr>
              <a:t>Revenue anomalies</a:t>
            </a:r>
          </a:p>
          <a:p>
            <a:pPr>
              <a:lnSpc>
                <a:spcPct val="105000"/>
              </a:lnSpc>
              <a:spcAft>
                <a:spcPts val="900"/>
              </a:spcAft>
            </a:pPr>
            <a:r>
              <a:rPr b="1">
                <a:solidFill>
                  <a:srgbClr val="FF9F43"/>
                </a:solidFill>
              </a:rPr>
              <a:t>• </a:t>
            </a:r>
            <a:r>
              <a:rPr sz="1100">
                <a:solidFill>
                  <a:srgbClr val="253042"/>
                </a:solidFill>
                <a:latin typeface="Aptos"/>
              </a:rPr>
              <a:t>Dashboard usage</a:t>
            </a:r>
          </a:p>
          <a:p>
            <a:pPr>
              <a:lnSpc>
                <a:spcPct val="105000"/>
              </a:lnSpc>
              <a:spcAft>
                <a:spcPts val="900"/>
              </a:spcAft>
            </a:pPr>
            <a:r>
              <a:rPr b="1">
                <a:solidFill>
                  <a:srgbClr val="FF9F43"/>
                </a:solidFill>
              </a:rPr>
              <a:t>• </a:t>
            </a:r>
            <a:r>
              <a:rPr sz="1100">
                <a:solidFill>
                  <a:srgbClr val="253042"/>
                </a:solidFill>
                <a:latin typeface="Aptos"/>
              </a:rPr>
              <a:t>SLO error budget</a:t>
            </a:r>
          </a:p>
        </p:txBody>
      </p:sp>
      <p:sp>
        <p:nvSpPr>
          <p:cNvPr id="30" name="Rounded Rectangle 29"/>
          <p:cNvSpPr/>
          <p:nvPr/>
        </p:nvSpPr>
        <p:spPr>
          <a:xfrm>
            <a:off x="9921240" y="4599432"/>
            <a:ext cx="1207008" cy="310896"/>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921240" y="4649724"/>
            <a:ext cx="12070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owner + runbook</a:t>
            </a:r>
          </a:p>
        </p:txBody>
      </p:sp>
      <p:sp>
        <p:nvSpPr>
          <p:cNvPr id="32" name="Rounded Rectangle 31"/>
          <p:cNvSpPr/>
          <p:nvPr/>
        </p:nvSpPr>
        <p:spPr>
          <a:xfrm>
            <a:off x="914400" y="5577840"/>
            <a:ext cx="10332720" cy="65836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0704" y="5696712"/>
            <a:ext cx="10058400" cy="475488"/>
          </a:xfrm>
          <a:prstGeom prst="rect">
            <a:avLst/>
          </a:prstGeom>
          <a:noFill/>
        </p:spPr>
        <p:txBody>
          <a:bodyPr wrap="none" lIns="45720" rIns="45720" anchor="t">
            <a:spAutoFit/>
          </a:bodyPr>
          <a:lstStyle/>
          <a:p>
            <a:pPr algn="l">
              <a:spcAft>
                <a:spcPts val="0"/>
              </a:spcAft>
            </a:pPr>
            <a:r>
              <a:rPr sz="1100" b="1" i="0">
                <a:solidFill>
                  <a:srgbClr val="0C1930"/>
                </a:solidFill>
                <a:latin typeface="Aptos"/>
              </a:rPr>
              <a:t>Alert on user impact and actionable symptoms. Every page should link to lineage, recent deployments, affected partitions, and a recovery runbook.</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OPERATIONS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6 — Idempotency is an end-to-end property</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Rerunning the same logical input should produce the same observable outcome.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23</a:t>
            </a:r>
          </a:p>
        </p:txBody>
      </p:sp>
      <p:sp>
        <p:nvSpPr>
          <p:cNvPr id="8" name="Rounded Rectangle 7"/>
          <p:cNvSpPr/>
          <p:nvPr/>
        </p:nvSpPr>
        <p:spPr>
          <a:xfrm>
            <a:off x="640080" y="153619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536192"/>
            <a:ext cx="64008" cy="15361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04671" y="1682495"/>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1"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98448" y="166420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Stable identity</a:t>
            </a:r>
          </a:p>
        </p:txBody>
      </p:sp>
      <p:sp>
        <p:nvSpPr>
          <p:cNvPr id="13" name="TextBox 12"/>
          <p:cNvSpPr txBox="1"/>
          <p:nvPr/>
        </p:nvSpPr>
        <p:spPr>
          <a:xfrm>
            <a:off x="850392" y="213055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Define event_id or a compound business key. Validate uniqueness at the intended grain.</a:t>
            </a:r>
          </a:p>
        </p:txBody>
      </p:sp>
      <p:sp>
        <p:nvSpPr>
          <p:cNvPr id="14" name="Rounded Rectangle 13"/>
          <p:cNvSpPr/>
          <p:nvPr/>
        </p:nvSpPr>
        <p:spPr>
          <a:xfrm>
            <a:off x="4480560" y="153619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480560" y="1536192"/>
            <a:ext cx="64008" cy="1536192"/>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645152" y="1682495"/>
            <a:ext cx="384048" cy="38404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45152"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8" name="TextBox 17"/>
          <p:cNvSpPr txBox="1"/>
          <p:nvPr/>
        </p:nvSpPr>
        <p:spPr>
          <a:xfrm>
            <a:off x="5138928" y="166420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Deterministic transform</a:t>
            </a:r>
          </a:p>
        </p:txBody>
      </p:sp>
      <p:sp>
        <p:nvSpPr>
          <p:cNvPr id="19" name="TextBox 18"/>
          <p:cNvSpPr txBox="1"/>
          <p:nvPr/>
        </p:nvSpPr>
        <p:spPr>
          <a:xfrm>
            <a:off x="4690872" y="213055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Avoid nondeterministic timestamps/random values unless derived from source or controlled.</a:t>
            </a:r>
          </a:p>
        </p:txBody>
      </p:sp>
      <p:sp>
        <p:nvSpPr>
          <p:cNvPr id="20" name="Rounded Rectangle 19"/>
          <p:cNvSpPr/>
          <p:nvPr/>
        </p:nvSpPr>
        <p:spPr>
          <a:xfrm>
            <a:off x="8321040" y="153619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321040" y="1536192"/>
            <a:ext cx="64008" cy="1536192"/>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485632" y="1682495"/>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85632"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4" name="TextBox 23"/>
          <p:cNvSpPr txBox="1"/>
          <p:nvPr/>
        </p:nvSpPr>
        <p:spPr>
          <a:xfrm>
            <a:off x="8979408" y="166420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Atomic write</a:t>
            </a:r>
          </a:p>
        </p:txBody>
      </p:sp>
      <p:sp>
        <p:nvSpPr>
          <p:cNvPr id="25" name="TextBox 24"/>
          <p:cNvSpPr txBox="1"/>
          <p:nvPr/>
        </p:nvSpPr>
        <p:spPr>
          <a:xfrm>
            <a:off x="8531352" y="213055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Use MERGE, partition replacement, or transactional commit—not blind append.</a:t>
            </a:r>
          </a:p>
        </p:txBody>
      </p:sp>
      <p:sp>
        <p:nvSpPr>
          <p:cNvPr id="26" name="Rounded Rectangle 25"/>
          <p:cNvSpPr/>
          <p:nvPr/>
        </p:nvSpPr>
        <p:spPr>
          <a:xfrm>
            <a:off x="640080" y="354787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40080" y="3547872"/>
            <a:ext cx="64008" cy="1536192"/>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04671" y="3694176"/>
            <a:ext cx="384048" cy="38404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04671" y="373075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30" name="TextBox 29"/>
          <p:cNvSpPr txBox="1"/>
          <p:nvPr/>
        </p:nvSpPr>
        <p:spPr>
          <a:xfrm>
            <a:off x="1298448" y="367588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Progress tracking</a:t>
            </a:r>
          </a:p>
        </p:txBody>
      </p:sp>
      <p:sp>
        <p:nvSpPr>
          <p:cNvPr id="31" name="TextBox 30"/>
          <p:cNvSpPr txBox="1"/>
          <p:nvPr/>
        </p:nvSpPr>
        <p:spPr>
          <a:xfrm>
            <a:off x="850392" y="414223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Persist source offsets, file IDs, batch IDs, code version, and target commit together.</a:t>
            </a:r>
          </a:p>
        </p:txBody>
      </p:sp>
      <p:sp>
        <p:nvSpPr>
          <p:cNvPr id="32" name="Rounded Rectangle 31"/>
          <p:cNvSpPr/>
          <p:nvPr/>
        </p:nvSpPr>
        <p:spPr>
          <a:xfrm>
            <a:off x="4480560" y="354787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480560" y="3547872"/>
            <a:ext cx="64008" cy="1536192"/>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4645152" y="3694176"/>
            <a:ext cx="384048" cy="384048"/>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45152" y="373075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5</a:t>
            </a:r>
          </a:p>
        </p:txBody>
      </p:sp>
      <p:sp>
        <p:nvSpPr>
          <p:cNvPr id="36" name="TextBox 35"/>
          <p:cNvSpPr txBox="1"/>
          <p:nvPr/>
        </p:nvSpPr>
        <p:spPr>
          <a:xfrm>
            <a:off x="5138928" y="367588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Safe retry</a:t>
            </a:r>
          </a:p>
        </p:txBody>
      </p:sp>
      <p:sp>
        <p:nvSpPr>
          <p:cNvPr id="37" name="TextBox 36"/>
          <p:cNvSpPr txBox="1"/>
          <p:nvPr/>
        </p:nvSpPr>
        <p:spPr>
          <a:xfrm>
            <a:off x="4690872" y="414223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Retry transient errors; quarantine poison data; never advance progress before commit.</a:t>
            </a:r>
          </a:p>
        </p:txBody>
      </p:sp>
      <p:sp>
        <p:nvSpPr>
          <p:cNvPr id="38" name="Rounded Rectangle 37"/>
          <p:cNvSpPr/>
          <p:nvPr/>
        </p:nvSpPr>
        <p:spPr>
          <a:xfrm>
            <a:off x="8321040" y="354787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321040" y="3547872"/>
            <a:ext cx="64008" cy="1536192"/>
          </a:xfrm>
          <a:prstGeom prst="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8485632" y="3694176"/>
            <a:ext cx="384048" cy="384048"/>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485632" y="373075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6</a:t>
            </a:r>
          </a:p>
        </p:txBody>
      </p:sp>
      <p:sp>
        <p:nvSpPr>
          <p:cNvPr id="42" name="TextBox 41"/>
          <p:cNvSpPr txBox="1"/>
          <p:nvPr/>
        </p:nvSpPr>
        <p:spPr>
          <a:xfrm>
            <a:off x="8979408" y="367588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Reconciliation</a:t>
            </a:r>
          </a:p>
        </p:txBody>
      </p:sp>
      <p:sp>
        <p:nvSpPr>
          <p:cNvPr id="43" name="TextBox 42"/>
          <p:cNvSpPr txBox="1"/>
          <p:nvPr/>
        </p:nvSpPr>
        <p:spPr>
          <a:xfrm>
            <a:off x="8531352" y="414223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Compare source, accepted, rejected, and target counts; expose mismatches.</a:t>
            </a:r>
          </a:p>
        </p:txBody>
      </p:sp>
      <p:sp>
        <p:nvSpPr>
          <p:cNvPr id="44" name="Rounded Rectangle 43"/>
          <p:cNvSpPr/>
          <p:nvPr/>
        </p:nvSpPr>
        <p:spPr>
          <a:xfrm>
            <a:off x="1005840" y="5623560"/>
            <a:ext cx="10149840" cy="59436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152144" y="5742432"/>
            <a:ext cx="9875519" cy="411480"/>
          </a:xfrm>
          <a:prstGeom prst="rect">
            <a:avLst/>
          </a:prstGeom>
          <a:noFill/>
        </p:spPr>
        <p:txBody>
          <a:bodyPr wrap="none" lIns="45720" rIns="45720" anchor="t">
            <a:spAutoFit/>
          </a:bodyPr>
          <a:lstStyle/>
          <a:p>
            <a:pPr algn="l">
              <a:spcAft>
                <a:spcPts val="0"/>
              </a:spcAft>
            </a:pPr>
            <a:r>
              <a:rPr sz="1100" b="1" i="0">
                <a:solidFill>
                  <a:srgbClr val="0C1930"/>
                </a:solidFill>
                <a:latin typeface="Aptos"/>
              </a:rPr>
              <a:t>Delivery may be at-least-once while the resulting table is effectively exactly-once through dedupe + transactional upsert.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C1930"/>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DELTA LAKE + SPARK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Idempotent batch upsert with Delta MERGE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Deduplicate the source first; MERGE behavior is ambiguous if multiple source rows match one target row.</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24</a:t>
            </a:r>
          </a:p>
        </p:txBody>
      </p:sp>
      <p:sp>
        <p:nvSpPr>
          <p:cNvPr id="8" name="Rounded Rectangle 7"/>
          <p:cNvSpPr/>
          <p:nvPr/>
        </p:nvSpPr>
        <p:spPr>
          <a:xfrm>
            <a:off x="621792" y="1481328"/>
            <a:ext cx="7315200" cy="4526280"/>
          </a:xfrm>
          <a:prstGeom prst="round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86384" y="1591056"/>
            <a:ext cx="1097280" cy="256032"/>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 y="1636776"/>
            <a:ext cx="1097280" cy="137160"/>
          </a:xfrm>
          <a:prstGeom prst="rect">
            <a:avLst/>
          </a:prstGeom>
          <a:noFill/>
        </p:spPr>
        <p:txBody>
          <a:bodyPr wrap="none" lIns="45720" rIns="45720" anchor="t">
            <a:spAutoFit/>
          </a:bodyPr>
          <a:lstStyle/>
          <a:p>
            <a:pPr algn="ctr">
              <a:spcAft>
                <a:spcPts val="0"/>
              </a:spcAft>
            </a:pPr>
            <a:r>
              <a:rPr sz="800" b="1" i="0">
                <a:solidFill>
                  <a:srgbClr val="FFFFFF"/>
                </a:solidFill>
                <a:latin typeface="Aptos"/>
              </a:rPr>
              <a:t>PYSPARK</a:t>
            </a:r>
          </a:p>
        </p:txBody>
      </p:sp>
      <p:sp>
        <p:nvSpPr>
          <p:cNvPr id="11" name="TextBox 10"/>
          <p:cNvSpPr txBox="1"/>
          <p:nvPr/>
        </p:nvSpPr>
        <p:spPr>
          <a:xfrm>
            <a:off x="786384" y="1938528"/>
            <a:ext cx="6986016" cy="3995928"/>
          </a:xfrm>
          <a:prstGeom prst="rect">
            <a:avLst/>
          </a:prstGeom>
          <a:noFill/>
        </p:spPr>
        <p:txBody>
          <a:bodyPr wrap="square" lIns="0" tIns="0" rIns="0" bIns="0">
            <a:spAutoFit/>
          </a:bodyPr>
          <a:lstStyle/>
          <a:p>
            <a:pPr>
              <a:lnSpc>
                <a:spcPct val="100000"/>
              </a:lnSpc>
            </a:pPr>
            <a:r>
              <a:rPr sz="1010">
                <a:solidFill>
                  <a:srgbClr val="DDE7F2"/>
                </a:solidFill>
                <a:latin typeface="Cascadia Mono"/>
              </a:rPr>
              <a:t>from delta.tables import DeltaTable</a:t>
            </a:r>
            <a:br/>
            <a:r>
              <a:rPr sz="1010">
                <a:solidFill>
                  <a:srgbClr val="DDE7F2"/>
                </a:solidFill>
                <a:latin typeface="Cascadia Mono"/>
              </a:rPr>
              <a:t>from pyspark.sql import functions as F</a:t>
            </a:r>
            <a:br/>
            <a:r>
              <a:rPr sz="1010">
                <a:solidFill>
                  <a:srgbClr val="DDE7F2"/>
                </a:solidFill>
                <a:latin typeface="Cascadia Mono"/>
              </a:rPr>
              <a:t>from pyspark.sql.window import Window</a:t>
            </a:r>
            <a:br/>
            <a:br/>
            <a:r>
              <a:rPr sz="1010">
                <a:solidFill>
                  <a:srgbClr val="DDE7F2"/>
                </a:solidFill>
                <a:latin typeface="Cascadia Mono"/>
              </a:rPr>
              <a:t>incoming = spark.read.json(batch_path)</a:t>
            </a:r>
            <a:br/>
            <a:r>
              <a:rPr sz="1010">
                <a:solidFill>
                  <a:srgbClr val="DDE7F2"/>
                </a:solidFill>
                <a:latin typeface="Cascadia Mono"/>
              </a:rPr>
              <a:t>key = ["order_id", "event_timestamp"]</a:t>
            </a:r>
            <a:br/>
            <a:r>
              <a:rPr sz="1010">
                <a:solidFill>
                  <a:srgbClr val="DDE7F2"/>
                </a:solidFill>
                <a:latin typeface="Cascadia Mono"/>
              </a:rPr>
              <a:t>w = Window.partitionBy(*key).orderBy(F.col("updated_at").desc())</a:t>
            </a:r>
            <a:br/>
            <a:r>
              <a:rPr sz="1010">
                <a:solidFill>
                  <a:srgbClr val="DDE7F2"/>
                </a:solidFill>
                <a:latin typeface="Cascadia Mono"/>
              </a:rPr>
              <a:t>source = (incoming</a:t>
            </a:r>
            <a:br/>
            <a:r>
              <a:rPr sz="1010">
                <a:solidFill>
                  <a:srgbClr val="DDE7F2"/>
                </a:solidFill>
                <a:latin typeface="Cascadia Mono"/>
              </a:rPr>
              <a:t>    .withColumn("_rn", F.row_number().over(w))</a:t>
            </a:r>
            <a:br/>
            <a:r>
              <a:rPr sz="1010">
                <a:solidFill>
                  <a:srgbClr val="DDE7F2"/>
                </a:solidFill>
                <a:latin typeface="Cascadia Mono"/>
              </a:rPr>
              <a:t>    .filter("_rn = 1").drop("_rn"))</a:t>
            </a:r>
            <a:br/>
            <a:br/>
            <a:r>
              <a:rPr sz="1010">
                <a:solidFill>
                  <a:srgbClr val="DDE7F2"/>
                </a:solidFill>
                <a:latin typeface="Cascadia Mono"/>
              </a:rPr>
              <a:t>target = DeltaTable.forPath(spark, silver_path)</a:t>
            </a:r>
            <a:br/>
            <a:r>
              <a:rPr sz="1010">
                <a:solidFill>
                  <a:srgbClr val="DDE7F2"/>
                </a:solidFill>
                <a:latin typeface="Cascadia Mono"/>
              </a:rPr>
              <a:t>(target.alias("t").merge(</a:t>
            </a:r>
            <a:br/>
            <a:r>
              <a:rPr sz="1010">
                <a:solidFill>
                  <a:srgbClr val="DDE7F2"/>
                </a:solidFill>
                <a:latin typeface="Cascadia Mono"/>
              </a:rPr>
              <a:t>    source.alias("s"),</a:t>
            </a:r>
            <a:br/>
            <a:r>
              <a:rPr sz="1010">
                <a:solidFill>
                  <a:srgbClr val="DDE7F2"/>
                </a:solidFill>
                <a:latin typeface="Cascadia Mono"/>
              </a:rPr>
              <a:t>    "t.order_id=s.order_id AND t.event_timestamp=s.event_timestamp")</a:t>
            </a:r>
            <a:br/>
            <a:r>
              <a:rPr sz="1010">
                <a:solidFill>
                  <a:srgbClr val="DDE7F2"/>
                </a:solidFill>
                <a:latin typeface="Cascadia Mono"/>
              </a:rPr>
              <a:t> .whenMatchedUpdateAll(condition="s.updated_at &gt;= t.updated_at")</a:t>
            </a:r>
            <a:br/>
            <a:r>
              <a:rPr sz="1010">
                <a:solidFill>
                  <a:srgbClr val="DDE7F2"/>
                </a:solidFill>
                <a:latin typeface="Cascadia Mono"/>
              </a:rPr>
              <a:t> .whenNotMatchedInsertAll()</a:t>
            </a:r>
            <a:br/>
            <a:r>
              <a:rPr sz="1010">
                <a:solidFill>
                  <a:srgbClr val="DDE7F2"/>
                </a:solidFill>
                <a:latin typeface="Cascadia Mono"/>
              </a:rPr>
              <a:t> .execute())</a:t>
            </a:r>
          </a:p>
        </p:txBody>
      </p:sp>
      <p:sp>
        <p:nvSpPr>
          <p:cNvPr id="12" name="TextBox 11"/>
          <p:cNvSpPr txBox="1"/>
          <p:nvPr/>
        </p:nvSpPr>
        <p:spPr>
          <a:xfrm>
            <a:off x="8275320" y="1600200"/>
            <a:ext cx="3246120" cy="292608"/>
          </a:xfrm>
          <a:prstGeom prst="rect">
            <a:avLst/>
          </a:prstGeom>
          <a:noFill/>
        </p:spPr>
        <p:txBody>
          <a:bodyPr wrap="none" lIns="45720" rIns="45720" anchor="t">
            <a:spAutoFit/>
          </a:bodyPr>
          <a:lstStyle/>
          <a:p>
            <a:pPr algn="l">
              <a:spcAft>
                <a:spcPts val="0"/>
              </a:spcAft>
            </a:pPr>
            <a:r>
              <a:rPr sz="1600" b="1" i="0">
                <a:solidFill>
                  <a:srgbClr val="FFFFFF"/>
                </a:solidFill>
                <a:latin typeface="Aptos"/>
              </a:rPr>
              <a:t>Why this is safe</a:t>
            </a:r>
          </a:p>
        </p:txBody>
      </p:sp>
      <p:sp>
        <p:nvSpPr>
          <p:cNvPr id="13" name="TextBox 12"/>
          <p:cNvSpPr txBox="1"/>
          <p:nvPr/>
        </p:nvSpPr>
        <p:spPr>
          <a:xfrm>
            <a:off x="8275320" y="2148840"/>
            <a:ext cx="3246120" cy="2560320"/>
          </a:xfrm>
          <a:prstGeom prst="rect">
            <a:avLst/>
          </a:prstGeom>
          <a:noFill/>
        </p:spPr>
        <p:txBody>
          <a:bodyPr wrap="none" lIns="64008" tIns="27432" rIns="36576" bIns="27432">
            <a:spAutoFit/>
          </a:bodyPr>
          <a:lstStyle/>
          <a:p>
            <a:pPr>
              <a:lnSpc>
                <a:spcPct val="105000"/>
              </a:lnSpc>
              <a:spcAft>
                <a:spcPts val="1100"/>
              </a:spcAft>
            </a:pPr>
            <a:r>
              <a:rPr b="1">
                <a:solidFill>
                  <a:srgbClr val="00AAA0"/>
                </a:solidFill>
              </a:rPr>
              <a:t>• </a:t>
            </a:r>
            <a:r>
              <a:rPr sz="1150" b="1">
                <a:solidFill>
                  <a:srgbClr val="E4EBF4"/>
                </a:solidFill>
                <a:latin typeface="Aptos"/>
              </a:rPr>
              <a:t>Stable key: </a:t>
            </a:r>
            <a:r>
              <a:rPr sz="1150">
                <a:solidFill>
                  <a:srgbClr val="E4EBF4"/>
                </a:solidFill>
                <a:latin typeface="Aptos"/>
              </a:rPr>
              <a:t>order + event timestamp identifies the grain.</a:t>
            </a:r>
          </a:p>
          <a:p>
            <a:pPr>
              <a:lnSpc>
                <a:spcPct val="105000"/>
              </a:lnSpc>
              <a:spcAft>
                <a:spcPts val="1100"/>
              </a:spcAft>
            </a:pPr>
            <a:r>
              <a:rPr b="1">
                <a:solidFill>
                  <a:srgbClr val="00AAA0"/>
                </a:solidFill>
              </a:rPr>
              <a:t>• </a:t>
            </a:r>
            <a:r>
              <a:rPr sz="1150" b="1">
                <a:solidFill>
                  <a:srgbClr val="E4EBF4"/>
                </a:solidFill>
                <a:latin typeface="Aptos"/>
              </a:rPr>
              <a:t>Source dedupe: </a:t>
            </a:r>
            <a:r>
              <a:rPr sz="1150">
                <a:solidFill>
                  <a:srgbClr val="E4EBF4"/>
                </a:solidFill>
                <a:latin typeface="Aptos"/>
              </a:rPr>
              <a:t>one winning row per merge key.</a:t>
            </a:r>
          </a:p>
          <a:p>
            <a:pPr>
              <a:lnSpc>
                <a:spcPct val="105000"/>
              </a:lnSpc>
              <a:spcAft>
                <a:spcPts val="1100"/>
              </a:spcAft>
            </a:pPr>
            <a:r>
              <a:rPr b="1">
                <a:solidFill>
                  <a:srgbClr val="00AAA0"/>
                </a:solidFill>
              </a:rPr>
              <a:t>• </a:t>
            </a:r>
            <a:r>
              <a:rPr sz="1150" b="1">
                <a:solidFill>
                  <a:srgbClr val="E4EBF4"/>
                </a:solidFill>
                <a:latin typeface="Aptos"/>
              </a:rPr>
              <a:t>Monotonic update: </a:t>
            </a:r>
            <a:r>
              <a:rPr sz="1150">
                <a:solidFill>
                  <a:srgbClr val="E4EBF4"/>
                </a:solidFill>
                <a:latin typeface="Aptos"/>
              </a:rPr>
              <a:t>older arrivals cannot overwrite newer state.</a:t>
            </a:r>
          </a:p>
          <a:p>
            <a:pPr>
              <a:lnSpc>
                <a:spcPct val="105000"/>
              </a:lnSpc>
              <a:spcAft>
                <a:spcPts val="1100"/>
              </a:spcAft>
            </a:pPr>
            <a:r>
              <a:rPr b="1">
                <a:solidFill>
                  <a:srgbClr val="00AAA0"/>
                </a:solidFill>
              </a:rPr>
              <a:t>• </a:t>
            </a:r>
            <a:r>
              <a:rPr sz="1150" b="1">
                <a:solidFill>
                  <a:srgbClr val="E4EBF4"/>
                </a:solidFill>
                <a:latin typeface="Aptos"/>
              </a:rPr>
              <a:t>Atomic commit: </a:t>
            </a:r>
            <a:r>
              <a:rPr sz="1150">
                <a:solidFill>
                  <a:srgbClr val="E4EBF4"/>
                </a:solidFill>
                <a:latin typeface="Aptos"/>
              </a:rPr>
              <a:t>readers see the old or new snapshot, not a partial write.</a:t>
            </a:r>
          </a:p>
        </p:txBody>
      </p:sp>
      <p:sp>
        <p:nvSpPr>
          <p:cNvPr id="14" name="Rounded Rectangle 13"/>
          <p:cNvSpPr/>
          <p:nvPr/>
        </p:nvSpPr>
        <p:spPr>
          <a:xfrm>
            <a:off x="8183879" y="4983480"/>
            <a:ext cx="3401568" cy="822960"/>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30183" y="5102352"/>
            <a:ext cx="3127248" cy="640080"/>
          </a:xfrm>
          <a:prstGeom prst="rect">
            <a:avLst/>
          </a:prstGeom>
          <a:noFill/>
        </p:spPr>
        <p:txBody>
          <a:bodyPr wrap="none" lIns="45720" rIns="45720" anchor="t">
            <a:spAutoFit/>
          </a:bodyPr>
          <a:lstStyle/>
          <a:p>
            <a:pPr algn="l">
              <a:spcAft>
                <a:spcPts val="0"/>
              </a:spcAft>
            </a:pPr>
            <a:r>
              <a:rPr sz="1050" b="1" i="0">
                <a:solidFill>
                  <a:srgbClr val="0C1930"/>
                </a:solidFill>
                <a:latin typeface="Aptos"/>
              </a:rPr>
              <a:t>Still define delete behavior, null-safe matching, concurrency policy, and reconciliation metrics.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C1930"/>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DELTA LAKE + SPARK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Backfills with atomic partition replacement</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Recompute bounded slices using the same transformation code as the normal path.</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25</a:t>
            </a:r>
          </a:p>
        </p:txBody>
      </p:sp>
      <p:sp>
        <p:nvSpPr>
          <p:cNvPr id="8" name="Rounded Rectangle 7"/>
          <p:cNvSpPr/>
          <p:nvPr/>
        </p:nvSpPr>
        <p:spPr>
          <a:xfrm>
            <a:off x="640080" y="1572768"/>
            <a:ext cx="5943600" cy="3474720"/>
          </a:xfrm>
          <a:prstGeom prst="round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4671" y="1682495"/>
            <a:ext cx="1097280" cy="256032"/>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1" y="1728216"/>
            <a:ext cx="1097280" cy="137160"/>
          </a:xfrm>
          <a:prstGeom prst="rect">
            <a:avLst/>
          </a:prstGeom>
          <a:noFill/>
        </p:spPr>
        <p:txBody>
          <a:bodyPr wrap="none" lIns="45720" rIns="45720" anchor="t">
            <a:spAutoFit/>
          </a:bodyPr>
          <a:lstStyle/>
          <a:p>
            <a:pPr algn="ctr">
              <a:spcAft>
                <a:spcPts val="0"/>
              </a:spcAft>
            </a:pPr>
            <a:r>
              <a:rPr sz="800" b="1" i="0">
                <a:solidFill>
                  <a:srgbClr val="FFFFFF"/>
                </a:solidFill>
                <a:latin typeface="Aptos"/>
              </a:rPr>
              <a:t>PYSPARK</a:t>
            </a:r>
          </a:p>
        </p:txBody>
      </p:sp>
      <p:sp>
        <p:nvSpPr>
          <p:cNvPr id="11" name="TextBox 10"/>
          <p:cNvSpPr txBox="1"/>
          <p:nvPr/>
        </p:nvSpPr>
        <p:spPr>
          <a:xfrm>
            <a:off x="804671" y="2029967"/>
            <a:ext cx="5614416" cy="2944368"/>
          </a:xfrm>
          <a:prstGeom prst="rect">
            <a:avLst/>
          </a:prstGeom>
          <a:noFill/>
        </p:spPr>
        <p:txBody>
          <a:bodyPr wrap="square" lIns="0" tIns="0" rIns="0" bIns="0">
            <a:spAutoFit/>
          </a:bodyPr>
          <a:lstStyle/>
          <a:p>
            <a:pPr>
              <a:lnSpc>
                <a:spcPct val="100000"/>
              </a:lnSpc>
            </a:pPr>
            <a:r>
              <a:rPr sz="1100">
                <a:solidFill>
                  <a:srgbClr val="DDE7F2"/>
                </a:solidFill>
                <a:latin typeface="Cascadia Mono"/>
              </a:rPr>
              <a:t>start, end = "2026-09-01", "2026-09-15"</a:t>
            </a:r>
            <a:br/>
            <a:r>
              <a:rPr sz="1100">
                <a:solidFill>
                  <a:srgbClr val="DDE7F2"/>
                </a:solidFill>
                <a:latin typeface="Cascadia Mono"/>
              </a:rPr>
              <a:t>predicate = f"event_date &gt;= '{start}' AND event_date &lt;= '{end}'"</a:t>
            </a:r>
            <a:br/>
            <a:br/>
            <a:r>
              <a:rPr sz="1100">
                <a:solidFill>
                  <a:srgbClr val="DDE7F2"/>
                </a:solidFill>
                <a:latin typeface="Cascadia Mono"/>
              </a:rPr>
              <a:t>backfill = (spark.table("bronze_events")</a:t>
            </a:r>
            <a:br/>
            <a:r>
              <a:rPr sz="1100">
                <a:solidFill>
                  <a:srgbClr val="DDE7F2"/>
                </a:solidFill>
                <a:latin typeface="Cascadia Mono"/>
              </a:rPr>
              <a:t>    .where(predicate)</a:t>
            </a:r>
            <a:br/>
            <a:r>
              <a:rPr sz="1100">
                <a:solidFill>
                  <a:srgbClr val="DDE7F2"/>
                </a:solidFill>
                <a:latin typeface="Cascadia Mono"/>
              </a:rPr>
              <a:t>    .transform(build_silver_events))</a:t>
            </a:r>
            <a:br/>
            <a:br/>
            <a:r>
              <a:rPr sz="1100">
                <a:solidFill>
                  <a:srgbClr val="DDE7F2"/>
                </a:solidFill>
                <a:latin typeface="Cascadia Mono"/>
              </a:rPr>
              <a:t>(backfill.write.format("delta")</a:t>
            </a:r>
            <a:br/>
            <a:r>
              <a:rPr sz="1100">
                <a:solidFill>
                  <a:srgbClr val="DDE7F2"/>
                </a:solidFill>
                <a:latin typeface="Cascadia Mono"/>
              </a:rPr>
              <a:t>    .mode("overwrite")</a:t>
            </a:r>
            <a:br/>
            <a:r>
              <a:rPr sz="1100">
                <a:solidFill>
                  <a:srgbClr val="DDE7F2"/>
                </a:solidFill>
                <a:latin typeface="Cascadia Mono"/>
              </a:rPr>
              <a:t>    .option("replaceWhere", predicate)</a:t>
            </a:r>
            <a:br/>
            <a:r>
              <a:rPr sz="1100">
                <a:solidFill>
                  <a:srgbClr val="DDE7F2"/>
                </a:solidFill>
                <a:latin typeface="Cascadia Mono"/>
              </a:rPr>
              <a:t>    .save(silver_path))</a:t>
            </a:r>
          </a:p>
        </p:txBody>
      </p:sp>
      <p:sp>
        <p:nvSpPr>
          <p:cNvPr id="12" name="TextBox 11"/>
          <p:cNvSpPr txBox="1"/>
          <p:nvPr/>
        </p:nvSpPr>
        <p:spPr>
          <a:xfrm>
            <a:off x="6949440" y="1600200"/>
            <a:ext cx="4297680" cy="320040"/>
          </a:xfrm>
          <a:prstGeom prst="rect">
            <a:avLst/>
          </a:prstGeom>
          <a:noFill/>
        </p:spPr>
        <p:txBody>
          <a:bodyPr wrap="none" lIns="45720" rIns="45720" anchor="t">
            <a:spAutoFit/>
          </a:bodyPr>
          <a:lstStyle/>
          <a:p>
            <a:pPr algn="l">
              <a:spcAft>
                <a:spcPts val="0"/>
              </a:spcAft>
            </a:pPr>
            <a:r>
              <a:rPr sz="1600" b="1" i="0">
                <a:solidFill>
                  <a:srgbClr val="FFFFFF"/>
                </a:solidFill>
                <a:latin typeface="Aptos"/>
              </a:rPr>
              <a:t>Backfill runbook</a:t>
            </a:r>
          </a:p>
        </p:txBody>
      </p:sp>
      <p:sp>
        <p:nvSpPr>
          <p:cNvPr id="13" name="TextBox 12"/>
          <p:cNvSpPr txBox="1"/>
          <p:nvPr/>
        </p:nvSpPr>
        <p:spPr>
          <a:xfrm>
            <a:off x="6931152" y="2103120"/>
            <a:ext cx="4389120" cy="3108960"/>
          </a:xfrm>
          <a:prstGeom prst="rect">
            <a:avLst/>
          </a:prstGeom>
          <a:noFill/>
        </p:spPr>
        <p:txBody>
          <a:bodyPr wrap="none" lIns="64008" tIns="27432" rIns="36576" bIns="27432">
            <a:spAutoFit/>
          </a:bodyPr>
          <a:lstStyle/>
          <a:p>
            <a:pPr>
              <a:lnSpc>
                <a:spcPct val="105000"/>
              </a:lnSpc>
              <a:spcAft>
                <a:spcPts val="900"/>
              </a:spcAft>
            </a:pPr>
            <a:r>
              <a:rPr b="1">
                <a:solidFill>
                  <a:srgbClr val="00AAA0"/>
                </a:solidFill>
              </a:rPr>
              <a:t>• </a:t>
            </a:r>
            <a:r>
              <a:rPr sz="1100" b="1">
                <a:solidFill>
                  <a:srgbClr val="E4EBF4"/>
                </a:solidFill>
                <a:latin typeface="Aptos"/>
              </a:rPr>
              <a:t>1. Scope</a:t>
            </a:r>
            <a:r>
              <a:rPr sz="1100">
                <a:solidFill>
                  <a:srgbClr val="E4EBF4"/>
                </a:solidFill>
                <a:latin typeface="Aptos"/>
              </a:rPr>
              <a:t> immutable input range and expected outputs.</a:t>
            </a:r>
          </a:p>
          <a:p>
            <a:pPr>
              <a:lnSpc>
                <a:spcPct val="105000"/>
              </a:lnSpc>
              <a:spcAft>
                <a:spcPts val="900"/>
              </a:spcAft>
            </a:pPr>
            <a:r>
              <a:rPr b="1">
                <a:solidFill>
                  <a:srgbClr val="00AAA0"/>
                </a:solidFill>
              </a:rPr>
              <a:t>• </a:t>
            </a:r>
            <a:r>
              <a:rPr sz="1100" b="1">
                <a:solidFill>
                  <a:srgbClr val="E4EBF4"/>
                </a:solidFill>
                <a:latin typeface="Aptos"/>
              </a:rPr>
              <a:t>2. Isolate</a:t>
            </a:r>
            <a:r>
              <a:rPr sz="1100">
                <a:solidFill>
                  <a:srgbClr val="E4EBF4"/>
                </a:solidFill>
                <a:latin typeface="Aptos"/>
              </a:rPr>
              <a:t> run ID, code version, compute, and temporary validation.</a:t>
            </a:r>
          </a:p>
          <a:p>
            <a:pPr>
              <a:lnSpc>
                <a:spcPct val="105000"/>
              </a:lnSpc>
              <a:spcAft>
                <a:spcPts val="900"/>
              </a:spcAft>
            </a:pPr>
            <a:r>
              <a:rPr b="1">
                <a:solidFill>
                  <a:srgbClr val="00AAA0"/>
                </a:solidFill>
              </a:rPr>
              <a:t>• </a:t>
            </a:r>
            <a:r>
              <a:rPr sz="1100" b="1">
                <a:solidFill>
                  <a:srgbClr val="E4EBF4"/>
                </a:solidFill>
                <a:latin typeface="Aptos"/>
              </a:rPr>
              <a:t>3. Validate</a:t>
            </a:r>
            <a:r>
              <a:rPr sz="1100">
                <a:solidFill>
                  <a:srgbClr val="E4EBF4"/>
                </a:solidFill>
                <a:latin typeface="Aptos"/>
              </a:rPr>
              <a:t> counts, checksums, business totals, and sample diffs.</a:t>
            </a:r>
          </a:p>
          <a:p>
            <a:pPr>
              <a:lnSpc>
                <a:spcPct val="105000"/>
              </a:lnSpc>
              <a:spcAft>
                <a:spcPts val="900"/>
              </a:spcAft>
            </a:pPr>
            <a:r>
              <a:rPr b="1">
                <a:solidFill>
                  <a:srgbClr val="00AAA0"/>
                </a:solidFill>
              </a:rPr>
              <a:t>• </a:t>
            </a:r>
            <a:r>
              <a:rPr sz="1100" b="1">
                <a:solidFill>
                  <a:srgbClr val="E4EBF4"/>
                </a:solidFill>
                <a:latin typeface="Aptos"/>
              </a:rPr>
              <a:t>4. Publish</a:t>
            </a:r>
            <a:r>
              <a:rPr sz="1100">
                <a:solidFill>
                  <a:srgbClr val="E4EBF4"/>
                </a:solidFill>
                <a:latin typeface="Aptos"/>
              </a:rPr>
              <a:t> atomically replace only the intended predicate.</a:t>
            </a:r>
          </a:p>
          <a:p>
            <a:pPr>
              <a:lnSpc>
                <a:spcPct val="105000"/>
              </a:lnSpc>
              <a:spcAft>
                <a:spcPts val="900"/>
              </a:spcAft>
            </a:pPr>
            <a:r>
              <a:rPr b="1">
                <a:solidFill>
                  <a:srgbClr val="00AAA0"/>
                </a:solidFill>
              </a:rPr>
              <a:t>• </a:t>
            </a:r>
            <a:r>
              <a:rPr sz="1100" b="1">
                <a:solidFill>
                  <a:srgbClr val="E4EBF4"/>
                </a:solidFill>
                <a:latin typeface="Aptos"/>
              </a:rPr>
              <a:t>5. Observe</a:t>
            </a:r>
            <a:r>
              <a:rPr sz="1100">
                <a:solidFill>
                  <a:srgbClr val="E4EBF4"/>
                </a:solidFill>
                <a:latin typeface="Aptos"/>
              </a:rPr>
              <a:t> downstream refresh, lineage, and cost; record audit.</a:t>
            </a:r>
          </a:p>
        </p:txBody>
      </p:sp>
      <p:sp>
        <p:nvSpPr>
          <p:cNvPr id="14" name="Rounded Rectangle 13"/>
          <p:cNvSpPr/>
          <p:nvPr/>
        </p:nvSpPr>
        <p:spPr>
          <a:xfrm>
            <a:off x="1280160" y="5440680"/>
            <a:ext cx="9692640" cy="621792"/>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426463" y="5559552"/>
            <a:ext cx="9418319" cy="438912"/>
          </a:xfrm>
          <a:prstGeom prst="rect">
            <a:avLst/>
          </a:prstGeom>
          <a:noFill/>
        </p:spPr>
        <p:txBody>
          <a:bodyPr wrap="none" lIns="45720" rIns="45720" anchor="t">
            <a:spAutoFit/>
          </a:bodyPr>
          <a:lstStyle/>
          <a:p>
            <a:pPr algn="l">
              <a:spcAft>
                <a:spcPts val="0"/>
              </a:spcAft>
            </a:pPr>
            <a:r>
              <a:rPr sz="1050" b="1" i="0">
                <a:solidFill>
                  <a:srgbClr val="0C1930"/>
                </a:solidFill>
                <a:latin typeface="Aptos"/>
              </a:rPr>
              <a:t>Guardrail: verify every output row satisfies replaceWhere; otherwise fail rather than silently writing outside the requested range.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C1930"/>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DELTA LAKE + SPARK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Streaming idempotency: checkpoint + deterministic MERGE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Use micro-batch IDs as audit signals; correctness comes from deterministic upsert and committed progress.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26</a:t>
            </a:r>
          </a:p>
        </p:txBody>
      </p:sp>
      <p:sp>
        <p:nvSpPr>
          <p:cNvPr id="8" name="Rounded Rectangle 7"/>
          <p:cNvSpPr/>
          <p:nvPr/>
        </p:nvSpPr>
        <p:spPr>
          <a:xfrm>
            <a:off x="594360" y="1481328"/>
            <a:ext cx="6949440" cy="4663440"/>
          </a:xfrm>
          <a:prstGeom prst="round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58952" y="1591056"/>
            <a:ext cx="1097280" cy="256032"/>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1636776"/>
            <a:ext cx="1097280" cy="137160"/>
          </a:xfrm>
          <a:prstGeom prst="rect">
            <a:avLst/>
          </a:prstGeom>
          <a:noFill/>
        </p:spPr>
        <p:txBody>
          <a:bodyPr wrap="none" lIns="45720" rIns="45720" anchor="t">
            <a:spAutoFit/>
          </a:bodyPr>
          <a:lstStyle/>
          <a:p>
            <a:pPr algn="ctr">
              <a:spcAft>
                <a:spcPts val="0"/>
              </a:spcAft>
            </a:pPr>
            <a:r>
              <a:rPr sz="800" b="1" i="0">
                <a:solidFill>
                  <a:srgbClr val="FFFFFF"/>
                </a:solidFill>
                <a:latin typeface="Aptos"/>
              </a:rPr>
              <a:t>PYSPARK</a:t>
            </a:r>
          </a:p>
        </p:txBody>
      </p:sp>
      <p:sp>
        <p:nvSpPr>
          <p:cNvPr id="11" name="TextBox 10"/>
          <p:cNvSpPr txBox="1"/>
          <p:nvPr/>
        </p:nvSpPr>
        <p:spPr>
          <a:xfrm>
            <a:off x="758952" y="1938528"/>
            <a:ext cx="6620255" cy="4133087"/>
          </a:xfrm>
          <a:prstGeom prst="rect">
            <a:avLst/>
          </a:prstGeom>
          <a:noFill/>
        </p:spPr>
        <p:txBody>
          <a:bodyPr wrap="square" lIns="0" tIns="0" rIns="0" bIns="0">
            <a:spAutoFit/>
          </a:bodyPr>
          <a:lstStyle/>
          <a:p>
            <a:pPr>
              <a:lnSpc>
                <a:spcPct val="100000"/>
              </a:lnSpc>
            </a:pPr>
            <a:r>
              <a:rPr sz="1000">
                <a:solidFill>
                  <a:srgbClr val="DDE7F2"/>
                </a:solidFill>
                <a:latin typeface="Cascadia Mono"/>
              </a:rPr>
              <a:t>def upsert_batch(df, batch_id):</a:t>
            </a:r>
            <a:br/>
            <a:r>
              <a:rPr sz="1000">
                <a:solidFill>
                  <a:srgbClr val="DDE7F2"/>
                </a:solidFill>
                <a:latin typeface="Cascadia Mono"/>
              </a:rPr>
              <a:t>    clean = dedupe_by_event_id(df)</a:t>
            </a:r>
            <a:br/>
            <a:r>
              <a:rPr sz="1000">
                <a:solidFill>
                  <a:srgbClr val="DDE7F2"/>
                </a:solidFill>
                <a:latin typeface="Cascadia Mono"/>
              </a:rPr>
              <a:t>    target = DeltaTable.forPath(spark, silver_path)</a:t>
            </a:r>
            <a:br/>
            <a:r>
              <a:rPr sz="1000">
                <a:solidFill>
                  <a:srgbClr val="DDE7F2"/>
                </a:solidFill>
                <a:latin typeface="Cascadia Mono"/>
              </a:rPr>
              <a:t>    (target.alias("t").merge(clean.alias("s"), "t.event_id=s.event_id")</a:t>
            </a:r>
            <a:br/>
            <a:r>
              <a:rPr sz="1000">
                <a:solidFill>
                  <a:srgbClr val="DDE7F2"/>
                </a:solidFill>
                <a:latin typeface="Cascadia Mono"/>
              </a:rPr>
              <a:t>      .whenMatchedUpdateAll(condition="s.updated_at &gt;= t.updated_at")</a:t>
            </a:r>
            <a:br/>
            <a:r>
              <a:rPr sz="1000">
                <a:solidFill>
                  <a:srgbClr val="DDE7F2"/>
                </a:solidFill>
                <a:latin typeface="Cascadia Mono"/>
              </a:rPr>
              <a:t>      .whenNotMatchedInsertAll()</a:t>
            </a:r>
            <a:br/>
            <a:r>
              <a:rPr sz="1000">
                <a:solidFill>
                  <a:srgbClr val="DDE7F2"/>
                </a:solidFill>
                <a:latin typeface="Cascadia Mono"/>
              </a:rPr>
              <a:t>      .execute())</a:t>
            </a:r>
            <a:br/>
            <a:r>
              <a:rPr sz="1000">
                <a:solidFill>
                  <a:srgbClr val="DDE7F2"/>
                </a:solidFill>
                <a:latin typeface="Cascadia Mono"/>
              </a:rPr>
              <a:t>    # Optional: record batch_id + target version in an audit ledger.</a:t>
            </a:r>
            <a:br/>
            <a:br/>
            <a:r>
              <a:rPr sz="1000">
                <a:solidFill>
                  <a:srgbClr val="DDE7F2"/>
                </a:solidFill>
                <a:latin typeface="Cascadia Mono"/>
              </a:rPr>
              <a:t>query = (spark.readStream.format("kafka")</a:t>
            </a:r>
            <a:br/>
            <a:r>
              <a:rPr sz="1000">
                <a:solidFill>
                  <a:srgbClr val="DDE7F2"/>
                </a:solidFill>
                <a:latin typeface="Cascadia Mono"/>
              </a:rPr>
              <a:t>    .options(**kafka_options).load()</a:t>
            </a:r>
            <a:br/>
            <a:r>
              <a:rPr sz="1000">
                <a:solidFill>
                  <a:srgbClr val="DDE7F2"/>
                </a:solidFill>
                <a:latin typeface="Cascadia Mono"/>
              </a:rPr>
              <a:t>    .transform(parse_and_validate)</a:t>
            </a:r>
            <a:br/>
            <a:r>
              <a:rPr sz="1000">
                <a:solidFill>
                  <a:srgbClr val="DDE7F2"/>
                </a:solidFill>
                <a:latin typeface="Cascadia Mono"/>
              </a:rPr>
              <a:t>    .writeStream.foreachBatch(upsert_batch)</a:t>
            </a:r>
            <a:br/>
            <a:r>
              <a:rPr sz="1000">
                <a:solidFill>
                  <a:srgbClr val="DDE7F2"/>
                </a:solidFill>
                <a:latin typeface="Cascadia Mono"/>
              </a:rPr>
              <a:t>    .option("checkpointLocation", checkpoint_path)</a:t>
            </a:r>
            <a:br/>
            <a:r>
              <a:rPr sz="1000">
                <a:solidFill>
                  <a:srgbClr val="DDE7F2"/>
                </a:solidFill>
                <a:latin typeface="Cascadia Mono"/>
              </a:rPr>
              <a:t>    .start())</a:t>
            </a:r>
          </a:p>
        </p:txBody>
      </p:sp>
      <p:sp>
        <p:nvSpPr>
          <p:cNvPr id="12" name="TextBox 11"/>
          <p:cNvSpPr txBox="1"/>
          <p:nvPr/>
        </p:nvSpPr>
        <p:spPr>
          <a:xfrm>
            <a:off x="7909560" y="1600200"/>
            <a:ext cx="3474720" cy="320040"/>
          </a:xfrm>
          <a:prstGeom prst="rect">
            <a:avLst/>
          </a:prstGeom>
          <a:noFill/>
        </p:spPr>
        <p:txBody>
          <a:bodyPr wrap="none" lIns="45720" rIns="45720" anchor="t">
            <a:spAutoFit/>
          </a:bodyPr>
          <a:lstStyle/>
          <a:p>
            <a:pPr algn="l">
              <a:spcAft>
                <a:spcPts val="0"/>
              </a:spcAft>
            </a:pPr>
            <a:r>
              <a:rPr sz="1600" b="1" i="0">
                <a:solidFill>
                  <a:srgbClr val="FF9F43"/>
                </a:solidFill>
                <a:latin typeface="Aptos"/>
              </a:rPr>
              <a:t>Important correction</a:t>
            </a:r>
          </a:p>
        </p:txBody>
      </p:sp>
      <p:sp>
        <p:nvSpPr>
          <p:cNvPr id="13" name="TextBox 12"/>
          <p:cNvSpPr txBox="1"/>
          <p:nvPr/>
        </p:nvSpPr>
        <p:spPr>
          <a:xfrm>
            <a:off x="7909560" y="2103120"/>
            <a:ext cx="3520440" cy="1051560"/>
          </a:xfrm>
          <a:prstGeom prst="rect">
            <a:avLst/>
          </a:prstGeom>
          <a:noFill/>
        </p:spPr>
        <p:txBody>
          <a:bodyPr wrap="none" lIns="45720" rIns="45720" anchor="t">
            <a:spAutoFit/>
          </a:bodyPr>
          <a:lstStyle/>
          <a:p>
            <a:pPr algn="l">
              <a:spcAft>
                <a:spcPts val="0"/>
              </a:spcAft>
            </a:pPr>
            <a:r>
              <a:rPr sz="1150" b="0" i="0">
                <a:solidFill>
                  <a:srgbClr val="E4EBF4"/>
                </a:solidFill>
                <a:latin typeface="Aptos"/>
              </a:rPr>
              <a:t>The supplied sample chains .option("txnAppId", …) onto a Delta MERGE builder. That is not the normal DeltaMergeBuilder API.</a:t>
            </a:r>
          </a:p>
        </p:txBody>
      </p:sp>
      <p:sp>
        <p:nvSpPr>
          <p:cNvPr id="14" name="TextBox 13"/>
          <p:cNvSpPr txBox="1"/>
          <p:nvPr/>
        </p:nvSpPr>
        <p:spPr>
          <a:xfrm>
            <a:off x="7909560" y="3383280"/>
            <a:ext cx="3520440" cy="2103120"/>
          </a:xfrm>
          <a:prstGeom prst="rect">
            <a:avLst/>
          </a:prstGeom>
          <a:noFill/>
        </p:spPr>
        <p:txBody>
          <a:bodyPr wrap="none" lIns="64008" tIns="27432" rIns="36576" bIns="27432">
            <a:spAutoFit/>
          </a:bodyPr>
          <a:lstStyle/>
          <a:p>
            <a:pPr>
              <a:lnSpc>
                <a:spcPct val="105000"/>
              </a:lnSpc>
              <a:spcAft>
                <a:spcPts val="800"/>
              </a:spcAft>
            </a:pPr>
            <a:r>
              <a:rPr b="1">
                <a:solidFill>
                  <a:srgbClr val="00AAA0"/>
                </a:solidFill>
              </a:rPr>
              <a:t>• </a:t>
            </a:r>
            <a:r>
              <a:rPr sz="1050" b="1">
                <a:solidFill>
                  <a:srgbClr val="E4EBF4"/>
                </a:solidFill>
                <a:latin typeface="Aptos"/>
              </a:rPr>
              <a:t>For MERGE: </a:t>
            </a:r>
            <a:r>
              <a:rPr sz="1050">
                <a:solidFill>
                  <a:srgbClr val="E4EBF4"/>
                </a:solidFill>
                <a:latin typeface="Aptos"/>
              </a:rPr>
              <a:t>checkpoint source progress and make the merge key/logic idempotent.</a:t>
            </a:r>
          </a:p>
          <a:p>
            <a:pPr>
              <a:lnSpc>
                <a:spcPct val="105000"/>
              </a:lnSpc>
              <a:spcAft>
                <a:spcPts val="800"/>
              </a:spcAft>
            </a:pPr>
            <a:r>
              <a:rPr b="1">
                <a:solidFill>
                  <a:srgbClr val="00AAA0"/>
                </a:solidFill>
              </a:rPr>
              <a:t>• </a:t>
            </a:r>
            <a:r>
              <a:rPr sz="1050" b="1">
                <a:solidFill>
                  <a:srgbClr val="E4EBF4"/>
                </a:solidFill>
                <a:latin typeface="Aptos"/>
              </a:rPr>
              <a:t>For direct Delta writes: </a:t>
            </a:r>
            <a:r>
              <a:rPr sz="1050">
                <a:solidFill>
                  <a:srgbClr val="E4EBF4"/>
                </a:solidFill>
                <a:latin typeface="Aptos"/>
              </a:rPr>
              <a:t>transaction app/version writer options may be used where the runtime supports them.</a:t>
            </a:r>
          </a:p>
          <a:p>
            <a:pPr>
              <a:lnSpc>
                <a:spcPct val="105000"/>
              </a:lnSpc>
              <a:spcAft>
                <a:spcPts val="800"/>
              </a:spcAft>
            </a:pPr>
            <a:r>
              <a:rPr b="1">
                <a:solidFill>
                  <a:srgbClr val="00AAA0"/>
                </a:solidFill>
              </a:rPr>
              <a:t>• </a:t>
            </a:r>
            <a:r>
              <a:rPr sz="1050" b="1">
                <a:solidFill>
                  <a:srgbClr val="E4EBF4"/>
                </a:solidFill>
                <a:latin typeface="Aptos"/>
              </a:rPr>
              <a:t>For multiple sinks: </a:t>
            </a:r>
            <a:r>
              <a:rPr sz="1050">
                <a:solidFill>
                  <a:srgbClr val="E4EBF4"/>
                </a:solidFill>
                <a:latin typeface="Aptos"/>
              </a:rPr>
              <a:t>use an audit ledger/outbox pattern; no checkpoint makes two systems one transaction.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DELTA LAKE + SPARK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Schema evolution: permissive edge, strict core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Treat schema change as a governed migration—not an accidental side effect.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27</a:t>
            </a:r>
          </a:p>
        </p:txBody>
      </p:sp>
      <p:sp>
        <p:nvSpPr>
          <p:cNvPr id="8" name="Rounded Rectangle 7"/>
          <p:cNvSpPr/>
          <p:nvPr/>
        </p:nvSpPr>
        <p:spPr>
          <a:xfrm>
            <a:off x="640080" y="1581912"/>
            <a:ext cx="3474720" cy="3246120"/>
          </a:xfrm>
          <a:prstGeom prst="roundRect">
            <a:avLst/>
          </a:prstGeom>
          <a:solidFill>
            <a:srgbClr val="FFFFFF"/>
          </a:solidFill>
          <a:ln w="1651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0080" y="1581912"/>
            <a:ext cx="3474720" cy="566928"/>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773936"/>
            <a:ext cx="3474720" cy="182880"/>
          </a:xfrm>
          <a:prstGeom prst="rect">
            <a:avLst/>
          </a:prstGeom>
          <a:noFill/>
        </p:spPr>
        <p:txBody>
          <a:bodyPr wrap="none" lIns="45720" rIns="45720" anchor="t">
            <a:spAutoFit/>
          </a:bodyPr>
          <a:lstStyle/>
          <a:p>
            <a:pPr algn="ctr">
              <a:spcAft>
                <a:spcPts val="0"/>
              </a:spcAft>
            </a:pPr>
            <a:r>
              <a:rPr sz="1400" b="1" i="0">
                <a:solidFill>
                  <a:srgbClr val="FFFFFF"/>
                </a:solidFill>
                <a:latin typeface="Aptos"/>
              </a:rPr>
              <a:t>BRONZE</a:t>
            </a:r>
          </a:p>
        </p:txBody>
      </p:sp>
      <p:sp>
        <p:nvSpPr>
          <p:cNvPr id="11" name="TextBox 10"/>
          <p:cNvSpPr txBox="1"/>
          <p:nvPr/>
        </p:nvSpPr>
        <p:spPr>
          <a:xfrm>
            <a:off x="640080" y="2423160"/>
            <a:ext cx="3474720" cy="320040"/>
          </a:xfrm>
          <a:prstGeom prst="rect">
            <a:avLst/>
          </a:prstGeom>
          <a:noFill/>
        </p:spPr>
        <p:txBody>
          <a:bodyPr wrap="none" lIns="45720" rIns="45720" anchor="t">
            <a:spAutoFit/>
          </a:bodyPr>
          <a:lstStyle/>
          <a:p>
            <a:pPr algn="ctr">
              <a:spcAft>
                <a:spcPts val="0"/>
              </a:spcAft>
            </a:pPr>
            <a:r>
              <a:rPr sz="1900" b="1" i="0">
                <a:solidFill>
                  <a:srgbClr val="0C1930"/>
                </a:solidFill>
                <a:latin typeface="Aptos"/>
              </a:rPr>
              <a:t>Absorb</a:t>
            </a:r>
          </a:p>
        </p:txBody>
      </p:sp>
      <p:sp>
        <p:nvSpPr>
          <p:cNvPr id="12" name="TextBox 11"/>
          <p:cNvSpPr txBox="1"/>
          <p:nvPr/>
        </p:nvSpPr>
        <p:spPr>
          <a:xfrm>
            <a:off x="960119" y="3063240"/>
            <a:ext cx="2834640" cy="96012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Keep raw payload, schema ID, ingest time, rescued data. Alert on drift.</a:t>
            </a:r>
          </a:p>
        </p:txBody>
      </p:sp>
      <p:sp>
        <p:nvSpPr>
          <p:cNvPr id="13" name="Rounded Rectangle 12"/>
          <p:cNvSpPr/>
          <p:nvPr/>
        </p:nvSpPr>
        <p:spPr>
          <a:xfrm>
            <a:off x="1344168" y="4279392"/>
            <a:ext cx="2057400" cy="310896"/>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44168" y="4329683"/>
            <a:ext cx="20574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do not lose data</a:t>
            </a:r>
          </a:p>
        </p:txBody>
      </p:sp>
      <p:cxnSp>
        <p:nvCxnSpPr>
          <p:cNvPr id="15" name="Connector 14"/>
          <p:cNvCxnSpPr/>
          <p:nvPr/>
        </p:nvCxnSpPr>
        <p:spPr>
          <a:xfrm>
            <a:off x="4133087" y="3200400"/>
            <a:ext cx="256033" cy="0"/>
          </a:xfrm>
          <a:prstGeom prst="line">
            <a:avLst/>
          </a:prstGeom>
          <a:ln w="19050">
            <a:solidFill>
              <a:srgbClr val="B16F3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480560" y="1581912"/>
            <a:ext cx="3474720" cy="3246120"/>
          </a:xfrm>
          <a:prstGeom prst="roundRect">
            <a:avLst/>
          </a:prstGeom>
          <a:solidFill>
            <a:srgbClr val="FFFFFF"/>
          </a:solidFill>
          <a:ln w="1651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480560" y="1581912"/>
            <a:ext cx="3474720" cy="566928"/>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80560" y="1773936"/>
            <a:ext cx="3474720" cy="18288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SILVER</a:t>
            </a:r>
          </a:p>
        </p:txBody>
      </p:sp>
      <p:sp>
        <p:nvSpPr>
          <p:cNvPr id="19" name="TextBox 18"/>
          <p:cNvSpPr txBox="1"/>
          <p:nvPr/>
        </p:nvSpPr>
        <p:spPr>
          <a:xfrm>
            <a:off x="4480560" y="2423160"/>
            <a:ext cx="3474720" cy="320040"/>
          </a:xfrm>
          <a:prstGeom prst="rect">
            <a:avLst/>
          </a:prstGeom>
          <a:noFill/>
        </p:spPr>
        <p:txBody>
          <a:bodyPr wrap="none" lIns="45720" rIns="45720" anchor="t">
            <a:spAutoFit/>
          </a:bodyPr>
          <a:lstStyle/>
          <a:p>
            <a:pPr algn="ctr">
              <a:spcAft>
                <a:spcPts val="0"/>
              </a:spcAft>
            </a:pPr>
            <a:r>
              <a:rPr sz="1900" b="1" i="0">
                <a:solidFill>
                  <a:srgbClr val="0C1930"/>
                </a:solidFill>
                <a:latin typeface="Aptos"/>
              </a:rPr>
              <a:t>Validate</a:t>
            </a:r>
          </a:p>
        </p:txBody>
      </p:sp>
      <p:sp>
        <p:nvSpPr>
          <p:cNvPr id="20" name="TextBox 19"/>
          <p:cNvSpPr txBox="1"/>
          <p:nvPr/>
        </p:nvSpPr>
        <p:spPr>
          <a:xfrm>
            <a:off x="4800600" y="3063240"/>
            <a:ext cx="2834640" cy="96012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Explicit expected schema, casts, defaults, quarantine, compatibility tests.</a:t>
            </a:r>
          </a:p>
        </p:txBody>
      </p:sp>
      <p:sp>
        <p:nvSpPr>
          <p:cNvPr id="21" name="Rounded Rectangle 20"/>
          <p:cNvSpPr/>
          <p:nvPr/>
        </p:nvSpPr>
        <p:spPr>
          <a:xfrm>
            <a:off x="5184648" y="4279392"/>
            <a:ext cx="2057400" cy="310896"/>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84648" y="4329683"/>
            <a:ext cx="205740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do not surprise users</a:t>
            </a:r>
          </a:p>
        </p:txBody>
      </p:sp>
      <p:cxnSp>
        <p:nvCxnSpPr>
          <p:cNvPr id="23" name="Connector 22"/>
          <p:cNvCxnSpPr/>
          <p:nvPr/>
        </p:nvCxnSpPr>
        <p:spPr>
          <a:xfrm>
            <a:off x="7973568" y="3200400"/>
            <a:ext cx="256032" cy="0"/>
          </a:xfrm>
          <a:prstGeom prst="line">
            <a:avLst/>
          </a:prstGeom>
          <a:ln w="19050">
            <a:solidFill>
              <a:srgbClr val="9AA4B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321040" y="1581912"/>
            <a:ext cx="3474720" cy="3246120"/>
          </a:xfrm>
          <a:prstGeom prst="roundRect">
            <a:avLst/>
          </a:prstGeom>
          <a:solidFill>
            <a:srgbClr val="FFFFFF"/>
          </a:solidFill>
          <a:ln w="1651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321040" y="1581912"/>
            <a:ext cx="3474720" cy="566928"/>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21040" y="1773936"/>
            <a:ext cx="3474720" cy="182880"/>
          </a:xfrm>
          <a:prstGeom prst="rect">
            <a:avLst/>
          </a:prstGeom>
          <a:noFill/>
        </p:spPr>
        <p:txBody>
          <a:bodyPr wrap="none" lIns="45720" rIns="45720" anchor="t">
            <a:spAutoFit/>
          </a:bodyPr>
          <a:lstStyle/>
          <a:p>
            <a:pPr algn="ctr">
              <a:spcAft>
                <a:spcPts val="0"/>
              </a:spcAft>
            </a:pPr>
            <a:r>
              <a:rPr sz="1400" b="1" i="0">
                <a:solidFill>
                  <a:srgbClr val="FFFFFF"/>
                </a:solidFill>
                <a:latin typeface="Aptos"/>
              </a:rPr>
              <a:t>GOLD</a:t>
            </a:r>
          </a:p>
        </p:txBody>
      </p:sp>
      <p:sp>
        <p:nvSpPr>
          <p:cNvPr id="27" name="TextBox 26"/>
          <p:cNvSpPr txBox="1"/>
          <p:nvPr/>
        </p:nvSpPr>
        <p:spPr>
          <a:xfrm>
            <a:off x="8321040" y="2423160"/>
            <a:ext cx="3474720" cy="320040"/>
          </a:xfrm>
          <a:prstGeom prst="rect">
            <a:avLst/>
          </a:prstGeom>
          <a:noFill/>
        </p:spPr>
        <p:txBody>
          <a:bodyPr wrap="none" lIns="45720" rIns="45720" anchor="t">
            <a:spAutoFit/>
          </a:bodyPr>
          <a:lstStyle/>
          <a:p>
            <a:pPr algn="ctr">
              <a:spcAft>
                <a:spcPts val="0"/>
              </a:spcAft>
            </a:pPr>
            <a:r>
              <a:rPr sz="1900" b="1" i="0">
                <a:solidFill>
                  <a:srgbClr val="0C1930"/>
                </a:solidFill>
                <a:latin typeface="Aptos"/>
              </a:rPr>
              <a:t>Contract</a:t>
            </a:r>
          </a:p>
        </p:txBody>
      </p:sp>
      <p:sp>
        <p:nvSpPr>
          <p:cNvPr id="28" name="TextBox 27"/>
          <p:cNvSpPr txBox="1"/>
          <p:nvPr/>
        </p:nvSpPr>
        <p:spPr>
          <a:xfrm>
            <a:off x="8641080" y="3063240"/>
            <a:ext cx="2834640" cy="96012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Stable names/types/semantics. Version views or products for breaking changes.</a:t>
            </a:r>
          </a:p>
        </p:txBody>
      </p:sp>
      <p:sp>
        <p:nvSpPr>
          <p:cNvPr id="29" name="Rounded Rectangle 28"/>
          <p:cNvSpPr/>
          <p:nvPr/>
        </p:nvSpPr>
        <p:spPr>
          <a:xfrm>
            <a:off x="9025128" y="4279392"/>
            <a:ext cx="2057400" cy="310896"/>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025128" y="4329683"/>
            <a:ext cx="20574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do not break consumers</a:t>
            </a:r>
          </a:p>
        </p:txBody>
      </p:sp>
      <p:sp>
        <p:nvSpPr>
          <p:cNvPr id="31" name="TextBox 30"/>
          <p:cNvSpPr txBox="1"/>
          <p:nvPr/>
        </p:nvSpPr>
        <p:spPr>
          <a:xfrm>
            <a:off x="777240" y="5230368"/>
            <a:ext cx="2057400" cy="274320"/>
          </a:xfrm>
          <a:prstGeom prst="rect">
            <a:avLst/>
          </a:prstGeom>
          <a:noFill/>
        </p:spPr>
        <p:txBody>
          <a:bodyPr wrap="none" lIns="45720" rIns="45720" anchor="t">
            <a:spAutoFit/>
          </a:bodyPr>
          <a:lstStyle/>
          <a:p>
            <a:pPr algn="l">
              <a:spcAft>
                <a:spcPts val="0"/>
              </a:spcAft>
            </a:pPr>
            <a:r>
              <a:rPr sz="1400" b="1" i="0">
                <a:solidFill>
                  <a:srgbClr val="0C1930"/>
                </a:solidFill>
                <a:latin typeface="Aptos"/>
              </a:rPr>
              <a:t>Compatibility policy</a:t>
            </a:r>
          </a:p>
        </p:txBody>
      </p:sp>
      <p:sp>
        <p:nvSpPr>
          <p:cNvPr id="32" name="TextBox 31"/>
          <p:cNvSpPr txBox="1"/>
          <p:nvPr/>
        </p:nvSpPr>
        <p:spPr>
          <a:xfrm>
            <a:off x="777240" y="5596128"/>
            <a:ext cx="10652760" cy="41148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Add nullable field → usually backward-compatible  |  Rename/drop/type change → version + migrate  |  Semantic change → new metric/product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C1930"/>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DELTA LAKE + SPARK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Controlled schema evolution in Spark + Delta</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Enable evolution narrowly, validate overlap, and never let convenience replace a migration policy.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28</a:t>
            </a:r>
          </a:p>
        </p:txBody>
      </p:sp>
      <p:sp>
        <p:nvSpPr>
          <p:cNvPr id="8" name="Rounded Rectangle 7"/>
          <p:cNvSpPr/>
          <p:nvPr/>
        </p:nvSpPr>
        <p:spPr>
          <a:xfrm>
            <a:off x="640080" y="1508760"/>
            <a:ext cx="5349240" cy="3246120"/>
          </a:xfrm>
          <a:prstGeom prst="round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4671" y="1618488"/>
            <a:ext cx="1097280" cy="256032"/>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1" y="1664207"/>
            <a:ext cx="1097280" cy="137160"/>
          </a:xfrm>
          <a:prstGeom prst="rect">
            <a:avLst/>
          </a:prstGeom>
          <a:noFill/>
        </p:spPr>
        <p:txBody>
          <a:bodyPr wrap="none" lIns="45720" rIns="45720" anchor="t">
            <a:spAutoFit/>
          </a:bodyPr>
          <a:lstStyle/>
          <a:p>
            <a:pPr algn="ctr">
              <a:spcAft>
                <a:spcPts val="0"/>
              </a:spcAft>
            </a:pPr>
            <a:r>
              <a:rPr sz="800" b="1" i="0">
                <a:solidFill>
                  <a:srgbClr val="FFFFFF"/>
                </a:solidFill>
                <a:latin typeface="Aptos"/>
              </a:rPr>
              <a:t>BRONZE</a:t>
            </a:r>
          </a:p>
        </p:txBody>
      </p:sp>
      <p:sp>
        <p:nvSpPr>
          <p:cNvPr id="11" name="TextBox 10"/>
          <p:cNvSpPr txBox="1"/>
          <p:nvPr/>
        </p:nvSpPr>
        <p:spPr>
          <a:xfrm>
            <a:off x="804671" y="1965960"/>
            <a:ext cx="5020055" cy="2715768"/>
          </a:xfrm>
          <a:prstGeom prst="rect">
            <a:avLst/>
          </a:prstGeom>
          <a:noFill/>
        </p:spPr>
        <p:txBody>
          <a:bodyPr wrap="square" lIns="0" tIns="0" rIns="0" bIns="0">
            <a:spAutoFit/>
          </a:bodyPr>
          <a:lstStyle/>
          <a:p>
            <a:pPr>
              <a:lnSpc>
                <a:spcPct val="100000"/>
              </a:lnSpc>
            </a:pPr>
            <a:r>
              <a:rPr sz="1050">
                <a:solidFill>
                  <a:srgbClr val="DDE7F2"/>
                </a:solidFill>
                <a:latin typeface="Cascadia Mono"/>
              </a:rPr>
              <a:t># Bronze: capture unexpected fields</a:t>
            </a:r>
            <a:br/>
            <a:r>
              <a:rPr sz="1050">
                <a:solidFill>
                  <a:srgbClr val="DDE7F2"/>
                </a:solidFill>
                <a:latin typeface="Cascadia Mono"/>
              </a:rPr>
              <a:t>bronze = (spark.readStream.format("cloudFiles")</a:t>
            </a:r>
            <a:br/>
            <a:r>
              <a:rPr sz="1050">
                <a:solidFill>
                  <a:srgbClr val="DDE7F2"/>
                </a:solidFill>
                <a:latin typeface="Cascadia Mono"/>
              </a:rPr>
              <a:t>  .option("cloudFiles.format", "json")</a:t>
            </a:r>
            <a:br/>
            <a:r>
              <a:rPr sz="1050">
                <a:solidFill>
                  <a:srgbClr val="DDE7F2"/>
                </a:solidFill>
                <a:latin typeface="Cascadia Mono"/>
              </a:rPr>
              <a:t>  .option("cloudFiles.schemaLocation", schema_path)</a:t>
            </a:r>
            <a:br/>
            <a:r>
              <a:rPr sz="1050">
                <a:solidFill>
                  <a:srgbClr val="DDE7F2"/>
                </a:solidFill>
                <a:latin typeface="Cascadia Mono"/>
              </a:rPr>
              <a:t>  .option("rescuedDataColumn", "_rescued_data")</a:t>
            </a:r>
            <a:br/>
            <a:r>
              <a:rPr sz="1050">
                <a:solidFill>
                  <a:srgbClr val="DDE7F2"/>
                </a:solidFill>
                <a:latin typeface="Cascadia Mono"/>
              </a:rPr>
              <a:t>  .load(landing_path))</a:t>
            </a:r>
          </a:p>
        </p:txBody>
      </p:sp>
      <p:sp>
        <p:nvSpPr>
          <p:cNvPr id="12" name="Rounded Rectangle 11"/>
          <p:cNvSpPr/>
          <p:nvPr/>
        </p:nvSpPr>
        <p:spPr>
          <a:xfrm>
            <a:off x="6199632" y="1508760"/>
            <a:ext cx="5349240" cy="3246120"/>
          </a:xfrm>
          <a:prstGeom prst="round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364224" y="1618488"/>
            <a:ext cx="1097280" cy="256032"/>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64224" y="1664207"/>
            <a:ext cx="1097280" cy="137160"/>
          </a:xfrm>
          <a:prstGeom prst="rect">
            <a:avLst/>
          </a:prstGeom>
          <a:noFill/>
        </p:spPr>
        <p:txBody>
          <a:bodyPr wrap="none" lIns="45720" rIns="45720" anchor="t">
            <a:spAutoFit/>
          </a:bodyPr>
          <a:lstStyle/>
          <a:p>
            <a:pPr algn="ctr">
              <a:spcAft>
                <a:spcPts val="0"/>
              </a:spcAft>
            </a:pPr>
            <a:r>
              <a:rPr sz="800" b="1" i="0">
                <a:solidFill>
                  <a:srgbClr val="FFFFFF"/>
                </a:solidFill>
                <a:latin typeface="Aptos"/>
              </a:rPr>
              <a:t>SILVER</a:t>
            </a:r>
          </a:p>
        </p:txBody>
      </p:sp>
      <p:sp>
        <p:nvSpPr>
          <p:cNvPr id="15" name="TextBox 14"/>
          <p:cNvSpPr txBox="1"/>
          <p:nvPr/>
        </p:nvSpPr>
        <p:spPr>
          <a:xfrm>
            <a:off x="6364224" y="1965960"/>
            <a:ext cx="5020055" cy="2715768"/>
          </a:xfrm>
          <a:prstGeom prst="rect">
            <a:avLst/>
          </a:prstGeom>
          <a:noFill/>
        </p:spPr>
        <p:txBody>
          <a:bodyPr wrap="square" lIns="0" tIns="0" rIns="0" bIns="0">
            <a:spAutoFit/>
          </a:bodyPr>
          <a:lstStyle/>
          <a:p>
            <a:pPr>
              <a:lnSpc>
                <a:spcPct val="100000"/>
              </a:lnSpc>
            </a:pPr>
            <a:r>
              <a:rPr sz="1050">
                <a:solidFill>
                  <a:srgbClr val="DDE7F2"/>
                </a:solidFill>
                <a:latin typeface="Cascadia Mono"/>
              </a:rPr>
              <a:t># Additive write after explicit validation</a:t>
            </a:r>
            <a:br/>
            <a:r>
              <a:rPr sz="1050">
                <a:solidFill>
                  <a:srgbClr val="DDE7F2"/>
                </a:solidFill>
                <a:latin typeface="Cascadia Mono"/>
              </a:rPr>
              <a:t>assert_required_columns(incoming, required)</a:t>
            </a:r>
            <a:br/>
            <a:r>
              <a:rPr sz="1050">
                <a:solidFill>
                  <a:srgbClr val="DDE7F2"/>
                </a:solidFill>
                <a:latin typeface="Cascadia Mono"/>
              </a:rPr>
              <a:t>assert_compatible_types(incoming.schema, target_schema)</a:t>
            </a:r>
            <a:br/>
            <a:br/>
            <a:r>
              <a:rPr sz="1050">
                <a:solidFill>
                  <a:srgbClr val="DDE7F2"/>
                </a:solidFill>
                <a:latin typeface="Cascadia Mono"/>
              </a:rPr>
              <a:t>(incoming.write.format("delta").mode("append")</a:t>
            </a:r>
            <a:br/>
            <a:r>
              <a:rPr sz="1050">
                <a:solidFill>
                  <a:srgbClr val="DDE7F2"/>
                </a:solidFill>
                <a:latin typeface="Cascadia Mono"/>
              </a:rPr>
              <a:t>  .option("mergeSchema", "true")</a:t>
            </a:r>
            <a:br/>
            <a:r>
              <a:rPr sz="1050">
                <a:solidFill>
                  <a:srgbClr val="DDE7F2"/>
                </a:solidFill>
                <a:latin typeface="Cascadia Mono"/>
              </a:rPr>
              <a:t>  .save(silver_path))</a:t>
            </a:r>
          </a:p>
        </p:txBody>
      </p:sp>
      <p:sp>
        <p:nvSpPr>
          <p:cNvPr id="16" name="Rounded Rectangle 15"/>
          <p:cNvSpPr/>
          <p:nvPr/>
        </p:nvSpPr>
        <p:spPr>
          <a:xfrm>
            <a:off x="777240" y="5074920"/>
            <a:ext cx="10652760" cy="685800"/>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3544" y="5193792"/>
            <a:ext cx="10378440" cy="502920"/>
          </a:xfrm>
          <a:prstGeom prst="rect">
            <a:avLst/>
          </a:prstGeom>
          <a:noFill/>
        </p:spPr>
        <p:txBody>
          <a:bodyPr wrap="none" lIns="45720" rIns="45720" anchor="t">
            <a:spAutoFit/>
          </a:bodyPr>
          <a:lstStyle/>
          <a:p>
            <a:pPr algn="l">
              <a:spcAft>
                <a:spcPts val="0"/>
              </a:spcAft>
            </a:pPr>
            <a:r>
              <a:rPr sz="1100" b="1" i="0">
                <a:solidFill>
                  <a:srgbClr val="0C1930"/>
                </a:solidFill>
                <a:latin typeface="Aptos"/>
              </a:rPr>
              <a:t>Avoid global auto-merge as the default: overly permissive evolution can accept columns with little or no meaningful overlap and push surprises downstream.</a:t>
            </a:r>
          </a:p>
        </p:txBody>
      </p:sp>
      <p:sp>
        <p:nvSpPr>
          <p:cNvPr id="18" name="TextBox 17"/>
          <p:cNvSpPr txBox="1"/>
          <p:nvPr/>
        </p:nvSpPr>
        <p:spPr>
          <a:xfrm>
            <a:off x="914400" y="5961888"/>
            <a:ext cx="10332720" cy="256032"/>
          </a:xfrm>
          <a:prstGeom prst="rect">
            <a:avLst/>
          </a:prstGeom>
          <a:noFill/>
        </p:spPr>
        <p:txBody>
          <a:bodyPr wrap="none" lIns="45720" rIns="45720" anchor="t">
            <a:spAutoFit/>
          </a:bodyPr>
          <a:lstStyle/>
          <a:p>
            <a:pPr algn="ctr">
              <a:spcAft>
                <a:spcPts val="0"/>
              </a:spcAft>
            </a:pPr>
            <a:r>
              <a:rPr sz="1000" b="1" i="0">
                <a:solidFill>
                  <a:srgbClr val="E4EBF4"/>
                </a:solidFill>
                <a:latin typeface="Aptos"/>
              </a:rPr>
              <a:t>Production gate: contract compatibility test → owner approval → migration → consumer validation → rollout → drift monitoring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OPERATIONS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Resilience, disaster recovery, and 10× scale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Name the failure domain, detection signal, recovery action, and data-loss boundary.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29</a:t>
            </a:r>
          </a:p>
        </p:txBody>
      </p:sp>
      <p:graphicFrame>
        <p:nvGraphicFramePr>
          <p:cNvPr id="8" name="Table 7"/>
          <p:cNvGraphicFramePr>
            <a:graphicFrameLocks noGrp="1"/>
          </p:cNvGraphicFramePr>
          <p:nvPr/>
        </p:nvGraphicFramePr>
        <p:xfrm>
          <a:off x="594360" y="1572768"/>
          <a:ext cx="11018520" cy="44348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633548">
                <a:tc>
                  <a:txBody>
                    <a:bodyPr/>
                    <a:lstStyle/>
                    <a:p>
                      <a:pPr algn="l"/>
                      <a:r>
                        <a:rPr sz="910" b="1">
                          <a:solidFill>
                            <a:srgbClr val="FFFFFF"/>
                          </a:solidFill>
                          <a:latin typeface="Aptos"/>
                        </a:rPr>
                        <a:t>Failure / pressure</a:t>
                      </a:r>
                    </a:p>
                  </a:txBody>
                  <a:tcPr marL="73152" marR="54864" marB="27432">
                    <a:solidFill>
                      <a:srgbClr val="0C1930"/>
                    </a:solidFill>
                  </a:tcPr>
                </a:tc>
                <a:tc>
                  <a:txBody>
                    <a:bodyPr/>
                    <a:lstStyle/>
                    <a:p>
                      <a:pPr algn="l"/>
                      <a:r>
                        <a:rPr sz="910" b="1">
                          <a:solidFill>
                            <a:srgbClr val="FFFFFF"/>
                          </a:solidFill>
                          <a:latin typeface="Aptos"/>
                        </a:rPr>
                        <a:t>Design response</a:t>
                      </a:r>
                    </a:p>
                  </a:txBody>
                  <a:tcPr marL="73152" marR="54864" marB="27432">
                    <a:solidFill>
                      <a:srgbClr val="0C1930"/>
                    </a:solidFill>
                  </a:tcPr>
                </a:tc>
                <a:tc>
                  <a:txBody>
                    <a:bodyPr/>
                    <a:lstStyle/>
                    <a:p>
                      <a:pPr algn="l"/>
                      <a:r>
                        <a:rPr sz="910" b="1">
                          <a:solidFill>
                            <a:srgbClr val="FFFFFF"/>
                          </a:solidFill>
                          <a:latin typeface="Aptos"/>
                        </a:rPr>
                        <a:t>Recovery proof</a:t>
                      </a:r>
                    </a:p>
                  </a:txBody>
                  <a:tcPr marL="73152" marR="54864" marB="27432">
                    <a:solidFill>
                      <a:srgbClr val="0C1930"/>
                    </a:solidFill>
                  </a:tcPr>
                </a:tc>
                <a:extLst>
                  <a:ext uri="{0D108BD9-81ED-4DB2-BD59-A6C34878D82A}">
                    <a16:rowId xmlns:a16="http://schemas.microsoft.com/office/drawing/2014/main" val="10000"/>
                  </a:ext>
                </a:extLst>
              </a:tr>
              <a:tr h="633548">
                <a:tc>
                  <a:txBody>
                    <a:bodyPr/>
                    <a:lstStyle/>
                    <a:p>
                      <a:pPr algn="l"/>
                      <a:r>
                        <a:rPr sz="960" b="0">
                          <a:solidFill>
                            <a:srgbClr val="253042"/>
                          </a:solidFill>
                          <a:latin typeface="Aptos"/>
                        </a:rPr>
                        <a:t>Consumer crash</a:t>
                      </a:r>
                    </a:p>
                  </a:txBody>
                  <a:tcPr marL="73152" marR="54864" marB="27432">
                    <a:solidFill>
                      <a:srgbClr val="FFFFFF"/>
                    </a:solidFill>
                  </a:tcPr>
                </a:tc>
                <a:tc>
                  <a:txBody>
                    <a:bodyPr/>
                    <a:lstStyle/>
                    <a:p>
                      <a:pPr algn="l"/>
                      <a:r>
                        <a:rPr sz="960" b="0">
                          <a:solidFill>
                            <a:srgbClr val="253042"/>
                          </a:solidFill>
                          <a:latin typeface="Aptos"/>
                        </a:rPr>
                        <a:t>Checkpoint offsets and state in durable storage</a:t>
                      </a:r>
                    </a:p>
                  </a:txBody>
                  <a:tcPr marL="73152" marR="54864" marB="27432">
                    <a:solidFill>
                      <a:srgbClr val="FFFFFF"/>
                    </a:solidFill>
                  </a:tcPr>
                </a:tc>
                <a:tc>
                  <a:txBody>
                    <a:bodyPr/>
                    <a:lstStyle/>
                    <a:p>
                      <a:pPr algn="l"/>
                      <a:r>
                        <a:rPr sz="960" b="0">
                          <a:solidFill>
                            <a:srgbClr val="253042"/>
                          </a:solidFill>
                          <a:latin typeface="Aptos"/>
                        </a:rPr>
                        <a:t>Restart and compare no-gap/no-duplicate outcomes</a:t>
                      </a:r>
                    </a:p>
                  </a:txBody>
                  <a:tcPr marL="73152" marR="54864" marB="27432">
                    <a:solidFill>
                      <a:srgbClr val="FFFFFF"/>
                    </a:solidFill>
                  </a:tcPr>
                </a:tc>
                <a:extLst>
                  <a:ext uri="{0D108BD9-81ED-4DB2-BD59-A6C34878D82A}">
                    <a16:rowId xmlns:a16="http://schemas.microsoft.com/office/drawing/2014/main" val="10001"/>
                  </a:ext>
                </a:extLst>
              </a:tr>
              <a:tr h="633548">
                <a:tc>
                  <a:txBody>
                    <a:bodyPr/>
                    <a:lstStyle/>
                    <a:p>
                      <a:pPr algn="l"/>
                      <a:r>
                        <a:rPr sz="960" b="0">
                          <a:solidFill>
                            <a:srgbClr val="253042"/>
                          </a:solidFill>
                          <a:latin typeface="Aptos"/>
                        </a:rPr>
                        <a:t>Poison record</a:t>
                      </a:r>
                    </a:p>
                  </a:txBody>
                  <a:tcPr marL="73152" marR="54864" marB="27432">
                    <a:solidFill>
                      <a:srgbClr val="F7F9FC"/>
                    </a:solidFill>
                  </a:tcPr>
                </a:tc>
                <a:tc>
                  <a:txBody>
                    <a:bodyPr/>
                    <a:lstStyle/>
                    <a:p>
                      <a:pPr algn="l"/>
                      <a:r>
                        <a:rPr sz="960" b="0">
                          <a:solidFill>
                            <a:srgbClr val="253042"/>
                          </a:solidFill>
                          <a:latin typeface="Aptos"/>
                        </a:rPr>
                        <a:t>Quarantine/DLQ with raw payload and reason</a:t>
                      </a:r>
                    </a:p>
                  </a:txBody>
                  <a:tcPr marL="73152" marR="54864" marB="27432">
                    <a:solidFill>
                      <a:srgbClr val="F7F9FC"/>
                    </a:solidFill>
                  </a:tcPr>
                </a:tc>
                <a:tc>
                  <a:txBody>
                    <a:bodyPr/>
                    <a:lstStyle/>
                    <a:p>
                      <a:pPr algn="l"/>
                      <a:r>
                        <a:rPr sz="960" b="0">
                          <a:solidFill>
                            <a:srgbClr val="253042"/>
                          </a:solidFill>
                          <a:latin typeface="Aptos"/>
                        </a:rPr>
                        <a:t>Replay corrected records through the same contract</a:t>
                      </a:r>
                    </a:p>
                  </a:txBody>
                  <a:tcPr marL="73152" marR="54864" marB="27432">
                    <a:solidFill>
                      <a:srgbClr val="F7F9FC"/>
                    </a:solidFill>
                  </a:tcPr>
                </a:tc>
                <a:extLst>
                  <a:ext uri="{0D108BD9-81ED-4DB2-BD59-A6C34878D82A}">
                    <a16:rowId xmlns:a16="http://schemas.microsoft.com/office/drawing/2014/main" val="10002"/>
                  </a:ext>
                </a:extLst>
              </a:tr>
              <a:tr h="633548">
                <a:tc>
                  <a:txBody>
                    <a:bodyPr/>
                    <a:lstStyle/>
                    <a:p>
                      <a:pPr algn="l"/>
                      <a:r>
                        <a:rPr sz="960" b="0">
                          <a:solidFill>
                            <a:srgbClr val="253042"/>
                          </a:solidFill>
                          <a:latin typeface="Aptos"/>
                        </a:rPr>
                        <a:t>Region outage</a:t>
                      </a:r>
                    </a:p>
                  </a:txBody>
                  <a:tcPr marL="73152" marR="54864" marB="27432">
                    <a:solidFill>
                      <a:srgbClr val="FFFFFF"/>
                    </a:solidFill>
                  </a:tcPr>
                </a:tc>
                <a:tc>
                  <a:txBody>
                    <a:bodyPr/>
                    <a:lstStyle/>
                    <a:p>
                      <a:pPr algn="l"/>
                      <a:r>
                        <a:rPr sz="960" b="0">
                          <a:solidFill>
                            <a:srgbClr val="253042"/>
                          </a:solidFill>
                          <a:latin typeface="Aptos"/>
                        </a:rPr>
                        <a:t>Replicated object data/catalog; documented failover</a:t>
                      </a:r>
                    </a:p>
                  </a:txBody>
                  <a:tcPr marL="73152" marR="54864" marB="27432">
                    <a:solidFill>
                      <a:srgbClr val="FFFFFF"/>
                    </a:solidFill>
                  </a:tcPr>
                </a:tc>
                <a:tc>
                  <a:txBody>
                    <a:bodyPr/>
                    <a:lstStyle/>
                    <a:p>
                      <a:pPr algn="l"/>
                      <a:r>
                        <a:rPr sz="960" b="0">
                          <a:solidFill>
                            <a:srgbClr val="253042"/>
                          </a:solidFill>
                          <a:latin typeface="Aptos"/>
                        </a:rPr>
                        <a:t>Exercise restore; measure actual RPO and RTO</a:t>
                      </a:r>
                    </a:p>
                  </a:txBody>
                  <a:tcPr marL="73152" marR="54864" marB="27432">
                    <a:solidFill>
                      <a:srgbClr val="FFFFFF"/>
                    </a:solidFill>
                  </a:tcPr>
                </a:tc>
                <a:extLst>
                  <a:ext uri="{0D108BD9-81ED-4DB2-BD59-A6C34878D82A}">
                    <a16:rowId xmlns:a16="http://schemas.microsoft.com/office/drawing/2014/main" val="10003"/>
                  </a:ext>
                </a:extLst>
              </a:tr>
              <a:tr h="633548">
                <a:tc>
                  <a:txBody>
                    <a:bodyPr/>
                    <a:lstStyle/>
                    <a:p>
                      <a:pPr algn="l"/>
                      <a:r>
                        <a:rPr sz="960" b="0">
                          <a:solidFill>
                            <a:srgbClr val="253042"/>
                          </a:solidFill>
                          <a:latin typeface="Aptos"/>
                        </a:rPr>
                        <a:t>10× traffic</a:t>
                      </a:r>
                    </a:p>
                  </a:txBody>
                  <a:tcPr marL="73152" marR="54864" marB="27432">
                    <a:solidFill>
                      <a:srgbClr val="F7F9FC"/>
                    </a:solidFill>
                  </a:tcPr>
                </a:tc>
                <a:tc>
                  <a:txBody>
                    <a:bodyPr/>
                    <a:lstStyle/>
                    <a:p>
                      <a:pPr algn="l"/>
                      <a:r>
                        <a:rPr sz="960" b="0">
                          <a:solidFill>
                            <a:srgbClr val="253042"/>
                          </a:solidFill>
                          <a:latin typeface="Aptos"/>
                        </a:rPr>
                        <a:t>Increase partitions; autoscale consumers; eliminate hot keys</a:t>
                      </a:r>
                    </a:p>
                  </a:txBody>
                  <a:tcPr marL="73152" marR="54864" marB="27432">
                    <a:solidFill>
                      <a:srgbClr val="F7F9FC"/>
                    </a:solidFill>
                  </a:tcPr>
                </a:tc>
                <a:tc>
                  <a:txBody>
                    <a:bodyPr/>
                    <a:lstStyle/>
                    <a:p>
                      <a:pPr algn="l"/>
                      <a:r>
                        <a:rPr sz="960" b="0">
                          <a:solidFill>
                            <a:srgbClr val="253042"/>
                          </a:solidFill>
                          <a:latin typeface="Aptos"/>
                        </a:rPr>
                        <a:t>Load test peak + headroom; inspect lag and throttling</a:t>
                      </a:r>
                    </a:p>
                  </a:txBody>
                  <a:tcPr marL="73152" marR="54864" marB="27432">
                    <a:solidFill>
                      <a:srgbClr val="F7F9FC"/>
                    </a:solidFill>
                  </a:tcPr>
                </a:tc>
                <a:extLst>
                  <a:ext uri="{0D108BD9-81ED-4DB2-BD59-A6C34878D82A}">
                    <a16:rowId xmlns:a16="http://schemas.microsoft.com/office/drawing/2014/main" val="10004"/>
                  </a:ext>
                </a:extLst>
              </a:tr>
              <a:tr h="633548">
                <a:tc>
                  <a:txBody>
                    <a:bodyPr/>
                    <a:lstStyle/>
                    <a:p>
                      <a:pPr algn="l"/>
                      <a:r>
                        <a:rPr sz="960" b="0">
                          <a:solidFill>
                            <a:srgbClr val="253042"/>
                          </a:solidFill>
                          <a:latin typeface="Aptos"/>
                        </a:rPr>
                        <a:t>Bad deployment</a:t>
                      </a:r>
                    </a:p>
                  </a:txBody>
                  <a:tcPr marL="73152" marR="54864" marB="27432">
                    <a:solidFill>
                      <a:srgbClr val="FFFFFF"/>
                    </a:solidFill>
                  </a:tcPr>
                </a:tc>
                <a:tc>
                  <a:txBody>
                    <a:bodyPr/>
                    <a:lstStyle/>
                    <a:p>
                      <a:pPr algn="l"/>
                      <a:r>
                        <a:rPr sz="960" b="0">
                          <a:solidFill>
                            <a:srgbClr val="253042"/>
                          </a:solidFill>
                          <a:latin typeface="Aptos"/>
                        </a:rPr>
                        <a:t>Versioned jobs/tables; canary; snapshot rollback</a:t>
                      </a:r>
                    </a:p>
                  </a:txBody>
                  <a:tcPr marL="73152" marR="54864" marB="27432">
                    <a:solidFill>
                      <a:srgbClr val="FFFFFF"/>
                    </a:solidFill>
                  </a:tcPr>
                </a:tc>
                <a:tc>
                  <a:txBody>
                    <a:bodyPr/>
                    <a:lstStyle/>
                    <a:p>
                      <a:pPr algn="l"/>
                      <a:r>
                        <a:rPr sz="960" b="0">
                          <a:solidFill>
                            <a:srgbClr val="253042"/>
                          </a:solidFill>
                          <a:latin typeface="Aptos"/>
                        </a:rPr>
                        <a:t>Rollback while preserving committed source progress</a:t>
                      </a:r>
                    </a:p>
                  </a:txBody>
                  <a:tcPr marL="73152" marR="54864" marB="27432">
                    <a:solidFill>
                      <a:srgbClr val="FFFFFF"/>
                    </a:solidFill>
                  </a:tcPr>
                </a:tc>
                <a:extLst>
                  <a:ext uri="{0D108BD9-81ED-4DB2-BD59-A6C34878D82A}">
                    <a16:rowId xmlns:a16="http://schemas.microsoft.com/office/drawing/2014/main" val="10005"/>
                  </a:ext>
                </a:extLst>
              </a:tr>
              <a:tr h="633552">
                <a:tc>
                  <a:txBody>
                    <a:bodyPr/>
                    <a:lstStyle/>
                    <a:p>
                      <a:pPr algn="l"/>
                      <a:r>
                        <a:rPr sz="960" b="0">
                          <a:solidFill>
                            <a:srgbClr val="253042"/>
                          </a:solidFill>
                          <a:latin typeface="Aptos"/>
                        </a:rPr>
                        <a:t>Corrupt output</a:t>
                      </a:r>
                    </a:p>
                  </a:txBody>
                  <a:tcPr marL="73152" marR="54864" marB="27432">
                    <a:solidFill>
                      <a:srgbClr val="F7F9FC"/>
                    </a:solidFill>
                  </a:tcPr>
                </a:tc>
                <a:tc>
                  <a:txBody>
                    <a:bodyPr/>
                    <a:lstStyle/>
                    <a:p>
                      <a:pPr algn="l"/>
                      <a:r>
                        <a:rPr sz="960" b="0">
                          <a:solidFill>
                            <a:srgbClr val="253042"/>
                          </a:solidFill>
                          <a:latin typeface="Aptos"/>
                        </a:rPr>
                        <a:t>Time travel/snapshots + bounded rebuild from Bronze</a:t>
                      </a:r>
                    </a:p>
                  </a:txBody>
                  <a:tcPr marL="73152" marR="54864" marB="27432">
                    <a:solidFill>
                      <a:srgbClr val="F7F9FC"/>
                    </a:solidFill>
                  </a:tcPr>
                </a:tc>
                <a:tc>
                  <a:txBody>
                    <a:bodyPr/>
                    <a:lstStyle/>
                    <a:p>
                      <a:pPr algn="l"/>
                      <a:r>
                        <a:rPr sz="960" b="0">
                          <a:solidFill>
                            <a:srgbClr val="253042"/>
                          </a:solidFill>
                          <a:latin typeface="Aptos"/>
                        </a:rPr>
                        <a:t>Reconcile totals and republish atomically</a:t>
                      </a:r>
                    </a:p>
                  </a:txBody>
                  <a:tcPr marL="73152" marR="54864" marB="27432">
                    <a:solidFill>
                      <a:srgbClr val="F7F9FC"/>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731520" y="6080760"/>
            <a:ext cx="10744200" cy="246888"/>
          </a:xfrm>
          <a:prstGeom prst="rect">
            <a:avLst/>
          </a:prstGeom>
          <a:noFill/>
        </p:spPr>
        <p:txBody>
          <a:bodyPr wrap="none" lIns="45720" rIns="45720" anchor="t">
            <a:spAutoFit/>
          </a:bodyPr>
          <a:lstStyle/>
          <a:p>
            <a:pPr algn="ctr">
              <a:spcAft>
                <a:spcPts val="0"/>
              </a:spcAft>
            </a:pPr>
            <a:r>
              <a:rPr sz="950" b="1" i="0">
                <a:solidFill>
                  <a:srgbClr val="007874"/>
                </a:solidFill>
                <a:latin typeface="Aptos"/>
              </a:rPr>
              <a:t>RPO = acceptable data loss • RTO = acceptable recovery time • both must be validated by drills, not assumed from product features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END-TO-END EXAMPLE</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Case study — Real-time food-delivery analytics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Two consumers, two SLAs, one durable source of truth.</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30</a:t>
            </a:r>
          </a:p>
        </p:txBody>
      </p:sp>
      <p:sp>
        <p:nvSpPr>
          <p:cNvPr id="8" name="Rounded Rectangle 7"/>
          <p:cNvSpPr/>
          <p:nvPr/>
        </p:nvSpPr>
        <p:spPr>
          <a:xfrm>
            <a:off x="640080" y="1572768"/>
            <a:ext cx="5303520" cy="15544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572768"/>
            <a:ext cx="64008" cy="155448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04671" y="1719072"/>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1" y="1755648"/>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98448" y="1700784"/>
            <a:ext cx="4480559"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Restaurant operations</a:t>
            </a:r>
          </a:p>
        </p:txBody>
      </p:sp>
      <p:sp>
        <p:nvSpPr>
          <p:cNvPr id="13" name="TextBox 12"/>
          <p:cNvSpPr txBox="1"/>
          <p:nvPr/>
        </p:nvSpPr>
        <p:spPr>
          <a:xfrm>
            <a:off x="850392" y="2167128"/>
            <a:ext cx="4910328" cy="841247"/>
          </a:xfrm>
          <a:prstGeom prst="rect">
            <a:avLst/>
          </a:prstGeom>
          <a:noFill/>
        </p:spPr>
        <p:txBody>
          <a:bodyPr wrap="none" lIns="45720" rIns="45720" anchor="t">
            <a:spAutoFit/>
          </a:bodyPr>
          <a:lstStyle/>
          <a:p>
            <a:pPr algn="l">
              <a:spcAft>
                <a:spcPts val="0"/>
              </a:spcAft>
            </a:pPr>
            <a:r>
              <a:rPr sz="1100" b="0" i="0">
                <a:solidFill>
                  <a:srgbClr val="253042"/>
                </a:solidFill>
                <a:latin typeface="Aptos"/>
              </a:rPr>
              <a:t>Live active orders, cancellations, prep time, and delivery delay. p95 freshness &lt;2 minutes; 50K active restaurants.</a:t>
            </a:r>
          </a:p>
        </p:txBody>
      </p:sp>
      <p:sp>
        <p:nvSpPr>
          <p:cNvPr id="14" name="Rounded Rectangle 13"/>
          <p:cNvSpPr/>
          <p:nvPr/>
        </p:nvSpPr>
        <p:spPr>
          <a:xfrm>
            <a:off x="6217920" y="1572768"/>
            <a:ext cx="5303520" cy="15544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1572768"/>
            <a:ext cx="64008" cy="155448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382512" y="1719072"/>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82512" y="1755648"/>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8" name="TextBox 17"/>
          <p:cNvSpPr txBox="1"/>
          <p:nvPr/>
        </p:nvSpPr>
        <p:spPr>
          <a:xfrm>
            <a:off x="6876288" y="1700784"/>
            <a:ext cx="4480559"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Executive analytics</a:t>
            </a:r>
          </a:p>
        </p:txBody>
      </p:sp>
      <p:sp>
        <p:nvSpPr>
          <p:cNvPr id="19" name="TextBox 18"/>
          <p:cNvSpPr txBox="1"/>
          <p:nvPr/>
        </p:nvSpPr>
        <p:spPr>
          <a:xfrm>
            <a:off x="6428232" y="2167128"/>
            <a:ext cx="4910328" cy="841247"/>
          </a:xfrm>
          <a:prstGeom prst="rect">
            <a:avLst/>
          </a:prstGeom>
          <a:noFill/>
        </p:spPr>
        <p:txBody>
          <a:bodyPr wrap="none" lIns="45720" rIns="45720" anchor="t">
            <a:spAutoFit/>
          </a:bodyPr>
          <a:lstStyle/>
          <a:p>
            <a:pPr algn="l">
              <a:spcAft>
                <a:spcPts val="0"/>
              </a:spcAft>
            </a:pPr>
            <a:r>
              <a:rPr sz="1100" b="0" i="0">
                <a:solidFill>
                  <a:srgbClr val="253042"/>
                </a:solidFill>
                <a:latin typeface="Aptos"/>
              </a:rPr>
              <a:t>Daily revenue, cohorts, geographic trends, and partner performance. Next-day SLA; history must be reproducible.</a:t>
            </a:r>
          </a:p>
        </p:txBody>
      </p:sp>
      <p:sp>
        <p:nvSpPr>
          <p:cNvPr id="20" name="Rounded Rectangle 19"/>
          <p:cNvSpPr/>
          <p:nvPr/>
        </p:nvSpPr>
        <p:spPr>
          <a:xfrm>
            <a:off x="640080" y="3429000"/>
            <a:ext cx="10881360" cy="21031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3657600"/>
            <a:ext cx="2011680" cy="274320"/>
          </a:xfrm>
          <a:prstGeom prst="rect">
            <a:avLst/>
          </a:prstGeom>
          <a:noFill/>
        </p:spPr>
        <p:txBody>
          <a:bodyPr wrap="none" lIns="45720" rIns="45720" anchor="t">
            <a:spAutoFit/>
          </a:bodyPr>
          <a:lstStyle/>
          <a:p>
            <a:pPr algn="l">
              <a:spcAft>
                <a:spcPts val="0"/>
              </a:spcAft>
            </a:pPr>
            <a:r>
              <a:rPr sz="1500" b="1" i="0">
                <a:solidFill>
                  <a:srgbClr val="0C1930"/>
                </a:solidFill>
                <a:latin typeface="Aptos"/>
              </a:rPr>
              <a:t>Sizing assumptions</a:t>
            </a:r>
          </a:p>
        </p:txBody>
      </p:sp>
      <p:sp>
        <p:nvSpPr>
          <p:cNvPr id="22" name="TextBox 21"/>
          <p:cNvSpPr txBox="1"/>
          <p:nvPr/>
        </p:nvSpPr>
        <p:spPr>
          <a:xfrm>
            <a:off x="868680" y="4251960"/>
            <a:ext cx="1463040" cy="365760"/>
          </a:xfrm>
          <a:prstGeom prst="rect">
            <a:avLst/>
          </a:prstGeom>
          <a:noFill/>
        </p:spPr>
        <p:txBody>
          <a:bodyPr wrap="none" lIns="45720" rIns="45720" anchor="t">
            <a:spAutoFit/>
          </a:bodyPr>
          <a:lstStyle/>
          <a:p>
            <a:pPr algn="ctr">
              <a:spcAft>
                <a:spcPts val="0"/>
              </a:spcAft>
            </a:pPr>
            <a:r>
              <a:rPr sz="2000" b="1" i="0">
                <a:solidFill>
                  <a:srgbClr val="00AAA0"/>
                </a:solidFill>
                <a:latin typeface="Aptos"/>
              </a:rPr>
              <a:t>30M</a:t>
            </a:r>
          </a:p>
        </p:txBody>
      </p:sp>
      <p:sp>
        <p:nvSpPr>
          <p:cNvPr id="23" name="TextBox 22"/>
          <p:cNvSpPr txBox="1"/>
          <p:nvPr/>
        </p:nvSpPr>
        <p:spPr>
          <a:xfrm>
            <a:off x="868680"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events/day</a:t>
            </a:r>
          </a:p>
        </p:txBody>
      </p:sp>
      <p:sp>
        <p:nvSpPr>
          <p:cNvPr id="24" name="TextBox 23"/>
          <p:cNvSpPr txBox="1"/>
          <p:nvPr/>
        </p:nvSpPr>
        <p:spPr>
          <a:xfrm>
            <a:off x="868680"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5M orders × 6 lifecycle events</a:t>
            </a:r>
          </a:p>
        </p:txBody>
      </p:sp>
      <p:sp>
        <p:nvSpPr>
          <p:cNvPr id="25" name="TextBox 24"/>
          <p:cNvSpPr txBox="1"/>
          <p:nvPr/>
        </p:nvSpPr>
        <p:spPr>
          <a:xfrm>
            <a:off x="2587752" y="4251960"/>
            <a:ext cx="1463040" cy="365760"/>
          </a:xfrm>
          <a:prstGeom prst="rect">
            <a:avLst/>
          </a:prstGeom>
          <a:noFill/>
        </p:spPr>
        <p:txBody>
          <a:bodyPr wrap="none" lIns="45720" rIns="45720" anchor="t">
            <a:spAutoFit/>
          </a:bodyPr>
          <a:lstStyle/>
          <a:p>
            <a:pPr algn="ctr">
              <a:spcAft>
                <a:spcPts val="0"/>
              </a:spcAft>
            </a:pPr>
            <a:r>
              <a:rPr sz="2000" b="1" i="0">
                <a:solidFill>
                  <a:srgbClr val="4385F5"/>
                </a:solidFill>
                <a:latin typeface="Aptos"/>
              </a:rPr>
              <a:t>~350</a:t>
            </a:r>
          </a:p>
        </p:txBody>
      </p:sp>
      <p:sp>
        <p:nvSpPr>
          <p:cNvPr id="26" name="TextBox 25"/>
          <p:cNvSpPr txBox="1"/>
          <p:nvPr/>
        </p:nvSpPr>
        <p:spPr>
          <a:xfrm>
            <a:off x="2587752"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events/sec</a:t>
            </a:r>
          </a:p>
        </p:txBody>
      </p:sp>
      <p:sp>
        <p:nvSpPr>
          <p:cNvPr id="27" name="TextBox 26"/>
          <p:cNvSpPr txBox="1"/>
          <p:nvPr/>
        </p:nvSpPr>
        <p:spPr>
          <a:xfrm>
            <a:off x="2587752"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average across the day</a:t>
            </a:r>
          </a:p>
        </p:txBody>
      </p:sp>
      <p:sp>
        <p:nvSpPr>
          <p:cNvPr id="28" name="TextBox 27"/>
          <p:cNvSpPr txBox="1"/>
          <p:nvPr/>
        </p:nvSpPr>
        <p:spPr>
          <a:xfrm>
            <a:off x="4306824" y="4251960"/>
            <a:ext cx="1463040" cy="365760"/>
          </a:xfrm>
          <a:prstGeom prst="rect">
            <a:avLst/>
          </a:prstGeom>
          <a:noFill/>
        </p:spPr>
        <p:txBody>
          <a:bodyPr wrap="none" lIns="45720" rIns="45720" anchor="t">
            <a:spAutoFit/>
          </a:bodyPr>
          <a:lstStyle/>
          <a:p>
            <a:pPr algn="ctr">
              <a:spcAft>
                <a:spcPts val="0"/>
              </a:spcAft>
            </a:pPr>
            <a:r>
              <a:rPr sz="2000" b="1" i="0">
                <a:solidFill>
                  <a:srgbClr val="855CF8"/>
                </a:solidFill>
                <a:latin typeface="Aptos"/>
              </a:rPr>
              <a:t>~833</a:t>
            </a:r>
          </a:p>
        </p:txBody>
      </p:sp>
      <p:sp>
        <p:nvSpPr>
          <p:cNvPr id="29" name="TextBox 28"/>
          <p:cNvSpPr txBox="1"/>
          <p:nvPr/>
        </p:nvSpPr>
        <p:spPr>
          <a:xfrm>
            <a:off x="4306824"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events/sec</a:t>
            </a:r>
          </a:p>
        </p:txBody>
      </p:sp>
      <p:sp>
        <p:nvSpPr>
          <p:cNvPr id="30" name="TextBox 29"/>
          <p:cNvSpPr txBox="1"/>
          <p:nvPr/>
        </p:nvSpPr>
        <p:spPr>
          <a:xfrm>
            <a:off x="4306824"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given dinner-rush peak</a:t>
            </a:r>
          </a:p>
        </p:txBody>
      </p:sp>
      <p:sp>
        <p:nvSpPr>
          <p:cNvPr id="31" name="TextBox 30"/>
          <p:cNvSpPr txBox="1"/>
          <p:nvPr/>
        </p:nvSpPr>
        <p:spPr>
          <a:xfrm>
            <a:off x="6025896" y="4251960"/>
            <a:ext cx="1463040" cy="365760"/>
          </a:xfrm>
          <a:prstGeom prst="rect">
            <a:avLst/>
          </a:prstGeom>
          <a:noFill/>
        </p:spPr>
        <p:txBody>
          <a:bodyPr wrap="none" lIns="45720" rIns="45720" anchor="t">
            <a:spAutoFit/>
          </a:bodyPr>
          <a:lstStyle/>
          <a:p>
            <a:pPr algn="ctr">
              <a:spcAft>
                <a:spcPts val="0"/>
              </a:spcAft>
            </a:pPr>
            <a:r>
              <a:rPr sz="2000" b="1" i="0">
                <a:solidFill>
                  <a:srgbClr val="FF9F43"/>
                </a:solidFill>
                <a:latin typeface="Aptos"/>
              </a:rPr>
              <a:t>30 GB</a:t>
            </a:r>
          </a:p>
        </p:txBody>
      </p:sp>
      <p:sp>
        <p:nvSpPr>
          <p:cNvPr id="32" name="TextBox 31"/>
          <p:cNvSpPr txBox="1"/>
          <p:nvPr/>
        </p:nvSpPr>
        <p:spPr>
          <a:xfrm>
            <a:off x="6025896"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raw/day</a:t>
            </a:r>
          </a:p>
        </p:txBody>
      </p:sp>
      <p:sp>
        <p:nvSpPr>
          <p:cNvPr id="33" name="TextBox 32"/>
          <p:cNvSpPr txBox="1"/>
          <p:nvPr/>
        </p:nvSpPr>
        <p:spPr>
          <a:xfrm>
            <a:off x="6025896"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at ~1 KB per event</a:t>
            </a:r>
          </a:p>
        </p:txBody>
      </p:sp>
      <p:sp>
        <p:nvSpPr>
          <p:cNvPr id="34" name="TextBox 33"/>
          <p:cNvSpPr txBox="1"/>
          <p:nvPr/>
        </p:nvSpPr>
        <p:spPr>
          <a:xfrm>
            <a:off x="7744967" y="4251960"/>
            <a:ext cx="1463040" cy="365760"/>
          </a:xfrm>
          <a:prstGeom prst="rect">
            <a:avLst/>
          </a:prstGeom>
          <a:noFill/>
        </p:spPr>
        <p:txBody>
          <a:bodyPr wrap="none" lIns="45720" rIns="45720" anchor="t">
            <a:spAutoFit/>
          </a:bodyPr>
          <a:lstStyle/>
          <a:p>
            <a:pPr algn="ctr">
              <a:spcAft>
                <a:spcPts val="0"/>
              </a:spcAft>
            </a:pPr>
            <a:r>
              <a:rPr sz="2000" b="1" i="0">
                <a:solidFill>
                  <a:srgbClr val="39B54A"/>
                </a:solidFill>
                <a:latin typeface="Aptos"/>
              </a:rPr>
              <a:t>~22 TB</a:t>
            </a:r>
          </a:p>
        </p:txBody>
      </p:sp>
      <p:sp>
        <p:nvSpPr>
          <p:cNvPr id="35" name="TextBox 34"/>
          <p:cNvSpPr txBox="1"/>
          <p:nvPr/>
        </p:nvSpPr>
        <p:spPr>
          <a:xfrm>
            <a:off x="7744967"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2-year raw</a:t>
            </a:r>
          </a:p>
        </p:txBody>
      </p:sp>
      <p:sp>
        <p:nvSpPr>
          <p:cNvPr id="36" name="TextBox 35"/>
          <p:cNvSpPr txBox="1"/>
          <p:nvPr/>
        </p:nvSpPr>
        <p:spPr>
          <a:xfrm>
            <a:off x="7744967"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before compression</a:t>
            </a:r>
          </a:p>
        </p:txBody>
      </p:sp>
      <p:sp>
        <p:nvSpPr>
          <p:cNvPr id="37" name="TextBox 36"/>
          <p:cNvSpPr txBox="1"/>
          <p:nvPr/>
        </p:nvSpPr>
        <p:spPr>
          <a:xfrm>
            <a:off x="9464039" y="4251960"/>
            <a:ext cx="1463040" cy="365760"/>
          </a:xfrm>
          <a:prstGeom prst="rect">
            <a:avLst/>
          </a:prstGeom>
          <a:noFill/>
        </p:spPr>
        <p:txBody>
          <a:bodyPr wrap="none" lIns="45720" rIns="45720" anchor="t">
            <a:spAutoFit/>
          </a:bodyPr>
          <a:lstStyle/>
          <a:p>
            <a:pPr algn="ctr">
              <a:spcAft>
                <a:spcPts val="0"/>
              </a:spcAft>
            </a:pPr>
            <a:r>
              <a:rPr sz="2000" b="1" i="0">
                <a:solidFill>
                  <a:srgbClr val="E34C59"/>
                </a:solidFill>
                <a:latin typeface="Aptos"/>
              </a:rPr>
              <a:t>~50 MB</a:t>
            </a:r>
          </a:p>
        </p:txBody>
      </p:sp>
      <p:sp>
        <p:nvSpPr>
          <p:cNvPr id="38" name="TextBox 37"/>
          <p:cNvSpPr txBox="1"/>
          <p:nvPr/>
        </p:nvSpPr>
        <p:spPr>
          <a:xfrm>
            <a:off x="9464039"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Redis state</a:t>
            </a:r>
          </a:p>
        </p:txBody>
      </p:sp>
      <p:sp>
        <p:nvSpPr>
          <p:cNvPr id="39" name="TextBox 38"/>
          <p:cNvSpPr txBox="1"/>
          <p:nvPr/>
        </p:nvSpPr>
        <p:spPr>
          <a:xfrm>
            <a:off x="9464039"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50K restaurants × ~1 KB</a:t>
            </a:r>
          </a:p>
        </p:txBody>
      </p:sp>
      <p:sp>
        <p:nvSpPr>
          <p:cNvPr id="40" name="Rounded Rectangle 39"/>
          <p:cNvSpPr/>
          <p:nvPr/>
        </p:nvSpPr>
        <p:spPr>
          <a:xfrm>
            <a:off x="1005840" y="5715000"/>
            <a:ext cx="10149840" cy="56692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152144" y="5833872"/>
            <a:ext cx="9875519" cy="384048"/>
          </a:xfrm>
          <a:prstGeom prst="rect">
            <a:avLst/>
          </a:prstGeom>
          <a:noFill/>
        </p:spPr>
        <p:txBody>
          <a:bodyPr wrap="none" lIns="45720" rIns="45720" anchor="t">
            <a:spAutoFit/>
          </a:bodyPr>
          <a:lstStyle/>
          <a:p>
            <a:pPr algn="l">
              <a:spcAft>
                <a:spcPts val="0"/>
              </a:spcAft>
            </a:pPr>
            <a:r>
              <a:rPr sz="1100" b="1" i="0">
                <a:solidFill>
                  <a:srgbClr val="0C1930"/>
                </a:solidFill>
                <a:latin typeface="Aptos"/>
              </a:rPr>
              <a:t>Challenge the peak assumption: 833/sec is only ~2.4× average; ask whether promotions, region concentration, retries, and growth require more headroom.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END-TO-END EXAMPLE</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Food delivery: proposed architecture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 streaming operational path and a durable lakehouse path share the event backbone.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31</a:t>
            </a:r>
          </a:p>
        </p:txBody>
      </p:sp>
      <p:sp>
        <p:nvSpPr>
          <p:cNvPr id="8" name="Rounded Rectangle 7"/>
          <p:cNvSpPr/>
          <p:nvPr/>
        </p:nvSpPr>
        <p:spPr>
          <a:xfrm>
            <a:off x="411480" y="2057400"/>
            <a:ext cx="1325880" cy="91440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21208" y="2167128"/>
            <a:ext cx="110642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Order services</a:t>
            </a:r>
          </a:p>
        </p:txBody>
      </p:sp>
      <p:sp>
        <p:nvSpPr>
          <p:cNvPr id="10" name="TextBox 9"/>
          <p:cNvSpPr txBox="1"/>
          <p:nvPr/>
        </p:nvSpPr>
        <p:spPr>
          <a:xfrm>
            <a:off x="521208" y="2487168"/>
            <a:ext cx="110642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status events</a:t>
            </a:r>
          </a:p>
        </p:txBody>
      </p:sp>
      <p:sp>
        <p:nvSpPr>
          <p:cNvPr id="11" name="Rounded Rectangle 10"/>
          <p:cNvSpPr/>
          <p:nvPr/>
        </p:nvSpPr>
        <p:spPr>
          <a:xfrm>
            <a:off x="2057400" y="2057400"/>
            <a:ext cx="1417320" cy="91440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67128" y="2167128"/>
            <a:ext cx="1197864"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Kafka</a:t>
            </a:r>
          </a:p>
        </p:txBody>
      </p:sp>
      <p:sp>
        <p:nvSpPr>
          <p:cNvPr id="13" name="TextBox 12"/>
          <p:cNvSpPr txBox="1"/>
          <p:nvPr/>
        </p:nvSpPr>
        <p:spPr>
          <a:xfrm>
            <a:off x="2167128" y="2487168"/>
            <a:ext cx="119786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key: order_id</a:t>
            </a:r>
          </a:p>
        </p:txBody>
      </p:sp>
      <p:cxnSp>
        <p:nvCxnSpPr>
          <p:cNvPr id="14" name="Connector 13"/>
          <p:cNvCxnSpPr/>
          <p:nvPr/>
        </p:nvCxnSpPr>
        <p:spPr>
          <a:xfrm>
            <a:off x="1755648" y="2514600"/>
            <a:ext cx="256032" cy="0"/>
          </a:xfrm>
          <a:prstGeom prst="line">
            <a:avLst/>
          </a:prstGeom>
          <a:ln w="21590">
            <a:solidFill>
              <a:srgbClr val="00AAA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977639" y="1417320"/>
            <a:ext cx="1874519" cy="91440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87368" y="1527048"/>
            <a:ext cx="1655063"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Spark streaming</a:t>
            </a:r>
          </a:p>
        </p:txBody>
      </p:sp>
      <p:sp>
        <p:nvSpPr>
          <p:cNvPr id="17" name="TextBox 16"/>
          <p:cNvSpPr txBox="1"/>
          <p:nvPr/>
        </p:nvSpPr>
        <p:spPr>
          <a:xfrm>
            <a:off x="4087368" y="1847088"/>
            <a:ext cx="1655063"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parse • dedupe • window</a:t>
            </a:r>
          </a:p>
        </p:txBody>
      </p:sp>
      <p:sp>
        <p:nvSpPr>
          <p:cNvPr id="18" name="Rounded Rectangle 17"/>
          <p:cNvSpPr/>
          <p:nvPr/>
        </p:nvSpPr>
        <p:spPr>
          <a:xfrm>
            <a:off x="3977639" y="3246120"/>
            <a:ext cx="1874519" cy="914400"/>
          </a:xfrm>
          <a:prstGeom prst="roundRect">
            <a:avLst/>
          </a:prstGeom>
          <a:solidFill>
            <a:srgbClr val="FFFFFF"/>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087368" y="3355848"/>
            <a:ext cx="1655063"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Object landing</a:t>
            </a:r>
          </a:p>
        </p:txBody>
      </p:sp>
      <p:sp>
        <p:nvSpPr>
          <p:cNvPr id="20" name="TextBox 19"/>
          <p:cNvSpPr txBox="1"/>
          <p:nvPr/>
        </p:nvSpPr>
        <p:spPr>
          <a:xfrm>
            <a:off x="4087368" y="3675887"/>
            <a:ext cx="1655063"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raw event archive</a:t>
            </a:r>
          </a:p>
        </p:txBody>
      </p:sp>
      <p:cxnSp>
        <p:nvCxnSpPr>
          <p:cNvPr id="21" name="Connector 20"/>
          <p:cNvCxnSpPr/>
          <p:nvPr/>
        </p:nvCxnSpPr>
        <p:spPr>
          <a:xfrm flipV="1">
            <a:off x="3493008" y="1874519"/>
            <a:ext cx="438912" cy="640081"/>
          </a:xfrm>
          <a:prstGeom prst="line">
            <a:avLst/>
          </a:prstGeom>
          <a:ln w="2159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493008" y="2514600"/>
            <a:ext cx="438912" cy="1188720"/>
          </a:xfrm>
          <a:prstGeom prst="line">
            <a:avLst/>
          </a:prstGeom>
          <a:ln w="21590">
            <a:solidFill>
              <a:srgbClr val="4385F5"/>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400800" y="1097280"/>
            <a:ext cx="1417320" cy="7772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10528" y="1207007"/>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Redis / OLAP</a:t>
            </a:r>
          </a:p>
        </p:txBody>
      </p:sp>
      <p:sp>
        <p:nvSpPr>
          <p:cNvPr id="25" name="TextBox 24"/>
          <p:cNvSpPr txBox="1"/>
          <p:nvPr/>
        </p:nvSpPr>
        <p:spPr>
          <a:xfrm>
            <a:off x="6510528" y="1527048"/>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live KPIs</a:t>
            </a:r>
          </a:p>
        </p:txBody>
      </p:sp>
      <p:sp>
        <p:nvSpPr>
          <p:cNvPr id="26" name="Rounded Rectangle 25"/>
          <p:cNvSpPr/>
          <p:nvPr/>
        </p:nvSpPr>
        <p:spPr>
          <a:xfrm>
            <a:off x="6400800" y="2331720"/>
            <a:ext cx="1417320" cy="777240"/>
          </a:xfrm>
          <a:prstGeom prst="roundRect">
            <a:avLst/>
          </a:prstGeom>
          <a:solidFill>
            <a:srgbClr val="FFFFFF"/>
          </a:solidFill>
          <a:ln w="1524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10528" y="244144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Delta Bronze</a:t>
            </a:r>
          </a:p>
        </p:txBody>
      </p:sp>
      <p:sp>
        <p:nvSpPr>
          <p:cNvPr id="28" name="TextBox 27"/>
          <p:cNvSpPr txBox="1"/>
          <p:nvPr/>
        </p:nvSpPr>
        <p:spPr>
          <a:xfrm>
            <a:off x="6510528" y="2761487"/>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immutable</a:t>
            </a:r>
          </a:p>
        </p:txBody>
      </p:sp>
      <p:sp>
        <p:nvSpPr>
          <p:cNvPr id="29" name="Rounded Rectangle 28"/>
          <p:cNvSpPr/>
          <p:nvPr/>
        </p:nvSpPr>
        <p:spPr>
          <a:xfrm>
            <a:off x="8275320" y="2331720"/>
            <a:ext cx="1417320" cy="777240"/>
          </a:xfrm>
          <a:prstGeom prst="roundRect">
            <a:avLst/>
          </a:prstGeom>
          <a:solidFill>
            <a:srgbClr val="FFFFFF"/>
          </a:solidFill>
          <a:ln w="1524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385048" y="244144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Delta Silver</a:t>
            </a:r>
          </a:p>
        </p:txBody>
      </p:sp>
      <p:sp>
        <p:nvSpPr>
          <p:cNvPr id="31" name="TextBox 30"/>
          <p:cNvSpPr txBox="1"/>
          <p:nvPr/>
        </p:nvSpPr>
        <p:spPr>
          <a:xfrm>
            <a:off x="8385048" y="2761487"/>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conformed</a:t>
            </a:r>
          </a:p>
        </p:txBody>
      </p:sp>
      <p:sp>
        <p:nvSpPr>
          <p:cNvPr id="32" name="Rounded Rectangle 31"/>
          <p:cNvSpPr/>
          <p:nvPr/>
        </p:nvSpPr>
        <p:spPr>
          <a:xfrm>
            <a:off x="10149840" y="2331720"/>
            <a:ext cx="1417320" cy="777240"/>
          </a:xfrm>
          <a:prstGeom prst="roundRect">
            <a:avLst/>
          </a:prstGeom>
          <a:solidFill>
            <a:srgbClr val="FFFFFF"/>
          </a:solidFill>
          <a:ln w="1524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259567" y="244144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Delta Gold</a:t>
            </a:r>
          </a:p>
        </p:txBody>
      </p:sp>
      <p:sp>
        <p:nvSpPr>
          <p:cNvPr id="34" name="TextBox 33"/>
          <p:cNvSpPr txBox="1"/>
          <p:nvPr/>
        </p:nvSpPr>
        <p:spPr>
          <a:xfrm>
            <a:off x="10259567" y="2761487"/>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metrics</a:t>
            </a:r>
          </a:p>
        </p:txBody>
      </p:sp>
      <p:cxnSp>
        <p:nvCxnSpPr>
          <p:cNvPr id="35" name="Connector 34"/>
          <p:cNvCxnSpPr/>
          <p:nvPr/>
        </p:nvCxnSpPr>
        <p:spPr>
          <a:xfrm flipV="1">
            <a:off x="5870448" y="1490472"/>
            <a:ext cx="484632" cy="384047"/>
          </a:xfrm>
          <a:prstGeom prst="line">
            <a:avLst/>
          </a:prstGeom>
          <a:ln w="2159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870448" y="1874519"/>
            <a:ext cx="484632" cy="850393"/>
          </a:xfrm>
          <a:prstGeom prst="line">
            <a:avLst/>
          </a:prstGeom>
          <a:ln w="2159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5870448" y="2724912"/>
            <a:ext cx="484632" cy="978408"/>
          </a:xfrm>
          <a:prstGeom prst="line">
            <a:avLst/>
          </a:prstGeom>
          <a:ln w="21590">
            <a:solidFill>
              <a:srgbClr val="FF9F4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836408" y="2724912"/>
            <a:ext cx="393192" cy="0"/>
          </a:xfrm>
          <a:prstGeom prst="line">
            <a:avLst/>
          </a:prstGeom>
          <a:ln w="21590">
            <a:solidFill>
              <a:srgbClr val="74849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710928" y="2724912"/>
            <a:ext cx="393192" cy="0"/>
          </a:xfrm>
          <a:prstGeom prst="line">
            <a:avLst/>
          </a:prstGeom>
          <a:ln w="21590">
            <a:solidFill>
              <a:srgbClr val="74849A"/>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8275320" y="3886200"/>
            <a:ext cx="141732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85048" y="399592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Warehouse / BI</a:t>
            </a:r>
          </a:p>
        </p:txBody>
      </p:sp>
      <p:sp>
        <p:nvSpPr>
          <p:cNvPr id="42" name="TextBox 41"/>
          <p:cNvSpPr txBox="1"/>
          <p:nvPr/>
        </p:nvSpPr>
        <p:spPr>
          <a:xfrm>
            <a:off x="8385048" y="4315968"/>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executives</a:t>
            </a:r>
          </a:p>
        </p:txBody>
      </p:sp>
      <p:sp>
        <p:nvSpPr>
          <p:cNvPr id="43" name="Rounded Rectangle 42"/>
          <p:cNvSpPr/>
          <p:nvPr/>
        </p:nvSpPr>
        <p:spPr>
          <a:xfrm>
            <a:off x="10149840" y="3886200"/>
            <a:ext cx="1417320" cy="7772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59567" y="399592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Partner API</a:t>
            </a:r>
          </a:p>
        </p:txBody>
      </p:sp>
      <p:sp>
        <p:nvSpPr>
          <p:cNvPr id="45" name="TextBox 44"/>
          <p:cNvSpPr txBox="1"/>
          <p:nvPr/>
        </p:nvSpPr>
        <p:spPr>
          <a:xfrm>
            <a:off x="10259567" y="4315968"/>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restaurants</a:t>
            </a:r>
          </a:p>
        </p:txBody>
      </p:sp>
      <p:cxnSp>
        <p:nvCxnSpPr>
          <p:cNvPr id="46" name="Connector 45"/>
          <p:cNvCxnSpPr/>
          <p:nvPr/>
        </p:nvCxnSpPr>
        <p:spPr>
          <a:xfrm flipH="1">
            <a:off x="8988552" y="3136392"/>
            <a:ext cx="1874520" cy="704088"/>
          </a:xfrm>
          <a:prstGeom prst="line">
            <a:avLst/>
          </a:prstGeom>
          <a:ln w="19050">
            <a:solidFill>
              <a:srgbClr val="D6A22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7818120" y="1490472"/>
            <a:ext cx="2286000" cy="2761488"/>
          </a:xfrm>
          <a:prstGeom prst="line">
            <a:avLst/>
          </a:prstGeom>
          <a:ln w="19050">
            <a:solidFill>
              <a:srgbClr val="00AAA0"/>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60120" y="5257800"/>
            <a:ext cx="10287000" cy="530352"/>
          </a:xfrm>
          <a:prstGeom prst="roundRect">
            <a:avLst/>
          </a:prstGeom>
          <a:solidFill>
            <a:srgbClr val="0C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60120" y="5440680"/>
            <a:ext cx="10287000" cy="164592"/>
          </a:xfrm>
          <a:prstGeom prst="rect">
            <a:avLst/>
          </a:prstGeom>
          <a:noFill/>
        </p:spPr>
        <p:txBody>
          <a:bodyPr wrap="none" lIns="45720" rIns="45720" anchor="t">
            <a:spAutoFit/>
          </a:bodyPr>
          <a:lstStyle/>
          <a:p>
            <a:pPr algn="ctr">
              <a:spcAft>
                <a:spcPts val="0"/>
              </a:spcAft>
            </a:pPr>
            <a:r>
              <a:rPr sz="1000" b="1" i="0">
                <a:solidFill>
                  <a:srgbClr val="FFFFFF"/>
                </a:solidFill>
                <a:latin typeface="Aptos"/>
              </a:rPr>
              <a:t>Contracts + catalog + lineage + quality + observability + checkpoints + replay + RBAC</a:t>
            </a:r>
          </a:p>
        </p:txBody>
      </p:sp>
      <p:sp>
        <p:nvSpPr>
          <p:cNvPr id="50" name="TextBox 49"/>
          <p:cNvSpPr txBox="1"/>
          <p:nvPr/>
        </p:nvSpPr>
        <p:spPr>
          <a:xfrm>
            <a:off x="914400" y="5980176"/>
            <a:ext cx="10332720" cy="228600"/>
          </a:xfrm>
          <a:prstGeom prst="rect">
            <a:avLst/>
          </a:prstGeom>
          <a:noFill/>
        </p:spPr>
        <p:txBody>
          <a:bodyPr wrap="none" lIns="45720" rIns="45720" anchor="t">
            <a:spAutoFit/>
          </a:bodyPr>
          <a:lstStyle/>
          <a:p>
            <a:pPr algn="ctr">
              <a:spcAft>
                <a:spcPts val="0"/>
              </a:spcAft>
            </a:pPr>
            <a:r>
              <a:rPr sz="969" b="1" i="0">
                <a:solidFill>
                  <a:srgbClr val="007874"/>
                </a:solidFill>
                <a:latin typeface="Aptos"/>
              </a:rPr>
              <a:t>Operational truth is revised as late events arrive; finalized daily Gold is reconciled against durable Bronze.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END-TO-END EXAMPLE</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Walk the critical behaviors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Architecture becomes credible when you explain normal flow, late data, failures, replay, and scale.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32</a:t>
            </a:r>
          </a:p>
        </p:txBody>
      </p:sp>
      <p:sp>
        <p:nvSpPr>
          <p:cNvPr id="8" name="Rounded Rectangle 7"/>
          <p:cNvSpPr/>
          <p:nvPr/>
        </p:nvSpPr>
        <p:spPr>
          <a:xfrm>
            <a:off x="640080" y="148132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481328"/>
            <a:ext cx="64008" cy="10789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2" y="160934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Normal event</a:t>
            </a:r>
          </a:p>
        </p:txBody>
      </p:sp>
      <p:sp>
        <p:nvSpPr>
          <p:cNvPr id="11" name="TextBox 10"/>
          <p:cNvSpPr txBox="1"/>
          <p:nvPr/>
        </p:nvSpPr>
        <p:spPr>
          <a:xfrm>
            <a:off x="850392" y="207568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Producer validates contract → Kafka → stream dedupe/window → live store; raw copy lands in Bronze.</a:t>
            </a:r>
          </a:p>
        </p:txBody>
      </p:sp>
      <p:sp>
        <p:nvSpPr>
          <p:cNvPr id="12" name="Rounded Rectangle 11"/>
          <p:cNvSpPr/>
          <p:nvPr/>
        </p:nvSpPr>
        <p:spPr>
          <a:xfrm>
            <a:off x="6263640" y="148132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481328"/>
            <a:ext cx="64008" cy="1078992"/>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73952" y="160934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Late / out-of-order</a:t>
            </a:r>
          </a:p>
        </p:txBody>
      </p:sp>
      <p:sp>
        <p:nvSpPr>
          <p:cNvPr id="15" name="TextBox 14"/>
          <p:cNvSpPr txBox="1"/>
          <p:nvPr/>
        </p:nvSpPr>
        <p:spPr>
          <a:xfrm>
            <a:off x="6473952" y="207568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Use event time + watermark; update recent live windows; retain raw event for final batch reconciliation.</a:t>
            </a:r>
          </a:p>
        </p:txBody>
      </p:sp>
      <p:sp>
        <p:nvSpPr>
          <p:cNvPr id="16" name="Rounded Rectangle 15"/>
          <p:cNvSpPr/>
          <p:nvPr/>
        </p:nvSpPr>
        <p:spPr>
          <a:xfrm>
            <a:off x="640080" y="289864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2898648"/>
            <a:ext cx="64008" cy="1078992"/>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2" y="302666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Duplicate delivery</a:t>
            </a:r>
          </a:p>
        </p:txBody>
      </p:sp>
      <p:sp>
        <p:nvSpPr>
          <p:cNvPr id="19" name="TextBox 18"/>
          <p:cNvSpPr txBox="1"/>
          <p:nvPr/>
        </p:nvSpPr>
        <p:spPr>
          <a:xfrm>
            <a:off x="850392" y="349300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event_id/business key dedupe; transactional MERGE keeps the observable table idempotent.</a:t>
            </a:r>
          </a:p>
        </p:txBody>
      </p:sp>
      <p:sp>
        <p:nvSpPr>
          <p:cNvPr id="20" name="Rounded Rectangle 19"/>
          <p:cNvSpPr/>
          <p:nvPr/>
        </p:nvSpPr>
        <p:spPr>
          <a:xfrm>
            <a:off x="6263640" y="289864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2898648"/>
            <a:ext cx="64008" cy="1078992"/>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73952" y="302666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Bad schema</a:t>
            </a:r>
          </a:p>
        </p:txBody>
      </p:sp>
      <p:sp>
        <p:nvSpPr>
          <p:cNvPr id="23" name="TextBox 22"/>
          <p:cNvSpPr txBox="1"/>
          <p:nvPr/>
        </p:nvSpPr>
        <p:spPr>
          <a:xfrm>
            <a:off x="6473952" y="349300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Registry blocks known incompatibility; Bronze rescues drift; Silver quarantines; owner receives alert.</a:t>
            </a:r>
          </a:p>
        </p:txBody>
      </p:sp>
      <p:sp>
        <p:nvSpPr>
          <p:cNvPr id="24" name="Rounded Rectangle 23"/>
          <p:cNvSpPr/>
          <p:nvPr/>
        </p:nvSpPr>
        <p:spPr>
          <a:xfrm>
            <a:off x="640080" y="431596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0080" y="4315968"/>
            <a:ext cx="64008" cy="1078992"/>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50392" y="444398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Backfill</a:t>
            </a:r>
          </a:p>
        </p:txBody>
      </p:sp>
      <p:sp>
        <p:nvSpPr>
          <p:cNvPr id="27" name="TextBox 26"/>
          <p:cNvSpPr txBox="1"/>
          <p:nvPr/>
        </p:nvSpPr>
        <p:spPr>
          <a:xfrm>
            <a:off x="850392" y="491032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Read immutable Bronze for bounded dates → same transforms → validate → atomically replace affected outputs.</a:t>
            </a:r>
          </a:p>
        </p:txBody>
      </p:sp>
      <p:sp>
        <p:nvSpPr>
          <p:cNvPr id="28" name="Rounded Rectangle 27"/>
          <p:cNvSpPr/>
          <p:nvPr/>
        </p:nvSpPr>
        <p:spPr>
          <a:xfrm>
            <a:off x="6263640" y="431596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63640" y="4315968"/>
            <a:ext cx="64008" cy="1078992"/>
          </a:xfrm>
          <a:prstGeom prst="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73952" y="444398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10× dinner rush</a:t>
            </a:r>
          </a:p>
        </p:txBody>
      </p:sp>
      <p:sp>
        <p:nvSpPr>
          <p:cNvPr id="31" name="TextBox 30"/>
          <p:cNvSpPr txBox="1"/>
          <p:nvPr/>
        </p:nvSpPr>
        <p:spPr>
          <a:xfrm>
            <a:off x="6473952" y="491032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Increase partitions/consumers; test key skew; autoscale; degrade gracefully by serving stale-but-labeled data.</a:t>
            </a:r>
          </a:p>
        </p:txBody>
      </p:sp>
      <p:sp>
        <p:nvSpPr>
          <p:cNvPr id="32" name="Rounded Rectangle 31"/>
          <p:cNvSpPr/>
          <p:nvPr/>
        </p:nvSpPr>
        <p:spPr>
          <a:xfrm>
            <a:off x="1005840" y="5833872"/>
            <a:ext cx="10149840" cy="54864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52144" y="5952744"/>
            <a:ext cx="9875519" cy="365759"/>
          </a:xfrm>
          <a:prstGeom prst="rect">
            <a:avLst/>
          </a:prstGeom>
          <a:noFill/>
        </p:spPr>
        <p:txBody>
          <a:bodyPr wrap="none" lIns="45720" rIns="45720" anchor="t">
            <a:spAutoFit/>
          </a:bodyPr>
          <a:lstStyle/>
          <a:p>
            <a:pPr algn="l">
              <a:spcAft>
                <a:spcPts val="0"/>
              </a:spcAft>
            </a:pPr>
            <a:r>
              <a:rPr sz="1100" b="1" i="0">
                <a:solidFill>
                  <a:srgbClr val="0C1930"/>
                </a:solidFill>
                <a:latin typeface="Aptos"/>
              </a:rPr>
              <a:t>Final check: can you trace one event from producer to dashboard, then replay that same event without creating a duplicate or losing auditability?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C1930"/>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INTERVIEW EXECUTION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How to narrate your design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Use a repeated sentence structure so every choice is defensible.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33</a:t>
            </a:r>
          </a:p>
        </p:txBody>
      </p:sp>
      <p:sp>
        <p:nvSpPr>
          <p:cNvPr id="8" name="Rounded Rectangle 7"/>
          <p:cNvSpPr/>
          <p:nvPr/>
        </p:nvSpPr>
        <p:spPr>
          <a:xfrm>
            <a:off x="502920" y="1691640"/>
            <a:ext cx="1984248" cy="132588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965960"/>
            <a:ext cx="1984248" cy="228600"/>
          </a:xfrm>
          <a:prstGeom prst="rect">
            <a:avLst/>
          </a:prstGeom>
          <a:noFill/>
        </p:spPr>
        <p:txBody>
          <a:bodyPr wrap="none" lIns="45720" rIns="45720" anchor="t">
            <a:spAutoFit/>
          </a:bodyPr>
          <a:lstStyle/>
          <a:p>
            <a:pPr algn="ctr">
              <a:spcAft>
                <a:spcPts val="0"/>
              </a:spcAft>
            </a:pPr>
            <a:r>
              <a:rPr sz="1500" b="1" i="0">
                <a:solidFill>
                  <a:srgbClr val="FFFFFF"/>
                </a:solidFill>
                <a:latin typeface="Aptos"/>
              </a:rPr>
              <a:t>Because…</a:t>
            </a:r>
          </a:p>
        </p:txBody>
      </p:sp>
      <p:sp>
        <p:nvSpPr>
          <p:cNvPr id="10" name="TextBox 9"/>
          <p:cNvSpPr txBox="1"/>
          <p:nvPr/>
        </p:nvSpPr>
        <p:spPr>
          <a:xfrm>
            <a:off x="640080" y="2423160"/>
            <a:ext cx="1709928" cy="274320"/>
          </a:xfrm>
          <a:prstGeom prst="rect">
            <a:avLst/>
          </a:prstGeom>
          <a:noFill/>
        </p:spPr>
        <p:txBody>
          <a:bodyPr wrap="none" lIns="45720" rIns="45720" anchor="t">
            <a:spAutoFit/>
          </a:bodyPr>
          <a:lstStyle/>
          <a:p>
            <a:pPr algn="ctr">
              <a:spcAft>
                <a:spcPts val="0"/>
              </a:spcAft>
            </a:pPr>
            <a:r>
              <a:rPr sz="900" b="0" i="0">
                <a:solidFill>
                  <a:srgbClr val="FFFFFF"/>
                </a:solidFill>
                <a:latin typeface="Aptos"/>
              </a:rPr>
              <a:t>requirement / estimate</a:t>
            </a:r>
          </a:p>
        </p:txBody>
      </p:sp>
      <p:cxnSp>
        <p:nvCxnSpPr>
          <p:cNvPr id="11" name="Connector 10"/>
          <p:cNvCxnSpPr/>
          <p:nvPr/>
        </p:nvCxnSpPr>
        <p:spPr>
          <a:xfrm>
            <a:off x="2496312" y="2359152"/>
            <a:ext cx="265176" cy="0"/>
          </a:xfrm>
          <a:prstGeom prst="line">
            <a:avLst/>
          </a:prstGeom>
          <a:ln w="17780">
            <a:solidFill>
              <a:srgbClr val="E4EBF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34639" y="1691640"/>
            <a:ext cx="1984248" cy="132588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34639" y="1965960"/>
            <a:ext cx="1984248" cy="228600"/>
          </a:xfrm>
          <a:prstGeom prst="rect">
            <a:avLst/>
          </a:prstGeom>
          <a:noFill/>
        </p:spPr>
        <p:txBody>
          <a:bodyPr wrap="none" lIns="45720" rIns="45720" anchor="t">
            <a:spAutoFit/>
          </a:bodyPr>
          <a:lstStyle/>
          <a:p>
            <a:pPr algn="ctr">
              <a:spcAft>
                <a:spcPts val="0"/>
              </a:spcAft>
            </a:pPr>
            <a:r>
              <a:rPr sz="1500" b="1" i="0">
                <a:solidFill>
                  <a:srgbClr val="FFFFFF"/>
                </a:solidFill>
                <a:latin typeface="Aptos"/>
              </a:rPr>
              <a:t>I choose…</a:t>
            </a:r>
          </a:p>
        </p:txBody>
      </p:sp>
      <p:sp>
        <p:nvSpPr>
          <p:cNvPr id="14" name="TextBox 13"/>
          <p:cNvSpPr txBox="1"/>
          <p:nvPr/>
        </p:nvSpPr>
        <p:spPr>
          <a:xfrm>
            <a:off x="2971799" y="2423160"/>
            <a:ext cx="1709928" cy="274320"/>
          </a:xfrm>
          <a:prstGeom prst="rect">
            <a:avLst/>
          </a:prstGeom>
          <a:noFill/>
        </p:spPr>
        <p:txBody>
          <a:bodyPr wrap="none" lIns="45720" rIns="45720" anchor="t">
            <a:spAutoFit/>
          </a:bodyPr>
          <a:lstStyle/>
          <a:p>
            <a:pPr algn="ctr">
              <a:spcAft>
                <a:spcPts val="0"/>
              </a:spcAft>
            </a:pPr>
            <a:r>
              <a:rPr sz="900" b="0" i="0">
                <a:solidFill>
                  <a:srgbClr val="FFFFFF"/>
                </a:solidFill>
                <a:latin typeface="Aptos"/>
              </a:rPr>
              <a:t>component / pattern</a:t>
            </a:r>
          </a:p>
        </p:txBody>
      </p:sp>
      <p:cxnSp>
        <p:nvCxnSpPr>
          <p:cNvPr id="15" name="Connector 14"/>
          <p:cNvCxnSpPr/>
          <p:nvPr/>
        </p:nvCxnSpPr>
        <p:spPr>
          <a:xfrm>
            <a:off x="4828031" y="2359152"/>
            <a:ext cx="265177" cy="0"/>
          </a:xfrm>
          <a:prstGeom prst="line">
            <a:avLst/>
          </a:prstGeom>
          <a:ln w="17780">
            <a:solidFill>
              <a:srgbClr val="E4EBF4"/>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66359" y="1691640"/>
            <a:ext cx="1984248" cy="132588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66359" y="1965960"/>
            <a:ext cx="1984248" cy="228600"/>
          </a:xfrm>
          <a:prstGeom prst="rect">
            <a:avLst/>
          </a:prstGeom>
          <a:noFill/>
        </p:spPr>
        <p:txBody>
          <a:bodyPr wrap="none" lIns="45720" rIns="45720" anchor="t">
            <a:spAutoFit/>
          </a:bodyPr>
          <a:lstStyle/>
          <a:p>
            <a:pPr algn="ctr">
              <a:spcAft>
                <a:spcPts val="0"/>
              </a:spcAft>
            </a:pPr>
            <a:r>
              <a:rPr sz="1500" b="1" i="0">
                <a:solidFill>
                  <a:srgbClr val="FFFFFF"/>
                </a:solidFill>
                <a:latin typeface="Aptos"/>
              </a:rPr>
              <a:t>This gives…</a:t>
            </a:r>
          </a:p>
        </p:txBody>
      </p:sp>
      <p:sp>
        <p:nvSpPr>
          <p:cNvPr id="18" name="TextBox 17"/>
          <p:cNvSpPr txBox="1"/>
          <p:nvPr/>
        </p:nvSpPr>
        <p:spPr>
          <a:xfrm>
            <a:off x="5303520" y="2423160"/>
            <a:ext cx="1709928" cy="274320"/>
          </a:xfrm>
          <a:prstGeom prst="rect">
            <a:avLst/>
          </a:prstGeom>
          <a:noFill/>
        </p:spPr>
        <p:txBody>
          <a:bodyPr wrap="none" lIns="45720" rIns="45720" anchor="t">
            <a:spAutoFit/>
          </a:bodyPr>
          <a:lstStyle/>
          <a:p>
            <a:pPr algn="ctr">
              <a:spcAft>
                <a:spcPts val="0"/>
              </a:spcAft>
            </a:pPr>
            <a:r>
              <a:rPr sz="900" b="0" i="0">
                <a:solidFill>
                  <a:srgbClr val="FFFFFF"/>
                </a:solidFill>
                <a:latin typeface="Aptos"/>
              </a:rPr>
              <a:t>desired property</a:t>
            </a:r>
          </a:p>
        </p:txBody>
      </p:sp>
      <p:cxnSp>
        <p:nvCxnSpPr>
          <p:cNvPr id="19" name="Connector 18"/>
          <p:cNvCxnSpPr/>
          <p:nvPr/>
        </p:nvCxnSpPr>
        <p:spPr>
          <a:xfrm>
            <a:off x="7159752" y="2359152"/>
            <a:ext cx="265175" cy="0"/>
          </a:xfrm>
          <a:prstGeom prst="line">
            <a:avLst/>
          </a:prstGeom>
          <a:ln w="17780">
            <a:solidFill>
              <a:srgbClr val="E4EBF4"/>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498079" y="1691640"/>
            <a:ext cx="1984248" cy="132588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79" y="1965960"/>
            <a:ext cx="1984248" cy="228600"/>
          </a:xfrm>
          <a:prstGeom prst="rect">
            <a:avLst/>
          </a:prstGeom>
          <a:noFill/>
        </p:spPr>
        <p:txBody>
          <a:bodyPr wrap="none" lIns="45720" rIns="45720" anchor="t">
            <a:spAutoFit/>
          </a:bodyPr>
          <a:lstStyle/>
          <a:p>
            <a:pPr algn="ctr">
              <a:spcAft>
                <a:spcPts val="0"/>
              </a:spcAft>
            </a:pPr>
            <a:r>
              <a:rPr sz="1500" b="1" i="0">
                <a:solidFill>
                  <a:srgbClr val="FFFFFF"/>
                </a:solidFill>
                <a:latin typeface="Aptos"/>
              </a:rPr>
              <a:t>It costs…</a:t>
            </a:r>
          </a:p>
        </p:txBody>
      </p:sp>
      <p:sp>
        <p:nvSpPr>
          <p:cNvPr id="22" name="TextBox 21"/>
          <p:cNvSpPr txBox="1"/>
          <p:nvPr/>
        </p:nvSpPr>
        <p:spPr>
          <a:xfrm>
            <a:off x="7635240" y="2423160"/>
            <a:ext cx="1709928" cy="274320"/>
          </a:xfrm>
          <a:prstGeom prst="rect">
            <a:avLst/>
          </a:prstGeom>
          <a:noFill/>
        </p:spPr>
        <p:txBody>
          <a:bodyPr wrap="none" lIns="45720" rIns="45720" anchor="t">
            <a:spAutoFit/>
          </a:bodyPr>
          <a:lstStyle/>
          <a:p>
            <a:pPr algn="ctr">
              <a:spcAft>
                <a:spcPts val="0"/>
              </a:spcAft>
            </a:pPr>
            <a:r>
              <a:rPr sz="900" b="0" i="0">
                <a:solidFill>
                  <a:srgbClr val="FFFFFF"/>
                </a:solidFill>
                <a:latin typeface="Aptos"/>
              </a:rPr>
              <a:t>complexity / money / latency</a:t>
            </a:r>
          </a:p>
        </p:txBody>
      </p:sp>
      <p:cxnSp>
        <p:nvCxnSpPr>
          <p:cNvPr id="23" name="Connector 22"/>
          <p:cNvCxnSpPr/>
          <p:nvPr/>
        </p:nvCxnSpPr>
        <p:spPr>
          <a:xfrm>
            <a:off x="9491472" y="2359152"/>
            <a:ext cx="265176" cy="0"/>
          </a:xfrm>
          <a:prstGeom prst="line">
            <a:avLst/>
          </a:prstGeom>
          <a:ln w="17780">
            <a:solidFill>
              <a:srgbClr val="E4EBF4"/>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29800" y="1691640"/>
            <a:ext cx="1984248" cy="1325880"/>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829800" y="1965960"/>
            <a:ext cx="1984248" cy="228600"/>
          </a:xfrm>
          <a:prstGeom prst="rect">
            <a:avLst/>
          </a:prstGeom>
          <a:noFill/>
        </p:spPr>
        <p:txBody>
          <a:bodyPr wrap="none" lIns="45720" rIns="45720" anchor="t">
            <a:spAutoFit/>
          </a:bodyPr>
          <a:lstStyle/>
          <a:p>
            <a:pPr algn="ctr">
              <a:spcAft>
                <a:spcPts val="0"/>
              </a:spcAft>
            </a:pPr>
            <a:r>
              <a:rPr sz="1500" b="1" i="0">
                <a:solidFill>
                  <a:srgbClr val="FFFFFF"/>
                </a:solidFill>
                <a:latin typeface="Aptos"/>
              </a:rPr>
              <a:t>I mitigate…</a:t>
            </a:r>
          </a:p>
        </p:txBody>
      </p:sp>
      <p:sp>
        <p:nvSpPr>
          <p:cNvPr id="26" name="TextBox 25"/>
          <p:cNvSpPr txBox="1"/>
          <p:nvPr/>
        </p:nvSpPr>
        <p:spPr>
          <a:xfrm>
            <a:off x="9966960" y="2423160"/>
            <a:ext cx="1709928" cy="274320"/>
          </a:xfrm>
          <a:prstGeom prst="rect">
            <a:avLst/>
          </a:prstGeom>
          <a:noFill/>
        </p:spPr>
        <p:txBody>
          <a:bodyPr wrap="none" lIns="45720" rIns="45720" anchor="t">
            <a:spAutoFit/>
          </a:bodyPr>
          <a:lstStyle/>
          <a:p>
            <a:pPr algn="ctr">
              <a:spcAft>
                <a:spcPts val="0"/>
              </a:spcAft>
            </a:pPr>
            <a:r>
              <a:rPr sz="900" b="0" i="0">
                <a:solidFill>
                  <a:srgbClr val="FFFFFF"/>
                </a:solidFill>
                <a:latin typeface="Aptos"/>
              </a:rPr>
              <a:t>control / fallback</a:t>
            </a:r>
          </a:p>
        </p:txBody>
      </p:sp>
      <p:sp>
        <p:nvSpPr>
          <p:cNvPr id="27" name="TextBox 26"/>
          <p:cNvSpPr txBox="1"/>
          <p:nvPr/>
        </p:nvSpPr>
        <p:spPr>
          <a:xfrm>
            <a:off x="685800" y="3566160"/>
            <a:ext cx="1828800" cy="274320"/>
          </a:xfrm>
          <a:prstGeom prst="rect">
            <a:avLst/>
          </a:prstGeom>
          <a:noFill/>
        </p:spPr>
        <p:txBody>
          <a:bodyPr wrap="none" lIns="45720" rIns="45720" anchor="t">
            <a:spAutoFit/>
          </a:bodyPr>
          <a:lstStyle/>
          <a:p>
            <a:pPr algn="l">
              <a:spcAft>
                <a:spcPts val="0"/>
              </a:spcAft>
            </a:pPr>
            <a:r>
              <a:rPr sz="1400" b="1" i="0">
                <a:solidFill>
                  <a:srgbClr val="FF9F43"/>
                </a:solidFill>
                <a:latin typeface="Aptos"/>
              </a:rPr>
              <a:t>Worked example</a:t>
            </a:r>
          </a:p>
        </p:txBody>
      </p:sp>
      <p:sp>
        <p:nvSpPr>
          <p:cNvPr id="28" name="TextBox 27"/>
          <p:cNvSpPr txBox="1"/>
          <p:nvPr/>
        </p:nvSpPr>
        <p:spPr>
          <a:xfrm>
            <a:off x="713232" y="3977639"/>
            <a:ext cx="10079041" cy="1138773"/>
          </a:xfrm>
          <a:prstGeom prst="rect">
            <a:avLst/>
          </a:prstGeom>
          <a:noFill/>
        </p:spPr>
        <p:txBody>
          <a:bodyPr wrap="none" lIns="45720" rIns="45720" anchor="t">
            <a:spAutoFit/>
          </a:bodyPr>
          <a:lstStyle/>
          <a:p>
            <a:pPr algn="l">
              <a:spcAft>
                <a:spcPts val="0"/>
              </a:spcAft>
            </a:pPr>
            <a:r>
              <a:rPr sz="1700" b="0" i="1" dirty="0">
                <a:solidFill>
                  <a:srgbClr val="FFFFFF"/>
                </a:solidFill>
                <a:latin typeface="Aptos"/>
              </a:rPr>
              <a:t>Because partner dashboards need p95 &lt;2-minute freshness, I choose a Kafka + streaming aggregation path</a:t>
            </a:r>
            <a:endParaRPr lang="en-US" sz="1700" b="0" i="1" dirty="0">
              <a:solidFill>
                <a:srgbClr val="FFFFFF"/>
              </a:solidFill>
              <a:latin typeface="Aptos"/>
            </a:endParaRPr>
          </a:p>
          <a:p>
            <a:pPr algn="l">
              <a:spcAft>
                <a:spcPts val="0"/>
              </a:spcAft>
            </a:pPr>
            <a:r>
              <a:rPr sz="1700" b="0" i="1" dirty="0">
                <a:solidFill>
                  <a:srgbClr val="FFFFFF"/>
                </a:solidFill>
                <a:latin typeface="Aptos"/>
              </a:rPr>
              <a:t> into a low-latency serving store. This gives continuous updates and decouples producers from consumers. </a:t>
            </a:r>
            <a:endParaRPr lang="en-US" sz="1700" b="0" i="1" dirty="0">
              <a:solidFill>
                <a:srgbClr val="FFFFFF"/>
              </a:solidFill>
              <a:latin typeface="Aptos"/>
            </a:endParaRPr>
          </a:p>
          <a:p>
            <a:pPr algn="l">
              <a:spcAft>
                <a:spcPts val="0"/>
              </a:spcAft>
            </a:pPr>
            <a:r>
              <a:rPr sz="1700" b="0" i="1" dirty="0">
                <a:solidFill>
                  <a:srgbClr val="FFFFFF"/>
                </a:solidFill>
                <a:latin typeface="Aptos"/>
              </a:rPr>
              <a:t>It costs always-on compute and state management, so I mitigate with bounded windows, checkpoints, </a:t>
            </a:r>
            <a:endParaRPr lang="en-US" sz="1700" b="0" i="1" dirty="0">
              <a:solidFill>
                <a:srgbClr val="FFFFFF"/>
              </a:solidFill>
              <a:latin typeface="Aptos"/>
            </a:endParaRPr>
          </a:p>
          <a:p>
            <a:pPr algn="l">
              <a:spcAft>
                <a:spcPts val="0"/>
              </a:spcAft>
            </a:pPr>
            <a:r>
              <a:rPr sz="1700" b="0" i="1" dirty="0">
                <a:solidFill>
                  <a:srgbClr val="FFFFFF"/>
                </a:solidFill>
                <a:latin typeface="Aptos"/>
              </a:rPr>
              <a:t>lag alerts, replay retention, and a </a:t>
            </a:r>
            <a:r>
              <a:rPr sz="1700" b="0" i="1" dirty="0" err="1">
                <a:solidFill>
                  <a:srgbClr val="FFFFFF"/>
                </a:solidFill>
                <a:latin typeface="Aptos"/>
              </a:rPr>
              <a:t>lakehouse</a:t>
            </a:r>
            <a:r>
              <a:rPr sz="1700" b="0" i="1" dirty="0">
                <a:solidFill>
                  <a:srgbClr val="FFFFFF"/>
                </a:solidFill>
                <a:latin typeface="Aptos"/>
              </a:rPr>
              <a:t> reconciliation path.</a:t>
            </a:r>
          </a:p>
        </p:txBody>
      </p:sp>
      <p:sp>
        <p:nvSpPr>
          <p:cNvPr id="29" name="Rounded Rectangle 28"/>
          <p:cNvSpPr/>
          <p:nvPr/>
        </p:nvSpPr>
        <p:spPr>
          <a:xfrm>
            <a:off x="1234440" y="5532120"/>
            <a:ext cx="9738360" cy="585216"/>
          </a:xfrm>
          <a:prstGeom prst="roundRect">
            <a:avLst/>
          </a:prstGeom>
          <a:solidFill>
            <a:srgbClr val="233A54"/>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380744" y="5650992"/>
            <a:ext cx="9464040" cy="402336"/>
          </a:xfrm>
          <a:prstGeom prst="rect">
            <a:avLst/>
          </a:prstGeom>
          <a:noFill/>
        </p:spPr>
        <p:txBody>
          <a:bodyPr wrap="none" lIns="45720" rIns="45720" anchor="t">
            <a:spAutoFit/>
          </a:bodyPr>
          <a:lstStyle/>
          <a:p>
            <a:pPr algn="l">
              <a:spcAft>
                <a:spcPts val="0"/>
              </a:spcAft>
            </a:pPr>
            <a:r>
              <a:rPr sz="1100" b="1" i="0">
                <a:solidFill>
                  <a:srgbClr val="0C1930"/>
                </a:solidFill>
                <a:latin typeface="Aptos"/>
              </a:rPr>
              <a:t>Say what you are deliberately not solving yet. Prioritize the critical path, then deepen only where the interviewer probes.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INTERVIEW EXECUTION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Self-review scorecard</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Before finishing, verify that each category has a concrete answer.</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34</a:t>
            </a:r>
          </a:p>
        </p:txBody>
      </p:sp>
      <p:sp>
        <p:nvSpPr>
          <p:cNvPr id="8" name="Rounded Rectangle 7"/>
          <p:cNvSpPr/>
          <p:nvPr/>
        </p:nvSpPr>
        <p:spPr>
          <a:xfrm>
            <a:off x="594360" y="150876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94360" y="1508760"/>
            <a:ext cx="3520440" cy="45720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1655063"/>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Requirements</a:t>
            </a:r>
          </a:p>
        </p:txBody>
      </p:sp>
      <p:sp>
        <p:nvSpPr>
          <p:cNvPr id="11" name="TextBox 10"/>
          <p:cNvSpPr txBox="1"/>
          <p:nvPr/>
        </p:nvSpPr>
        <p:spPr>
          <a:xfrm>
            <a:off x="822960" y="2194560"/>
            <a:ext cx="3063240" cy="822960"/>
          </a:xfrm>
          <a:prstGeom prst="rect">
            <a:avLst/>
          </a:prstGeom>
          <a:noFill/>
        </p:spPr>
        <p:txBody>
          <a:bodyPr wrap="none" lIns="64008" tIns="27432" rIns="36576" bIns="27432">
            <a:spAutoFit/>
          </a:bodyPr>
          <a:lstStyle/>
          <a:p>
            <a:pPr>
              <a:lnSpc>
                <a:spcPct val="105000"/>
              </a:lnSpc>
              <a:spcAft>
                <a:spcPts val="600"/>
              </a:spcAft>
            </a:pPr>
            <a:r>
              <a:rPr sz="1050">
                <a:solidFill>
                  <a:srgbClr val="253042"/>
                </a:solidFill>
                <a:latin typeface="Aptos"/>
              </a:rPr>
              <a:t>☐ Named consumers and outputs</a:t>
            </a:r>
          </a:p>
          <a:p>
            <a:pPr>
              <a:lnSpc>
                <a:spcPct val="105000"/>
              </a:lnSpc>
              <a:spcAft>
                <a:spcPts val="600"/>
              </a:spcAft>
            </a:pPr>
            <a:r>
              <a:rPr sz="1050">
                <a:solidFill>
                  <a:srgbClr val="253042"/>
                </a:solidFill>
                <a:latin typeface="Aptos"/>
              </a:rPr>
              <a:t>☐ Measurable latency/availability</a:t>
            </a:r>
          </a:p>
          <a:p>
            <a:pPr>
              <a:lnSpc>
                <a:spcPct val="105000"/>
              </a:lnSpc>
              <a:spcAft>
                <a:spcPts val="600"/>
              </a:spcAft>
            </a:pPr>
            <a:r>
              <a:rPr sz="1050">
                <a:solidFill>
                  <a:srgbClr val="253042"/>
                </a:solidFill>
                <a:latin typeface="Aptos"/>
              </a:rPr>
              <a:t>☐ Retention/security assumptions</a:t>
            </a:r>
          </a:p>
        </p:txBody>
      </p:sp>
      <p:sp>
        <p:nvSpPr>
          <p:cNvPr id="12" name="Rounded Rectangle 11"/>
          <p:cNvSpPr/>
          <p:nvPr/>
        </p:nvSpPr>
        <p:spPr>
          <a:xfrm>
            <a:off x="4453128" y="150876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453128" y="1508760"/>
            <a:ext cx="3520440" cy="45720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53128" y="1655063"/>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Scale</a:t>
            </a:r>
          </a:p>
        </p:txBody>
      </p:sp>
      <p:sp>
        <p:nvSpPr>
          <p:cNvPr id="15" name="TextBox 14"/>
          <p:cNvSpPr txBox="1"/>
          <p:nvPr/>
        </p:nvSpPr>
        <p:spPr>
          <a:xfrm>
            <a:off x="4681728" y="2194560"/>
            <a:ext cx="3063240" cy="822960"/>
          </a:xfrm>
          <a:prstGeom prst="rect">
            <a:avLst/>
          </a:prstGeom>
          <a:noFill/>
        </p:spPr>
        <p:txBody>
          <a:bodyPr wrap="none" lIns="64008" tIns="27432" rIns="36576" bIns="27432">
            <a:spAutoFit/>
          </a:bodyPr>
          <a:lstStyle/>
          <a:p>
            <a:pPr>
              <a:lnSpc>
                <a:spcPct val="105000"/>
              </a:lnSpc>
              <a:spcAft>
                <a:spcPts val="600"/>
              </a:spcAft>
            </a:pPr>
            <a:r>
              <a:rPr sz="1050">
                <a:solidFill>
                  <a:srgbClr val="253042"/>
                </a:solidFill>
                <a:latin typeface="Aptos"/>
              </a:rPr>
              <a:t>☐ Average + peak throughput</a:t>
            </a:r>
          </a:p>
          <a:p>
            <a:pPr>
              <a:lnSpc>
                <a:spcPct val="105000"/>
              </a:lnSpc>
              <a:spcAft>
                <a:spcPts val="600"/>
              </a:spcAft>
            </a:pPr>
            <a:r>
              <a:rPr sz="1050">
                <a:solidFill>
                  <a:srgbClr val="253042"/>
                </a:solidFill>
                <a:latin typeface="Aptos"/>
              </a:rPr>
              <a:t>☐ Storage and growth math</a:t>
            </a:r>
          </a:p>
          <a:p>
            <a:pPr>
              <a:lnSpc>
                <a:spcPct val="105000"/>
              </a:lnSpc>
              <a:spcAft>
                <a:spcPts val="600"/>
              </a:spcAft>
            </a:pPr>
            <a:r>
              <a:rPr sz="1050">
                <a:solidFill>
                  <a:srgbClr val="253042"/>
                </a:solidFill>
                <a:latin typeface="Aptos"/>
              </a:rPr>
              <a:t>☐ Hot keys/cardinality considered</a:t>
            </a:r>
          </a:p>
        </p:txBody>
      </p:sp>
      <p:sp>
        <p:nvSpPr>
          <p:cNvPr id="16" name="Rounded Rectangle 15"/>
          <p:cNvSpPr/>
          <p:nvPr/>
        </p:nvSpPr>
        <p:spPr>
          <a:xfrm>
            <a:off x="8311896" y="150876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311896" y="1508760"/>
            <a:ext cx="3520440" cy="45720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11896" y="1655063"/>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Architecture</a:t>
            </a:r>
          </a:p>
        </p:txBody>
      </p:sp>
      <p:sp>
        <p:nvSpPr>
          <p:cNvPr id="19" name="TextBox 18"/>
          <p:cNvSpPr txBox="1"/>
          <p:nvPr/>
        </p:nvSpPr>
        <p:spPr>
          <a:xfrm>
            <a:off x="8540496" y="2194560"/>
            <a:ext cx="3063240" cy="822960"/>
          </a:xfrm>
          <a:prstGeom prst="rect">
            <a:avLst/>
          </a:prstGeom>
          <a:noFill/>
        </p:spPr>
        <p:txBody>
          <a:bodyPr wrap="none" lIns="64008" tIns="27432" rIns="36576" bIns="27432">
            <a:spAutoFit/>
          </a:bodyPr>
          <a:lstStyle/>
          <a:p>
            <a:pPr>
              <a:lnSpc>
                <a:spcPct val="105000"/>
              </a:lnSpc>
              <a:spcAft>
                <a:spcPts val="600"/>
              </a:spcAft>
            </a:pPr>
            <a:r>
              <a:rPr sz="1050">
                <a:solidFill>
                  <a:srgbClr val="253042"/>
                </a:solidFill>
                <a:latin typeface="Aptos"/>
              </a:rPr>
              <a:t>☐ End-to-end data flow</a:t>
            </a:r>
          </a:p>
          <a:p>
            <a:pPr>
              <a:lnSpc>
                <a:spcPct val="105000"/>
              </a:lnSpc>
              <a:spcAft>
                <a:spcPts val="600"/>
              </a:spcAft>
            </a:pPr>
            <a:r>
              <a:rPr sz="1050">
                <a:solidFill>
                  <a:srgbClr val="253042"/>
                </a:solidFill>
                <a:latin typeface="Aptos"/>
              </a:rPr>
              <a:t>☐ Batch/stream rationale</a:t>
            </a:r>
          </a:p>
          <a:p>
            <a:pPr>
              <a:lnSpc>
                <a:spcPct val="105000"/>
              </a:lnSpc>
              <a:spcAft>
                <a:spcPts val="600"/>
              </a:spcAft>
            </a:pPr>
            <a:r>
              <a:rPr sz="1050">
                <a:solidFill>
                  <a:srgbClr val="253042"/>
                </a:solidFill>
                <a:latin typeface="Aptos"/>
              </a:rPr>
              <a:t>☐ Serving choice tied to query</a:t>
            </a:r>
          </a:p>
        </p:txBody>
      </p:sp>
      <p:sp>
        <p:nvSpPr>
          <p:cNvPr id="20" name="Rounded Rectangle 19"/>
          <p:cNvSpPr/>
          <p:nvPr/>
        </p:nvSpPr>
        <p:spPr>
          <a:xfrm>
            <a:off x="594360" y="365760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94360" y="3657600"/>
            <a:ext cx="3520440" cy="45720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 y="3803904"/>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Data design</a:t>
            </a:r>
          </a:p>
        </p:txBody>
      </p:sp>
      <p:sp>
        <p:nvSpPr>
          <p:cNvPr id="23" name="TextBox 22"/>
          <p:cNvSpPr txBox="1"/>
          <p:nvPr/>
        </p:nvSpPr>
        <p:spPr>
          <a:xfrm>
            <a:off x="822960" y="4343400"/>
            <a:ext cx="3063240" cy="822960"/>
          </a:xfrm>
          <a:prstGeom prst="rect">
            <a:avLst/>
          </a:prstGeom>
          <a:noFill/>
        </p:spPr>
        <p:txBody>
          <a:bodyPr wrap="none" lIns="64008" tIns="27432" rIns="36576" bIns="27432">
            <a:spAutoFit/>
          </a:bodyPr>
          <a:lstStyle/>
          <a:p>
            <a:pPr>
              <a:lnSpc>
                <a:spcPct val="105000"/>
              </a:lnSpc>
              <a:spcAft>
                <a:spcPts val="600"/>
              </a:spcAft>
            </a:pPr>
            <a:r>
              <a:rPr sz="1050">
                <a:solidFill>
                  <a:srgbClr val="253042"/>
                </a:solidFill>
                <a:latin typeface="Aptos"/>
              </a:rPr>
              <a:t>☐ Grain, keys, model</a:t>
            </a:r>
          </a:p>
          <a:p>
            <a:pPr>
              <a:lnSpc>
                <a:spcPct val="105000"/>
              </a:lnSpc>
              <a:spcAft>
                <a:spcPts val="600"/>
              </a:spcAft>
            </a:pPr>
            <a:r>
              <a:rPr sz="1050">
                <a:solidFill>
                  <a:srgbClr val="253042"/>
                </a:solidFill>
                <a:latin typeface="Aptos"/>
              </a:rPr>
              <a:t>☐ Formats and layout</a:t>
            </a:r>
          </a:p>
          <a:p>
            <a:pPr>
              <a:lnSpc>
                <a:spcPct val="105000"/>
              </a:lnSpc>
              <a:spcAft>
                <a:spcPts val="600"/>
              </a:spcAft>
            </a:pPr>
            <a:r>
              <a:rPr sz="1050">
                <a:solidFill>
                  <a:srgbClr val="253042"/>
                </a:solidFill>
                <a:latin typeface="Aptos"/>
              </a:rPr>
              <a:t>☐ Late data and SCD policy</a:t>
            </a:r>
          </a:p>
        </p:txBody>
      </p:sp>
      <p:sp>
        <p:nvSpPr>
          <p:cNvPr id="24" name="Rounded Rectangle 23"/>
          <p:cNvSpPr/>
          <p:nvPr/>
        </p:nvSpPr>
        <p:spPr>
          <a:xfrm>
            <a:off x="4453128" y="365760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453128" y="3657600"/>
            <a:ext cx="3520440" cy="457200"/>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453128" y="3803904"/>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Reliability</a:t>
            </a:r>
          </a:p>
        </p:txBody>
      </p:sp>
      <p:sp>
        <p:nvSpPr>
          <p:cNvPr id="27" name="TextBox 26"/>
          <p:cNvSpPr txBox="1"/>
          <p:nvPr/>
        </p:nvSpPr>
        <p:spPr>
          <a:xfrm>
            <a:off x="4681728" y="4343400"/>
            <a:ext cx="3063240" cy="822960"/>
          </a:xfrm>
          <a:prstGeom prst="rect">
            <a:avLst/>
          </a:prstGeom>
          <a:noFill/>
        </p:spPr>
        <p:txBody>
          <a:bodyPr wrap="none" lIns="64008" tIns="27432" rIns="36576" bIns="27432">
            <a:spAutoFit/>
          </a:bodyPr>
          <a:lstStyle/>
          <a:p>
            <a:pPr>
              <a:lnSpc>
                <a:spcPct val="105000"/>
              </a:lnSpc>
              <a:spcAft>
                <a:spcPts val="600"/>
              </a:spcAft>
            </a:pPr>
            <a:r>
              <a:rPr sz="1050">
                <a:solidFill>
                  <a:srgbClr val="253042"/>
                </a:solidFill>
                <a:latin typeface="Aptos"/>
              </a:rPr>
              <a:t>☐ Quality + contracts</a:t>
            </a:r>
          </a:p>
          <a:p>
            <a:pPr>
              <a:lnSpc>
                <a:spcPct val="105000"/>
              </a:lnSpc>
              <a:spcAft>
                <a:spcPts val="600"/>
              </a:spcAft>
            </a:pPr>
            <a:r>
              <a:rPr sz="1050">
                <a:solidFill>
                  <a:srgbClr val="253042"/>
                </a:solidFill>
                <a:latin typeface="Aptos"/>
              </a:rPr>
              <a:t>☐ Idempotency + replay</a:t>
            </a:r>
          </a:p>
          <a:p>
            <a:pPr>
              <a:lnSpc>
                <a:spcPct val="105000"/>
              </a:lnSpc>
              <a:spcAft>
                <a:spcPts val="600"/>
              </a:spcAft>
            </a:pPr>
            <a:r>
              <a:rPr sz="1050">
                <a:solidFill>
                  <a:srgbClr val="253042"/>
                </a:solidFill>
                <a:latin typeface="Aptos"/>
              </a:rPr>
              <a:t>☐ Backfill, schema, DR</a:t>
            </a:r>
          </a:p>
        </p:txBody>
      </p:sp>
      <p:sp>
        <p:nvSpPr>
          <p:cNvPr id="28" name="Rounded Rectangle 27"/>
          <p:cNvSpPr/>
          <p:nvPr/>
        </p:nvSpPr>
        <p:spPr>
          <a:xfrm>
            <a:off x="8311896" y="365760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311896" y="3657600"/>
            <a:ext cx="3520440" cy="457200"/>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311896" y="3803904"/>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Trade-offs</a:t>
            </a:r>
          </a:p>
        </p:txBody>
      </p:sp>
      <p:sp>
        <p:nvSpPr>
          <p:cNvPr id="31" name="TextBox 30"/>
          <p:cNvSpPr txBox="1"/>
          <p:nvPr/>
        </p:nvSpPr>
        <p:spPr>
          <a:xfrm>
            <a:off x="8540496" y="4343400"/>
            <a:ext cx="3063240" cy="822960"/>
          </a:xfrm>
          <a:prstGeom prst="rect">
            <a:avLst/>
          </a:prstGeom>
          <a:noFill/>
        </p:spPr>
        <p:txBody>
          <a:bodyPr wrap="none" lIns="64008" tIns="27432" rIns="36576" bIns="27432">
            <a:spAutoFit/>
          </a:bodyPr>
          <a:lstStyle/>
          <a:p>
            <a:pPr>
              <a:lnSpc>
                <a:spcPct val="105000"/>
              </a:lnSpc>
              <a:spcAft>
                <a:spcPts val="600"/>
              </a:spcAft>
            </a:pPr>
            <a:r>
              <a:rPr sz="1050">
                <a:solidFill>
                  <a:srgbClr val="253042"/>
                </a:solidFill>
                <a:latin typeface="Aptos"/>
              </a:rPr>
              <a:t>☐ Cost and complexity</a:t>
            </a:r>
          </a:p>
          <a:p>
            <a:pPr>
              <a:lnSpc>
                <a:spcPct val="105000"/>
              </a:lnSpc>
              <a:spcAft>
                <a:spcPts val="600"/>
              </a:spcAft>
            </a:pPr>
            <a:r>
              <a:rPr sz="1050">
                <a:solidFill>
                  <a:srgbClr val="253042"/>
                </a:solidFill>
                <a:latin typeface="Aptos"/>
              </a:rPr>
              <a:t>☐ Bottleneck at 10×</a:t>
            </a:r>
          </a:p>
          <a:p>
            <a:pPr>
              <a:lnSpc>
                <a:spcPct val="105000"/>
              </a:lnSpc>
              <a:spcAft>
                <a:spcPts val="600"/>
              </a:spcAft>
            </a:pPr>
            <a:r>
              <a:rPr sz="1050">
                <a:solidFill>
                  <a:srgbClr val="253042"/>
                </a:solidFill>
                <a:latin typeface="Aptos"/>
              </a:rPr>
              <a:t>☐ Alternative and switch condition</a:t>
            </a:r>
          </a:p>
        </p:txBody>
      </p:sp>
      <p:sp>
        <p:nvSpPr>
          <p:cNvPr id="32" name="TextBox 31"/>
          <p:cNvSpPr txBox="1"/>
          <p:nvPr/>
        </p:nvSpPr>
        <p:spPr>
          <a:xfrm>
            <a:off x="1005840" y="5925312"/>
            <a:ext cx="10149840" cy="274320"/>
          </a:xfrm>
          <a:prstGeom prst="rect">
            <a:avLst/>
          </a:prstGeom>
          <a:noFill/>
        </p:spPr>
        <p:txBody>
          <a:bodyPr wrap="none" lIns="45720" rIns="45720" anchor="t">
            <a:spAutoFit/>
          </a:bodyPr>
          <a:lstStyle/>
          <a:p>
            <a:pPr algn="ctr">
              <a:spcAft>
                <a:spcPts val="0"/>
              </a:spcAft>
            </a:pPr>
            <a:r>
              <a:rPr sz="1050" b="1" i="0">
                <a:solidFill>
                  <a:srgbClr val="007874"/>
                </a:solidFill>
                <a:latin typeface="Aptos"/>
              </a:rPr>
              <a:t>If one box is weak, state it as an open question and describe how you would validate it.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INTERVIEW EXECUTION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Reusable one-page design template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Copy this structure onto the whiteboard before solving any data system design prompt.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35</a:t>
            </a:r>
          </a:p>
        </p:txBody>
      </p:sp>
      <p:sp>
        <p:nvSpPr>
          <p:cNvPr id="8" name="Rounded Rectangle 7"/>
          <p:cNvSpPr/>
          <p:nvPr/>
        </p:nvSpPr>
        <p:spPr>
          <a:xfrm>
            <a:off x="594360" y="1444752"/>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444752"/>
            <a:ext cx="109728" cy="114300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609344"/>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1. USERS + OUTPUTS</a:t>
            </a:r>
          </a:p>
        </p:txBody>
      </p:sp>
      <p:sp>
        <p:nvSpPr>
          <p:cNvPr id="11" name="TextBox 10"/>
          <p:cNvSpPr txBox="1"/>
          <p:nvPr/>
        </p:nvSpPr>
        <p:spPr>
          <a:xfrm>
            <a:off x="868680" y="2020824"/>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Consumers • use cases • interfaces • key queries</a:t>
            </a:r>
          </a:p>
        </p:txBody>
      </p:sp>
      <p:sp>
        <p:nvSpPr>
          <p:cNvPr id="12" name="Rounded Rectangle 11"/>
          <p:cNvSpPr/>
          <p:nvPr/>
        </p:nvSpPr>
        <p:spPr>
          <a:xfrm>
            <a:off x="6263640" y="1444752"/>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444752"/>
            <a:ext cx="109728" cy="114300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7960" y="1609344"/>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2. SLOs + CONSTRAINTS</a:t>
            </a:r>
          </a:p>
        </p:txBody>
      </p:sp>
      <p:sp>
        <p:nvSpPr>
          <p:cNvPr id="15" name="TextBox 14"/>
          <p:cNvSpPr txBox="1"/>
          <p:nvPr/>
        </p:nvSpPr>
        <p:spPr>
          <a:xfrm>
            <a:off x="6537960" y="2020824"/>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Freshness • availability • retention • security • cost</a:t>
            </a:r>
          </a:p>
        </p:txBody>
      </p:sp>
      <p:sp>
        <p:nvSpPr>
          <p:cNvPr id="16" name="Rounded Rectangle 15"/>
          <p:cNvSpPr/>
          <p:nvPr/>
        </p:nvSpPr>
        <p:spPr>
          <a:xfrm>
            <a:off x="594360" y="2926080"/>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4360" y="2926080"/>
            <a:ext cx="109728" cy="114300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3090672"/>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3. SCALE MATH</a:t>
            </a:r>
          </a:p>
        </p:txBody>
      </p:sp>
      <p:sp>
        <p:nvSpPr>
          <p:cNvPr id="19" name="TextBox 18"/>
          <p:cNvSpPr txBox="1"/>
          <p:nvPr/>
        </p:nvSpPr>
        <p:spPr>
          <a:xfrm>
            <a:off x="868680" y="3502152"/>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events/sec avg+peak • bytes/day • growth • cardinality</a:t>
            </a:r>
          </a:p>
        </p:txBody>
      </p:sp>
      <p:sp>
        <p:nvSpPr>
          <p:cNvPr id="20" name="Rounded Rectangle 19"/>
          <p:cNvSpPr/>
          <p:nvPr/>
        </p:nvSpPr>
        <p:spPr>
          <a:xfrm>
            <a:off x="6263640" y="2926080"/>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2926080"/>
            <a:ext cx="109728" cy="114300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37960" y="3090672"/>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4. DATA FLOW</a:t>
            </a:r>
          </a:p>
        </p:txBody>
      </p:sp>
      <p:sp>
        <p:nvSpPr>
          <p:cNvPr id="23" name="TextBox 22"/>
          <p:cNvSpPr txBox="1"/>
          <p:nvPr/>
        </p:nvSpPr>
        <p:spPr>
          <a:xfrm>
            <a:off x="6537960" y="3502152"/>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sources → ingest → process → store → serve</a:t>
            </a:r>
          </a:p>
        </p:txBody>
      </p:sp>
      <p:sp>
        <p:nvSpPr>
          <p:cNvPr id="24" name="Rounded Rectangle 23"/>
          <p:cNvSpPr/>
          <p:nvPr/>
        </p:nvSpPr>
        <p:spPr>
          <a:xfrm>
            <a:off x="594360" y="4407408"/>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94360" y="4407408"/>
            <a:ext cx="109728" cy="1143000"/>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8680" y="4572000"/>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5. DATA DESIGN</a:t>
            </a:r>
          </a:p>
        </p:txBody>
      </p:sp>
      <p:sp>
        <p:nvSpPr>
          <p:cNvPr id="27" name="TextBox 26"/>
          <p:cNvSpPr txBox="1"/>
          <p:nvPr/>
        </p:nvSpPr>
        <p:spPr>
          <a:xfrm>
            <a:off x="868680" y="4983480"/>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grain • keys • model • format • partition/layout</a:t>
            </a:r>
          </a:p>
        </p:txBody>
      </p:sp>
      <p:sp>
        <p:nvSpPr>
          <p:cNvPr id="28" name="Rounded Rectangle 27"/>
          <p:cNvSpPr/>
          <p:nvPr/>
        </p:nvSpPr>
        <p:spPr>
          <a:xfrm>
            <a:off x="6263640" y="4407408"/>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63640" y="4407408"/>
            <a:ext cx="109728" cy="1143000"/>
          </a:xfrm>
          <a:prstGeom prst="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37960" y="4572000"/>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6. OPERATIONS</a:t>
            </a:r>
          </a:p>
        </p:txBody>
      </p:sp>
      <p:sp>
        <p:nvSpPr>
          <p:cNvPr id="31" name="TextBox 30"/>
          <p:cNvSpPr txBox="1"/>
          <p:nvPr/>
        </p:nvSpPr>
        <p:spPr>
          <a:xfrm>
            <a:off x="6537960" y="4983480"/>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quality • observability • replay • backfill • schema • DR</a:t>
            </a:r>
          </a:p>
        </p:txBody>
      </p:sp>
      <p:sp>
        <p:nvSpPr>
          <p:cNvPr id="32" name="Rounded Rectangle 31"/>
          <p:cNvSpPr/>
          <p:nvPr/>
        </p:nvSpPr>
        <p:spPr>
          <a:xfrm>
            <a:off x="914400" y="5925312"/>
            <a:ext cx="10332720" cy="45720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0704" y="6044184"/>
            <a:ext cx="10058400" cy="274320"/>
          </a:xfrm>
          <a:prstGeom prst="rect">
            <a:avLst/>
          </a:prstGeom>
          <a:noFill/>
        </p:spPr>
        <p:txBody>
          <a:bodyPr wrap="none" lIns="45720" rIns="45720" anchor="t">
            <a:spAutoFit/>
          </a:bodyPr>
          <a:lstStyle/>
          <a:p>
            <a:pPr algn="l">
              <a:spcAft>
                <a:spcPts val="0"/>
              </a:spcAft>
            </a:pPr>
            <a:r>
              <a:rPr sz="1100" b="1" i="0">
                <a:solidFill>
                  <a:srgbClr val="0C1930"/>
                </a:solidFill>
                <a:latin typeface="Aptos"/>
              </a:rPr>
              <a:t>Finish with: bottleneck at 10× • biggest correctness risk • biggest cost driver • alternative architecture • unresolved assumptions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C1930"/>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SUMMARY</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Key takeaways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A complete design is measurable, explainable, recoverable, and operable.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36</a:t>
            </a:r>
          </a:p>
        </p:txBody>
      </p:sp>
      <p:sp>
        <p:nvSpPr>
          <p:cNvPr id="8" name="Rounded Rectangle 7"/>
          <p:cNvSpPr/>
          <p:nvPr/>
        </p:nvSpPr>
        <p:spPr>
          <a:xfrm>
            <a:off x="685800" y="1417320"/>
            <a:ext cx="5074920" cy="1115568"/>
          </a:xfrm>
          <a:prstGeom prst="roundRect">
            <a:avLst/>
          </a:prstGeom>
          <a:solidFill>
            <a:srgbClr val="1B2F4A"/>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8680" y="1645920"/>
            <a:ext cx="457200" cy="45720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1792224"/>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1</a:t>
            </a:r>
          </a:p>
        </p:txBody>
      </p:sp>
      <p:sp>
        <p:nvSpPr>
          <p:cNvPr id="11" name="TextBox 10"/>
          <p:cNvSpPr txBox="1"/>
          <p:nvPr/>
        </p:nvSpPr>
        <p:spPr>
          <a:xfrm>
            <a:off x="1508760" y="1581912"/>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Start with people and SLAs</a:t>
            </a:r>
          </a:p>
        </p:txBody>
      </p:sp>
      <p:sp>
        <p:nvSpPr>
          <p:cNvPr id="12" name="TextBox 11"/>
          <p:cNvSpPr txBox="1"/>
          <p:nvPr/>
        </p:nvSpPr>
        <p:spPr>
          <a:xfrm>
            <a:off x="1508760" y="1993392"/>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Consumers and measurable outcomes determine the architecture.</a:t>
            </a:r>
          </a:p>
        </p:txBody>
      </p:sp>
      <p:sp>
        <p:nvSpPr>
          <p:cNvPr id="13" name="Rounded Rectangle 12"/>
          <p:cNvSpPr/>
          <p:nvPr/>
        </p:nvSpPr>
        <p:spPr>
          <a:xfrm>
            <a:off x="6217920" y="1417320"/>
            <a:ext cx="5074920" cy="1115568"/>
          </a:xfrm>
          <a:prstGeom prst="roundRect">
            <a:avLst/>
          </a:prstGeom>
          <a:solidFill>
            <a:srgbClr val="1B2F4A"/>
          </a:solidFill>
          <a:ln w="1270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00800" y="1645920"/>
            <a:ext cx="457200" cy="45720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792224"/>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2</a:t>
            </a:r>
          </a:p>
        </p:txBody>
      </p:sp>
      <p:sp>
        <p:nvSpPr>
          <p:cNvPr id="16" name="TextBox 15"/>
          <p:cNvSpPr txBox="1"/>
          <p:nvPr/>
        </p:nvSpPr>
        <p:spPr>
          <a:xfrm>
            <a:off x="7040880" y="1581912"/>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Calculate before selecting tools</a:t>
            </a:r>
          </a:p>
        </p:txBody>
      </p:sp>
      <p:sp>
        <p:nvSpPr>
          <p:cNvPr id="17" name="TextBox 16"/>
          <p:cNvSpPr txBox="1"/>
          <p:nvPr/>
        </p:nvSpPr>
        <p:spPr>
          <a:xfrm>
            <a:off x="7040880" y="1993392"/>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Peak rate, bytes, retention, and cardinality reveal constraints.</a:t>
            </a:r>
          </a:p>
        </p:txBody>
      </p:sp>
      <p:sp>
        <p:nvSpPr>
          <p:cNvPr id="18" name="Rounded Rectangle 17"/>
          <p:cNvSpPr/>
          <p:nvPr/>
        </p:nvSpPr>
        <p:spPr>
          <a:xfrm>
            <a:off x="685800" y="2898648"/>
            <a:ext cx="5074920" cy="1115568"/>
          </a:xfrm>
          <a:prstGeom prst="roundRect">
            <a:avLst/>
          </a:prstGeom>
          <a:solidFill>
            <a:srgbClr val="1B2F4A"/>
          </a:solidFill>
          <a:ln w="1270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68680" y="3127248"/>
            <a:ext cx="457200" cy="45720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3273552"/>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3</a:t>
            </a:r>
          </a:p>
        </p:txBody>
      </p:sp>
      <p:sp>
        <p:nvSpPr>
          <p:cNvPr id="21" name="TextBox 20"/>
          <p:cNvSpPr txBox="1"/>
          <p:nvPr/>
        </p:nvSpPr>
        <p:spPr>
          <a:xfrm>
            <a:off x="1508760" y="3063240"/>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Prefer simple, then justify complexity</a:t>
            </a:r>
          </a:p>
        </p:txBody>
      </p:sp>
      <p:sp>
        <p:nvSpPr>
          <p:cNvPr id="22" name="TextBox 21"/>
          <p:cNvSpPr txBox="1"/>
          <p:nvPr/>
        </p:nvSpPr>
        <p:spPr>
          <a:xfrm>
            <a:off x="1508760" y="3474720"/>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Batch by default; streaming only for a real latency need.</a:t>
            </a:r>
          </a:p>
        </p:txBody>
      </p:sp>
      <p:sp>
        <p:nvSpPr>
          <p:cNvPr id="23" name="Rounded Rectangle 22"/>
          <p:cNvSpPr/>
          <p:nvPr/>
        </p:nvSpPr>
        <p:spPr>
          <a:xfrm>
            <a:off x="6217920" y="2898648"/>
            <a:ext cx="5074920" cy="1115568"/>
          </a:xfrm>
          <a:prstGeom prst="roundRect">
            <a:avLst/>
          </a:prstGeom>
          <a:solidFill>
            <a:srgbClr val="1B2F4A"/>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400800" y="3127248"/>
            <a:ext cx="457200" cy="45720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0" y="3273552"/>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4</a:t>
            </a:r>
          </a:p>
        </p:txBody>
      </p:sp>
      <p:sp>
        <p:nvSpPr>
          <p:cNvPr id="26" name="TextBox 25"/>
          <p:cNvSpPr txBox="1"/>
          <p:nvPr/>
        </p:nvSpPr>
        <p:spPr>
          <a:xfrm>
            <a:off x="7040880" y="3063240"/>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Model for meaning and access</a:t>
            </a:r>
          </a:p>
        </p:txBody>
      </p:sp>
      <p:sp>
        <p:nvSpPr>
          <p:cNvPr id="27" name="TextBox 26"/>
          <p:cNvSpPr txBox="1"/>
          <p:nvPr/>
        </p:nvSpPr>
        <p:spPr>
          <a:xfrm>
            <a:off x="7040880" y="3474720"/>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State grain, history, schema contracts, and serving queries.</a:t>
            </a:r>
          </a:p>
        </p:txBody>
      </p:sp>
      <p:sp>
        <p:nvSpPr>
          <p:cNvPr id="28" name="Rounded Rectangle 27"/>
          <p:cNvSpPr/>
          <p:nvPr/>
        </p:nvSpPr>
        <p:spPr>
          <a:xfrm>
            <a:off x="685800" y="4379976"/>
            <a:ext cx="5074920" cy="1115568"/>
          </a:xfrm>
          <a:prstGeom prst="roundRect">
            <a:avLst/>
          </a:prstGeom>
          <a:solidFill>
            <a:srgbClr val="1B2F4A"/>
          </a:solidFill>
          <a:ln w="1270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68680" y="4608576"/>
            <a:ext cx="457200" cy="457200"/>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68680" y="4754880"/>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5</a:t>
            </a:r>
          </a:p>
        </p:txBody>
      </p:sp>
      <p:sp>
        <p:nvSpPr>
          <p:cNvPr id="31" name="TextBox 30"/>
          <p:cNvSpPr txBox="1"/>
          <p:nvPr/>
        </p:nvSpPr>
        <p:spPr>
          <a:xfrm>
            <a:off x="1508760" y="4544568"/>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Design the rerun before the first run</a:t>
            </a:r>
          </a:p>
        </p:txBody>
      </p:sp>
      <p:sp>
        <p:nvSpPr>
          <p:cNvPr id="32" name="TextBox 31"/>
          <p:cNvSpPr txBox="1"/>
          <p:nvPr/>
        </p:nvSpPr>
        <p:spPr>
          <a:xfrm>
            <a:off x="1508760" y="4956048"/>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Idempotency, replay, backfill, and schema migration are core paths.</a:t>
            </a:r>
          </a:p>
        </p:txBody>
      </p:sp>
      <p:sp>
        <p:nvSpPr>
          <p:cNvPr id="33" name="Rounded Rectangle 32"/>
          <p:cNvSpPr/>
          <p:nvPr/>
        </p:nvSpPr>
        <p:spPr>
          <a:xfrm>
            <a:off x="6217920" y="4379976"/>
            <a:ext cx="5074920" cy="1115568"/>
          </a:xfrm>
          <a:prstGeom prst="roundRect">
            <a:avLst/>
          </a:prstGeom>
          <a:solidFill>
            <a:srgbClr val="1B2F4A"/>
          </a:solidFill>
          <a:ln w="12700">
            <a:solidFill>
              <a:srgbClr val="E34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400800" y="4608576"/>
            <a:ext cx="457200" cy="457200"/>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00800" y="4754880"/>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6</a:t>
            </a:r>
          </a:p>
        </p:txBody>
      </p:sp>
      <p:sp>
        <p:nvSpPr>
          <p:cNvPr id="36" name="TextBox 35"/>
          <p:cNvSpPr txBox="1"/>
          <p:nvPr/>
        </p:nvSpPr>
        <p:spPr>
          <a:xfrm>
            <a:off x="7040880" y="4544568"/>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Narrate every trade-off</a:t>
            </a:r>
          </a:p>
        </p:txBody>
      </p:sp>
      <p:sp>
        <p:nvSpPr>
          <p:cNvPr id="37" name="TextBox 36"/>
          <p:cNvSpPr txBox="1"/>
          <p:nvPr/>
        </p:nvSpPr>
        <p:spPr>
          <a:xfrm>
            <a:off x="7040880" y="4956048"/>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Requirement → decision → benefit → cost → mitigation.</a:t>
            </a:r>
          </a:p>
        </p:txBody>
      </p:sp>
      <p:sp>
        <p:nvSpPr>
          <p:cNvPr id="38" name="TextBox 37"/>
          <p:cNvSpPr txBox="1"/>
          <p:nvPr/>
        </p:nvSpPr>
        <p:spPr>
          <a:xfrm>
            <a:off x="914400" y="5989320"/>
            <a:ext cx="10332720" cy="310896"/>
          </a:xfrm>
          <a:prstGeom prst="rect">
            <a:avLst/>
          </a:prstGeom>
          <a:noFill/>
        </p:spPr>
        <p:txBody>
          <a:bodyPr wrap="none" lIns="45720" rIns="45720" anchor="t">
            <a:spAutoFit/>
          </a:bodyPr>
          <a:lstStyle/>
          <a:p>
            <a:pPr algn="ctr">
              <a:spcAft>
                <a:spcPts val="0"/>
              </a:spcAft>
            </a:pPr>
            <a:r>
              <a:rPr sz="1200" b="1" i="0">
                <a:solidFill>
                  <a:srgbClr val="FF9F43"/>
                </a:solidFill>
                <a:latin typeface="Aptos"/>
              </a:rPr>
              <a:t>The best design is not the most sophisticated—it is the simplest design that meets the stated requirements and has a credible failure story.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C1930"/>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AI-powered ERP changes the design problem</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ERP combines financial correctness, tenant isolation, operational freshness, and governed AI.</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37</a:t>
            </a:r>
          </a:p>
        </p:txBody>
      </p:sp>
      <p:sp>
        <p:nvSpPr>
          <p:cNvPr id="8" name="Rounded Rectangle 7"/>
          <p:cNvSpPr/>
          <p:nvPr/>
        </p:nvSpPr>
        <p:spPr>
          <a:xfrm>
            <a:off x="621792" y="1536192"/>
            <a:ext cx="5212080" cy="1444752"/>
          </a:xfrm>
          <a:prstGeom prst="roundRect">
            <a:avLst/>
          </a:prstGeom>
          <a:solidFill>
            <a:srgbClr val="1B2F4A"/>
          </a:solidFill>
          <a:ln w="1397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2960" y="1764792"/>
            <a:ext cx="502920" cy="50292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929384"/>
            <a:ext cx="502920"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1" name="TextBox 10"/>
          <p:cNvSpPr txBox="1"/>
          <p:nvPr/>
        </p:nvSpPr>
        <p:spPr>
          <a:xfrm>
            <a:off x="1490472" y="1719072"/>
            <a:ext cx="4069080" cy="274320"/>
          </a:xfrm>
          <a:prstGeom prst="rect">
            <a:avLst/>
          </a:prstGeom>
          <a:noFill/>
        </p:spPr>
        <p:txBody>
          <a:bodyPr wrap="none" lIns="45720" rIns="45720" anchor="t">
            <a:spAutoFit/>
          </a:bodyPr>
          <a:lstStyle/>
          <a:p>
            <a:pPr algn="l">
              <a:spcAft>
                <a:spcPts val="0"/>
              </a:spcAft>
            </a:pPr>
            <a:r>
              <a:rPr sz="1400" b="1" i="0">
                <a:solidFill>
                  <a:srgbClr val="FFFFFF"/>
                </a:solidFill>
                <a:latin typeface="Aptos"/>
              </a:rPr>
              <a:t>SYSTEM OF RECORD</a:t>
            </a:r>
          </a:p>
        </p:txBody>
      </p:sp>
      <p:sp>
        <p:nvSpPr>
          <p:cNvPr id="12" name="TextBox 11"/>
          <p:cNvSpPr txBox="1"/>
          <p:nvPr/>
        </p:nvSpPr>
        <p:spPr>
          <a:xfrm>
            <a:off x="1490472" y="2194560"/>
            <a:ext cx="4069080" cy="502920"/>
          </a:xfrm>
          <a:prstGeom prst="rect">
            <a:avLst/>
          </a:prstGeom>
          <a:noFill/>
        </p:spPr>
        <p:txBody>
          <a:bodyPr wrap="none" lIns="45720" rIns="45720" anchor="t">
            <a:spAutoFit/>
          </a:bodyPr>
          <a:lstStyle/>
          <a:p>
            <a:pPr algn="l">
              <a:spcAft>
                <a:spcPts val="0"/>
              </a:spcAft>
            </a:pPr>
            <a:r>
              <a:rPr sz="1050" b="0" i="0">
                <a:solidFill>
                  <a:srgbClr val="E4EBF4"/>
                </a:solidFill>
                <a:latin typeface="Aptos"/>
              </a:rPr>
              <a:t>Orders, invoices, journals, payroll, inventory
Correctness and auditability first</a:t>
            </a:r>
          </a:p>
        </p:txBody>
      </p:sp>
      <p:sp>
        <p:nvSpPr>
          <p:cNvPr id="13" name="Rounded Rectangle 12"/>
          <p:cNvSpPr/>
          <p:nvPr/>
        </p:nvSpPr>
        <p:spPr>
          <a:xfrm>
            <a:off x="6199631" y="1536192"/>
            <a:ext cx="5212080" cy="1444752"/>
          </a:xfrm>
          <a:prstGeom prst="roundRect">
            <a:avLst/>
          </a:prstGeom>
          <a:solidFill>
            <a:srgbClr val="1B2F4A"/>
          </a:solidFill>
          <a:ln w="1397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00799" y="1764792"/>
            <a:ext cx="502920" cy="50292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799" y="1929384"/>
            <a:ext cx="502920"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6" name="TextBox 15"/>
          <p:cNvSpPr txBox="1"/>
          <p:nvPr/>
        </p:nvSpPr>
        <p:spPr>
          <a:xfrm>
            <a:off x="7068312" y="1719072"/>
            <a:ext cx="4069080" cy="274320"/>
          </a:xfrm>
          <a:prstGeom prst="rect">
            <a:avLst/>
          </a:prstGeom>
          <a:noFill/>
        </p:spPr>
        <p:txBody>
          <a:bodyPr wrap="none" lIns="45720" rIns="45720" anchor="t">
            <a:spAutoFit/>
          </a:bodyPr>
          <a:lstStyle/>
          <a:p>
            <a:pPr algn="l">
              <a:spcAft>
                <a:spcPts val="0"/>
              </a:spcAft>
            </a:pPr>
            <a:r>
              <a:rPr sz="1400" b="1" i="0">
                <a:solidFill>
                  <a:srgbClr val="FFFFFF"/>
                </a:solidFill>
                <a:latin typeface="Aptos"/>
              </a:rPr>
              <a:t>MULTI-TENANT SAAS</a:t>
            </a:r>
          </a:p>
        </p:txBody>
      </p:sp>
      <p:sp>
        <p:nvSpPr>
          <p:cNvPr id="17" name="TextBox 16"/>
          <p:cNvSpPr txBox="1"/>
          <p:nvPr/>
        </p:nvSpPr>
        <p:spPr>
          <a:xfrm>
            <a:off x="7068312" y="2194560"/>
            <a:ext cx="4069080" cy="502920"/>
          </a:xfrm>
          <a:prstGeom prst="rect">
            <a:avLst/>
          </a:prstGeom>
          <a:noFill/>
        </p:spPr>
        <p:txBody>
          <a:bodyPr wrap="none" lIns="45720" rIns="45720" anchor="t">
            <a:spAutoFit/>
          </a:bodyPr>
          <a:lstStyle/>
          <a:p>
            <a:pPr algn="l">
              <a:spcAft>
                <a:spcPts val="0"/>
              </a:spcAft>
            </a:pPr>
            <a:r>
              <a:rPr sz="1050" b="0" i="0">
                <a:solidFill>
                  <a:srgbClr val="E4EBF4"/>
                </a:solidFill>
                <a:latin typeface="Aptos"/>
              </a:rPr>
              <a:t>Shared platform, isolated customers
No cross-tenant data exposure</a:t>
            </a:r>
          </a:p>
        </p:txBody>
      </p:sp>
      <p:sp>
        <p:nvSpPr>
          <p:cNvPr id="18" name="Rounded Rectangle 17"/>
          <p:cNvSpPr/>
          <p:nvPr/>
        </p:nvSpPr>
        <p:spPr>
          <a:xfrm>
            <a:off x="621792" y="3410711"/>
            <a:ext cx="5212080" cy="1444752"/>
          </a:xfrm>
          <a:prstGeom prst="roundRect">
            <a:avLst/>
          </a:prstGeom>
          <a:solidFill>
            <a:srgbClr val="1B2F4A"/>
          </a:solidFill>
          <a:ln w="1397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22960" y="3639311"/>
            <a:ext cx="502920" cy="50292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3803903"/>
            <a:ext cx="502920"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1" name="TextBox 20"/>
          <p:cNvSpPr txBox="1"/>
          <p:nvPr/>
        </p:nvSpPr>
        <p:spPr>
          <a:xfrm>
            <a:off x="1490472" y="3593591"/>
            <a:ext cx="4069080" cy="274320"/>
          </a:xfrm>
          <a:prstGeom prst="rect">
            <a:avLst/>
          </a:prstGeom>
          <a:noFill/>
        </p:spPr>
        <p:txBody>
          <a:bodyPr wrap="none" lIns="45720" rIns="45720" anchor="t">
            <a:spAutoFit/>
          </a:bodyPr>
          <a:lstStyle/>
          <a:p>
            <a:pPr algn="l">
              <a:spcAft>
                <a:spcPts val="0"/>
              </a:spcAft>
            </a:pPr>
            <a:r>
              <a:rPr sz="1400" b="1" i="0">
                <a:solidFill>
                  <a:srgbClr val="FFFFFF"/>
                </a:solidFill>
                <a:latin typeface="Aptos"/>
              </a:rPr>
              <a:t>OPERATIONAL ANALYTICS</a:t>
            </a:r>
          </a:p>
        </p:txBody>
      </p:sp>
      <p:sp>
        <p:nvSpPr>
          <p:cNvPr id="22" name="TextBox 21"/>
          <p:cNvSpPr txBox="1"/>
          <p:nvPr/>
        </p:nvSpPr>
        <p:spPr>
          <a:xfrm>
            <a:off x="1490472" y="4069079"/>
            <a:ext cx="4069080" cy="502920"/>
          </a:xfrm>
          <a:prstGeom prst="rect">
            <a:avLst/>
          </a:prstGeom>
          <a:noFill/>
        </p:spPr>
        <p:txBody>
          <a:bodyPr wrap="none" lIns="45720" rIns="45720" anchor="t">
            <a:spAutoFit/>
          </a:bodyPr>
          <a:lstStyle/>
          <a:p>
            <a:pPr algn="l">
              <a:spcAft>
                <a:spcPts val="0"/>
              </a:spcAft>
            </a:pPr>
            <a:r>
              <a:rPr sz="1050" b="0" i="0">
                <a:solidFill>
                  <a:srgbClr val="E4EBF4"/>
                </a:solidFill>
                <a:latin typeface="Aptos"/>
              </a:rPr>
              <a:t>Live close, cash, supply, workforce
Fresh and explainable metrics</a:t>
            </a:r>
          </a:p>
        </p:txBody>
      </p:sp>
      <p:sp>
        <p:nvSpPr>
          <p:cNvPr id="23" name="Rounded Rectangle 22"/>
          <p:cNvSpPr/>
          <p:nvPr/>
        </p:nvSpPr>
        <p:spPr>
          <a:xfrm>
            <a:off x="6199631" y="3410711"/>
            <a:ext cx="5212080" cy="1444752"/>
          </a:xfrm>
          <a:prstGeom prst="roundRect">
            <a:avLst/>
          </a:prstGeom>
          <a:solidFill>
            <a:srgbClr val="1B2F4A"/>
          </a:solidFill>
          <a:ln w="1397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400799" y="3639311"/>
            <a:ext cx="502920" cy="50292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799" y="3803903"/>
            <a:ext cx="502920"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26" name="TextBox 25"/>
          <p:cNvSpPr txBox="1"/>
          <p:nvPr/>
        </p:nvSpPr>
        <p:spPr>
          <a:xfrm>
            <a:off x="7068312" y="3593591"/>
            <a:ext cx="4069080" cy="274320"/>
          </a:xfrm>
          <a:prstGeom prst="rect">
            <a:avLst/>
          </a:prstGeom>
          <a:noFill/>
        </p:spPr>
        <p:txBody>
          <a:bodyPr wrap="none" lIns="45720" rIns="45720" anchor="t">
            <a:spAutoFit/>
          </a:bodyPr>
          <a:lstStyle/>
          <a:p>
            <a:pPr algn="l">
              <a:spcAft>
                <a:spcPts val="0"/>
              </a:spcAft>
            </a:pPr>
            <a:r>
              <a:rPr sz="1400" b="1" i="0">
                <a:solidFill>
                  <a:srgbClr val="FFFFFF"/>
                </a:solidFill>
                <a:latin typeface="Aptos"/>
              </a:rPr>
              <a:t>AI COPILOTS</a:t>
            </a:r>
          </a:p>
        </p:txBody>
      </p:sp>
      <p:sp>
        <p:nvSpPr>
          <p:cNvPr id="27" name="TextBox 26"/>
          <p:cNvSpPr txBox="1"/>
          <p:nvPr/>
        </p:nvSpPr>
        <p:spPr>
          <a:xfrm>
            <a:off x="7068312" y="4069079"/>
            <a:ext cx="4069080" cy="502920"/>
          </a:xfrm>
          <a:prstGeom prst="rect">
            <a:avLst/>
          </a:prstGeom>
          <a:noFill/>
        </p:spPr>
        <p:txBody>
          <a:bodyPr wrap="none" lIns="45720" rIns="45720" anchor="t">
            <a:spAutoFit/>
          </a:bodyPr>
          <a:lstStyle/>
          <a:p>
            <a:pPr algn="l">
              <a:spcAft>
                <a:spcPts val="0"/>
              </a:spcAft>
            </a:pPr>
            <a:r>
              <a:rPr sz="1050" b="0" i="0">
                <a:solidFill>
                  <a:srgbClr val="E4EBF4"/>
                </a:solidFill>
                <a:latin typeface="Aptos"/>
              </a:rPr>
              <a:t>Forecast, explain, recommend, automate
Grounded and permission-aware</a:t>
            </a:r>
          </a:p>
        </p:txBody>
      </p:sp>
      <p:sp>
        <p:nvSpPr>
          <p:cNvPr id="28" name="Rounded Rectangle 27"/>
          <p:cNvSpPr/>
          <p:nvPr/>
        </p:nvSpPr>
        <p:spPr>
          <a:xfrm>
            <a:off x="914400" y="5577840"/>
            <a:ext cx="10332720" cy="658368"/>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60704" y="5696712"/>
            <a:ext cx="10058400" cy="475488"/>
          </a:xfrm>
          <a:prstGeom prst="rect">
            <a:avLst/>
          </a:prstGeom>
          <a:noFill/>
        </p:spPr>
        <p:txBody>
          <a:bodyPr wrap="none" lIns="45720" rIns="45720" anchor="t">
            <a:spAutoFit/>
          </a:bodyPr>
          <a:lstStyle/>
          <a:p>
            <a:pPr algn="l">
              <a:spcAft>
                <a:spcPts val="0"/>
              </a:spcAft>
            </a:pPr>
            <a:r>
              <a:rPr sz="1150" b="1" i="0">
                <a:solidFill>
                  <a:srgbClr val="0C1930"/>
                </a:solidFill>
                <a:latin typeface="Aptos"/>
              </a:rPr>
              <a:t>ERP design rule: an AI answer is only as trustworthy as the transactional data, business semantics, permissions, and lineage behind it.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AI ERP workloads and service levels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One platform supports very different correctness, latency, and serving requirements.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38</a:t>
            </a:r>
          </a:p>
        </p:txBody>
      </p:sp>
      <p:graphicFrame>
        <p:nvGraphicFramePr>
          <p:cNvPr id="8" name="Table 7"/>
          <p:cNvGraphicFramePr>
            <a:graphicFrameLocks noGrp="1"/>
          </p:cNvGraphicFramePr>
          <p:nvPr/>
        </p:nvGraphicFramePr>
        <p:xfrm>
          <a:off x="566928" y="1572768"/>
          <a:ext cx="11064240" cy="4251960"/>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3886200">
                  <a:extLst>
                    <a:ext uri="{9D8B030D-6E8A-4147-A177-3AD203B41FA5}">
                      <a16:colId xmlns:a16="http://schemas.microsoft.com/office/drawing/2014/main" val="20003"/>
                    </a:ext>
                  </a:extLst>
                </a:gridCol>
              </a:tblGrid>
              <a:tr h="708660">
                <a:tc>
                  <a:txBody>
                    <a:bodyPr/>
                    <a:lstStyle/>
                    <a:p>
                      <a:pPr algn="l"/>
                      <a:r>
                        <a:rPr sz="900" b="1">
                          <a:solidFill>
                            <a:srgbClr val="FFFFFF"/>
                          </a:solidFill>
                          <a:latin typeface="Aptos"/>
                        </a:rPr>
                        <a:t>Workload</a:t>
                      </a:r>
                    </a:p>
                  </a:txBody>
                  <a:tcPr marL="73152" marR="54864" marB="27432">
                    <a:solidFill>
                      <a:srgbClr val="0C1930"/>
                    </a:solidFill>
                  </a:tcPr>
                </a:tc>
                <a:tc>
                  <a:txBody>
                    <a:bodyPr/>
                    <a:lstStyle/>
                    <a:p>
                      <a:pPr algn="l"/>
                      <a:r>
                        <a:rPr sz="900" b="1">
                          <a:solidFill>
                            <a:srgbClr val="FFFFFF"/>
                          </a:solidFill>
                          <a:latin typeface="Aptos"/>
                        </a:rPr>
                        <a:t>Typical output</a:t>
                      </a:r>
                    </a:p>
                  </a:txBody>
                  <a:tcPr marL="73152" marR="54864" marB="27432">
                    <a:solidFill>
                      <a:srgbClr val="0C1930"/>
                    </a:solidFill>
                  </a:tcPr>
                </a:tc>
                <a:tc>
                  <a:txBody>
                    <a:bodyPr/>
                    <a:lstStyle/>
                    <a:p>
                      <a:pPr algn="l"/>
                      <a:r>
                        <a:rPr sz="900" b="1">
                          <a:solidFill>
                            <a:srgbClr val="FFFFFF"/>
                          </a:solidFill>
                          <a:latin typeface="Aptos"/>
                        </a:rPr>
                        <a:t>Target</a:t>
                      </a:r>
                    </a:p>
                  </a:txBody>
                  <a:tcPr marL="73152" marR="54864" marB="27432">
                    <a:solidFill>
                      <a:srgbClr val="0C1930"/>
                    </a:solidFill>
                  </a:tcPr>
                </a:tc>
                <a:tc>
                  <a:txBody>
                    <a:bodyPr/>
                    <a:lstStyle/>
                    <a:p>
                      <a:pPr algn="l"/>
                      <a:r>
                        <a:rPr sz="900" b="1">
                          <a:solidFill>
                            <a:srgbClr val="FFFFFF"/>
                          </a:solidFill>
                          <a:latin typeface="Aptos"/>
                        </a:rPr>
                        <a:t>Primary design pressure</a:t>
                      </a:r>
                    </a:p>
                  </a:txBody>
                  <a:tcPr marL="73152" marR="54864" marB="27432">
                    <a:solidFill>
                      <a:srgbClr val="0C1930"/>
                    </a:solidFill>
                  </a:tcPr>
                </a:tc>
                <a:extLst>
                  <a:ext uri="{0D108BD9-81ED-4DB2-BD59-A6C34878D82A}">
                    <a16:rowId xmlns:a16="http://schemas.microsoft.com/office/drawing/2014/main" val="10000"/>
                  </a:ext>
                </a:extLst>
              </a:tr>
              <a:tr h="708660">
                <a:tc>
                  <a:txBody>
                    <a:bodyPr/>
                    <a:lstStyle/>
                    <a:p>
                      <a:pPr algn="l"/>
                      <a:r>
                        <a:rPr sz="950" b="0">
                          <a:solidFill>
                            <a:srgbClr val="253042"/>
                          </a:solidFill>
                          <a:latin typeface="Aptos"/>
                        </a:rPr>
                        <a:t>Financial close</a:t>
                      </a:r>
                    </a:p>
                  </a:txBody>
                  <a:tcPr marL="73152" marR="54864" marB="27432">
                    <a:solidFill>
                      <a:srgbClr val="FFFFFF"/>
                    </a:solidFill>
                  </a:tcPr>
                </a:tc>
                <a:tc>
                  <a:txBody>
                    <a:bodyPr/>
                    <a:lstStyle/>
                    <a:p>
                      <a:pPr algn="l"/>
                      <a:r>
                        <a:rPr sz="950" b="0">
                          <a:solidFill>
                            <a:srgbClr val="253042"/>
                          </a:solidFill>
                          <a:latin typeface="Aptos"/>
                        </a:rPr>
                        <a:t>Trial balance, consolidation, exceptions</a:t>
                      </a:r>
                    </a:p>
                  </a:txBody>
                  <a:tcPr marL="73152" marR="54864" marB="27432">
                    <a:solidFill>
                      <a:srgbClr val="FFFFFF"/>
                    </a:solidFill>
                  </a:tcPr>
                </a:tc>
                <a:tc>
                  <a:txBody>
                    <a:bodyPr/>
                    <a:lstStyle/>
                    <a:p>
                      <a:pPr algn="l"/>
                      <a:r>
                        <a:rPr sz="950" b="0">
                          <a:solidFill>
                            <a:srgbClr val="253042"/>
                          </a:solidFill>
                          <a:latin typeface="Aptos"/>
                        </a:rPr>
                        <a:t>Minutes to hourly; final must reconcile</a:t>
                      </a:r>
                    </a:p>
                  </a:txBody>
                  <a:tcPr marL="73152" marR="54864" marB="27432">
                    <a:solidFill>
                      <a:srgbClr val="FFFFFF"/>
                    </a:solidFill>
                  </a:tcPr>
                </a:tc>
                <a:tc>
                  <a:txBody>
                    <a:bodyPr/>
                    <a:lstStyle/>
                    <a:p>
                      <a:pPr algn="l"/>
                      <a:r>
                        <a:rPr sz="950" b="0">
                          <a:solidFill>
                            <a:srgbClr val="253042"/>
                          </a:solidFill>
                          <a:latin typeface="Aptos"/>
                        </a:rPr>
                        <a:t>Correctness, restatement, audit trail</a:t>
                      </a:r>
                    </a:p>
                  </a:txBody>
                  <a:tcPr marL="73152" marR="54864" marB="27432">
                    <a:solidFill>
                      <a:srgbClr val="FFFFFF"/>
                    </a:solidFill>
                  </a:tcPr>
                </a:tc>
                <a:extLst>
                  <a:ext uri="{0D108BD9-81ED-4DB2-BD59-A6C34878D82A}">
                    <a16:rowId xmlns:a16="http://schemas.microsoft.com/office/drawing/2014/main" val="10001"/>
                  </a:ext>
                </a:extLst>
              </a:tr>
              <a:tr h="708660">
                <a:tc>
                  <a:txBody>
                    <a:bodyPr/>
                    <a:lstStyle/>
                    <a:p>
                      <a:pPr algn="l"/>
                      <a:r>
                        <a:rPr sz="950" b="0">
                          <a:solidFill>
                            <a:srgbClr val="253042"/>
                          </a:solidFill>
                          <a:latin typeface="Aptos"/>
                        </a:rPr>
                        <a:t>Operations</a:t>
                      </a:r>
                    </a:p>
                  </a:txBody>
                  <a:tcPr marL="73152" marR="54864" marB="27432">
                    <a:solidFill>
                      <a:srgbClr val="F7F9FC"/>
                    </a:solidFill>
                  </a:tcPr>
                </a:tc>
                <a:tc>
                  <a:txBody>
                    <a:bodyPr/>
                    <a:lstStyle/>
                    <a:p>
                      <a:pPr algn="l"/>
                      <a:r>
                        <a:rPr sz="950" b="0">
                          <a:solidFill>
                            <a:srgbClr val="253042"/>
                          </a:solidFill>
                          <a:latin typeface="Aptos"/>
                        </a:rPr>
                        <a:t>Inventory, order, fulfillment dashboards</a:t>
                      </a:r>
                    </a:p>
                  </a:txBody>
                  <a:tcPr marL="73152" marR="54864" marB="27432">
                    <a:solidFill>
                      <a:srgbClr val="F7F9FC"/>
                    </a:solidFill>
                  </a:tcPr>
                </a:tc>
                <a:tc>
                  <a:txBody>
                    <a:bodyPr/>
                    <a:lstStyle/>
                    <a:p>
                      <a:pPr algn="l"/>
                      <a:r>
                        <a:rPr sz="950" b="0">
                          <a:solidFill>
                            <a:srgbClr val="253042"/>
                          </a:solidFill>
                          <a:latin typeface="Aptos"/>
                        </a:rPr>
                        <a:t>Seconds to &lt;5 minutes</a:t>
                      </a:r>
                    </a:p>
                  </a:txBody>
                  <a:tcPr marL="73152" marR="54864" marB="27432">
                    <a:solidFill>
                      <a:srgbClr val="F7F9FC"/>
                    </a:solidFill>
                  </a:tcPr>
                </a:tc>
                <a:tc>
                  <a:txBody>
                    <a:bodyPr/>
                    <a:lstStyle/>
                    <a:p>
                      <a:pPr algn="l"/>
                      <a:r>
                        <a:rPr sz="950" b="0">
                          <a:solidFill>
                            <a:srgbClr val="253042"/>
                          </a:solidFill>
                          <a:latin typeface="Aptos"/>
                        </a:rPr>
                        <a:t>CDC lag, hot keys, serving latency</a:t>
                      </a:r>
                    </a:p>
                  </a:txBody>
                  <a:tcPr marL="73152" marR="54864" marB="27432">
                    <a:solidFill>
                      <a:srgbClr val="F7F9FC"/>
                    </a:solidFill>
                  </a:tcPr>
                </a:tc>
                <a:extLst>
                  <a:ext uri="{0D108BD9-81ED-4DB2-BD59-A6C34878D82A}">
                    <a16:rowId xmlns:a16="http://schemas.microsoft.com/office/drawing/2014/main" val="10002"/>
                  </a:ext>
                </a:extLst>
              </a:tr>
              <a:tr h="708660">
                <a:tc>
                  <a:txBody>
                    <a:bodyPr/>
                    <a:lstStyle/>
                    <a:p>
                      <a:pPr algn="l"/>
                      <a:r>
                        <a:rPr sz="950" b="0">
                          <a:solidFill>
                            <a:srgbClr val="253042"/>
                          </a:solidFill>
                          <a:latin typeface="Aptos"/>
                        </a:rPr>
                        <a:t>Planning / forecasting</a:t>
                      </a:r>
                    </a:p>
                  </a:txBody>
                  <a:tcPr marL="73152" marR="54864" marB="27432">
                    <a:solidFill>
                      <a:srgbClr val="FFFFFF"/>
                    </a:solidFill>
                  </a:tcPr>
                </a:tc>
                <a:tc>
                  <a:txBody>
                    <a:bodyPr/>
                    <a:lstStyle/>
                    <a:p>
                      <a:pPr algn="l"/>
                      <a:r>
                        <a:rPr sz="950" b="0">
                          <a:solidFill>
                            <a:srgbClr val="253042"/>
                          </a:solidFill>
                          <a:latin typeface="Aptos"/>
                        </a:rPr>
                        <a:t>Demand, cash, workforce forecasts</a:t>
                      </a:r>
                    </a:p>
                  </a:txBody>
                  <a:tcPr marL="73152" marR="54864" marB="27432">
                    <a:solidFill>
                      <a:srgbClr val="FFFFFF"/>
                    </a:solidFill>
                  </a:tcPr>
                </a:tc>
                <a:tc>
                  <a:txBody>
                    <a:bodyPr/>
                    <a:lstStyle/>
                    <a:p>
                      <a:pPr algn="l"/>
                      <a:r>
                        <a:rPr sz="950" b="0">
                          <a:solidFill>
                            <a:srgbClr val="253042"/>
                          </a:solidFill>
                          <a:latin typeface="Aptos"/>
                        </a:rPr>
                        <a:t>Daily/weekly plus scenario runs</a:t>
                      </a:r>
                    </a:p>
                  </a:txBody>
                  <a:tcPr marL="73152" marR="54864" marB="27432">
                    <a:solidFill>
                      <a:srgbClr val="FFFFFF"/>
                    </a:solidFill>
                  </a:tcPr>
                </a:tc>
                <a:tc>
                  <a:txBody>
                    <a:bodyPr/>
                    <a:lstStyle/>
                    <a:p>
                      <a:pPr algn="l"/>
                      <a:r>
                        <a:rPr sz="950" b="0">
                          <a:solidFill>
                            <a:srgbClr val="253042"/>
                          </a:solidFill>
                          <a:latin typeface="Aptos"/>
                        </a:rPr>
                        <a:t>Point-in-time features, reproducibility</a:t>
                      </a:r>
                    </a:p>
                  </a:txBody>
                  <a:tcPr marL="73152" marR="54864" marB="27432">
                    <a:solidFill>
                      <a:srgbClr val="FFFFFF"/>
                    </a:solidFill>
                  </a:tcPr>
                </a:tc>
                <a:extLst>
                  <a:ext uri="{0D108BD9-81ED-4DB2-BD59-A6C34878D82A}">
                    <a16:rowId xmlns:a16="http://schemas.microsoft.com/office/drawing/2014/main" val="10003"/>
                  </a:ext>
                </a:extLst>
              </a:tr>
              <a:tr h="708660">
                <a:tc>
                  <a:txBody>
                    <a:bodyPr/>
                    <a:lstStyle/>
                    <a:p>
                      <a:pPr algn="l"/>
                      <a:r>
                        <a:rPr sz="950" b="0">
                          <a:solidFill>
                            <a:srgbClr val="253042"/>
                          </a:solidFill>
                          <a:latin typeface="Aptos"/>
                        </a:rPr>
                        <a:t>ERP copilot / RAG</a:t>
                      </a:r>
                    </a:p>
                  </a:txBody>
                  <a:tcPr marL="73152" marR="54864" marB="27432">
                    <a:solidFill>
                      <a:srgbClr val="F7F9FC"/>
                    </a:solidFill>
                  </a:tcPr>
                </a:tc>
                <a:tc>
                  <a:txBody>
                    <a:bodyPr/>
                    <a:lstStyle/>
                    <a:p>
                      <a:pPr algn="l"/>
                      <a:r>
                        <a:rPr sz="950" b="0">
                          <a:solidFill>
                            <a:srgbClr val="253042"/>
                          </a:solidFill>
                          <a:latin typeface="Aptos"/>
                        </a:rPr>
                        <a:t>Answers with citations and actions</a:t>
                      </a:r>
                    </a:p>
                  </a:txBody>
                  <a:tcPr marL="73152" marR="54864" marB="27432">
                    <a:solidFill>
                      <a:srgbClr val="F7F9FC"/>
                    </a:solidFill>
                  </a:tcPr>
                </a:tc>
                <a:tc>
                  <a:txBody>
                    <a:bodyPr/>
                    <a:lstStyle/>
                    <a:p>
                      <a:pPr algn="l"/>
                      <a:r>
                        <a:rPr sz="950" b="0">
                          <a:solidFill>
                            <a:srgbClr val="253042"/>
                          </a:solidFill>
                          <a:latin typeface="Aptos"/>
                        </a:rPr>
                        <a:t>Interactive, often &lt;5 seconds</a:t>
                      </a:r>
                    </a:p>
                  </a:txBody>
                  <a:tcPr marL="73152" marR="54864" marB="27432">
                    <a:solidFill>
                      <a:srgbClr val="F7F9FC"/>
                    </a:solidFill>
                  </a:tcPr>
                </a:tc>
                <a:tc>
                  <a:txBody>
                    <a:bodyPr/>
                    <a:lstStyle/>
                    <a:p>
                      <a:pPr algn="l"/>
                      <a:r>
                        <a:rPr sz="950" b="0">
                          <a:solidFill>
                            <a:srgbClr val="253042"/>
                          </a:solidFill>
                          <a:latin typeface="Aptos"/>
                        </a:rPr>
                        <a:t>Authorization, grounding, freshness</a:t>
                      </a:r>
                    </a:p>
                  </a:txBody>
                  <a:tcPr marL="73152" marR="54864" marB="27432">
                    <a:solidFill>
                      <a:srgbClr val="F7F9FC"/>
                    </a:solidFill>
                  </a:tcPr>
                </a:tc>
                <a:extLst>
                  <a:ext uri="{0D108BD9-81ED-4DB2-BD59-A6C34878D82A}">
                    <a16:rowId xmlns:a16="http://schemas.microsoft.com/office/drawing/2014/main" val="10004"/>
                  </a:ext>
                </a:extLst>
              </a:tr>
              <a:tr h="708660">
                <a:tc>
                  <a:txBody>
                    <a:bodyPr/>
                    <a:lstStyle/>
                    <a:p>
                      <a:pPr algn="l"/>
                      <a:r>
                        <a:rPr sz="950" b="0">
                          <a:solidFill>
                            <a:srgbClr val="253042"/>
                          </a:solidFill>
                          <a:latin typeface="Aptos"/>
                        </a:rPr>
                        <a:t>Regulatory / audit</a:t>
                      </a:r>
                    </a:p>
                  </a:txBody>
                  <a:tcPr marL="73152" marR="54864" marB="27432">
                    <a:solidFill>
                      <a:srgbClr val="FFFFFF"/>
                    </a:solidFill>
                  </a:tcPr>
                </a:tc>
                <a:tc>
                  <a:txBody>
                    <a:bodyPr/>
                    <a:lstStyle/>
                    <a:p>
                      <a:pPr algn="l"/>
                      <a:r>
                        <a:rPr sz="950" b="0">
                          <a:solidFill>
                            <a:srgbClr val="253042"/>
                          </a:solidFill>
                          <a:latin typeface="Aptos"/>
                        </a:rPr>
                        <a:t>Evidence, lineage, access history</a:t>
                      </a:r>
                    </a:p>
                  </a:txBody>
                  <a:tcPr marL="73152" marR="54864" marB="27432">
                    <a:solidFill>
                      <a:srgbClr val="FFFFFF"/>
                    </a:solidFill>
                  </a:tcPr>
                </a:tc>
                <a:tc>
                  <a:txBody>
                    <a:bodyPr/>
                    <a:lstStyle/>
                    <a:p>
                      <a:pPr algn="l"/>
                      <a:r>
                        <a:rPr sz="950" b="0">
                          <a:solidFill>
                            <a:srgbClr val="253042"/>
                          </a:solidFill>
                          <a:latin typeface="Aptos"/>
                        </a:rPr>
                        <a:t>On demand; immutable retention</a:t>
                      </a:r>
                    </a:p>
                  </a:txBody>
                  <a:tcPr marL="73152" marR="54864" marB="27432">
                    <a:solidFill>
                      <a:srgbClr val="FFFFFF"/>
                    </a:solidFill>
                  </a:tcPr>
                </a:tc>
                <a:tc>
                  <a:txBody>
                    <a:bodyPr/>
                    <a:lstStyle/>
                    <a:p>
                      <a:pPr algn="l"/>
                      <a:r>
                        <a:rPr sz="950" b="0">
                          <a:solidFill>
                            <a:srgbClr val="253042"/>
                          </a:solidFill>
                          <a:latin typeface="Aptos"/>
                        </a:rPr>
                        <a:t>Completeness, legal holds, residency</a:t>
                      </a:r>
                    </a:p>
                  </a:txBody>
                  <a:tcPr marL="73152" marR="54864" marB="27432">
                    <a:solidFill>
                      <a:srgbClr val="FFFFFF"/>
                    </a:solidFill>
                  </a:tcPr>
                </a:tc>
                <a:extLst>
                  <a:ext uri="{0D108BD9-81ED-4DB2-BD59-A6C34878D82A}">
                    <a16:rowId xmlns:a16="http://schemas.microsoft.com/office/drawing/2014/main" val="10005"/>
                  </a:ext>
                </a:extLst>
              </a:tr>
            </a:tbl>
          </a:graphicData>
        </a:graphic>
      </p:graphicFrame>
      <p:sp>
        <p:nvSpPr>
          <p:cNvPr id="9" name="Rounded Rectangle 8"/>
          <p:cNvSpPr/>
          <p:nvPr/>
        </p:nvSpPr>
        <p:spPr>
          <a:xfrm>
            <a:off x="914400" y="5870448"/>
            <a:ext cx="10332720" cy="56692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0704" y="5989320"/>
            <a:ext cx="10058400" cy="384048"/>
          </a:xfrm>
          <a:prstGeom prst="rect">
            <a:avLst/>
          </a:prstGeom>
          <a:noFill/>
        </p:spPr>
        <p:txBody>
          <a:bodyPr wrap="none" lIns="45720" rIns="45720" anchor="t">
            <a:spAutoFit/>
          </a:bodyPr>
          <a:lstStyle/>
          <a:p>
            <a:pPr algn="l">
              <a:spcAft>
                <a:spcPts val="0"/>
              </a:spcAft>
            </a:pPr>
            <a:r>
              <a:rPr sz="1100" b="1" i="0">
                <a:solidFill>
                  <a:srgbClr val="0C1930"/>
                </a:solidFill>
                <a:latin typeface="Aptos"/>
              </a:rPr>
              <a:t>Do not force every workload into one store. Share governed data and semantics, then use serving systems suited to each access pattern.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Reference architecture for an AI ERP platform</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Separate transactional authority, analytical truth, and AI serving while preserving lineage.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39</a:t>
            </a:r>
          </a:p>
        </p:txBody>
      </p:sp>
      <p:sp>
        <p:nvSpPr>
          <p:cNvPr id="8" name="Rounded Rectangle 7"/>
          <p:cNvSpPr/>
          <p:nvPr/>
        </p:nvSpPr>
        <p:spPr>
          <a:xfrm>
            <a:off x="365760" y="1965960"/>
            <a:ext cx="1371600" cy="91440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488" y="2075688"/>
            <a:ext cx="115214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ERP modules</a:t>
            </a:r>
          </a:p>
        </p:txBody>
      </p:sp>
      <p:sp>
        <p:nvSpPr>
          <p:cNvPr id="10" name="TextBox 9"/>
          <p:cNvSpPr txBox="1"/>
          <p:nvPr/>
        </p:nvSpPr>
        <p:spPr>
          <a:xfrm>
            <a:off x="475488" y="2395728"/>
            <a:ext cx="115214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finance • HR • SCM</a:t>
            </a:r>
          </a:p>
        </p:txBody>
      </p:sp>
      <p:sp>
        <p:nvSpPr>
          <p:cNvPr id="11" name="Rounded Rectangle 10"/>
          <p:cNvSpPr/>
          <p:nvPr/>
        </p:nvSpPr>
        <p:spPr>
          <a:xfrm>
            <a:off x="365760" y="3657600"/>
            <a:ext cx="1371600" cy="777240"/>
          </a:xfrm>
          <a:prstGeom prst="roundRect">
            <a:avLst/>
          </a:prstGeom>
          <a:solidFill>
            <a:srgbClr val="FFFFFF"/>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5488" y="3767328"/>
            <a:ext cx="115214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Documents</a:t>
            </a:r>
          </a:p>
        </p:txBody>
      </p:sp>
      <p:sp>
        <p:nvSpPr>
          <p:cNvPr id="13" name="TextBox 12"/>
          <p:cNvSpPr txBox="1"/>
          <p:nvPr/>
        </p:nvSpPr>
        <p:spPr>
          <a:xfrm>
            <a:off x="475488" y="4087368"/>
            <a:ext cx="115214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contracts • invoices</a:t>
            </a:r>
          </a:p>
        </p:txBody>
      </p:sp>
      <p:sp>
        <p:nvSpPr>
          <p:cNvPr id="14" name="Rounded Rectangle 13"/>
          <p:cNvSpPr/>
          <p:nvPr/>
        </p:nvSpPr>
        <p:spPr>
          <a:xfrm>
            <a:off x="2103120" y="1965960"/>
            <a:ext cx="1371600" cy="91440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12848" y="2075688"/>
            <a:ext cx="115214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CDC + events</a:t>
            </a:r>
          </a:p>
        </p:txBody>
      </p:sp>
      <p:sp>
        <p:nvSpPr>
          <p:cNvPr id="16" name="TextBox 15"/>
          <p:cNvSpPr txBox="1"/>
          <p:nvPr/>
        </p:nvSpPr>
        <p:spPr>
          <a:xfrm>
            <a:off x="2212848" y="2395728"/>
            <a:ext cx="115214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LSN/offset + schema</a:t>
            </a:r>
          </a:p>
        </p:txBody>
      </p:sp>
      <p:sp>
        <p:nvSpPr>
          <p:cNvPr id="17" name="Rounded Rectangle 16"/>
          <p:cNvSpPr/>
          <p:nvPr/>
        </p:nvSpPr>
        <p:spPr>
          <a:xfrm>
            <a:off x="2103120" y="3657600"/>
            <a:ext cx="1371600" cy="77724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12848" y="3767328"/>
            <a:ext cx="115214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Document ingest</a:t>
            </a:r>
          </a:p>
        </p:txBody>
      </p:sp>
      <p:sp>
        <p:nvSpPr>
          <p:cNvPr id="19" name="TextBox 18"/>
          <p:cNvSpPr txBox="1"/>
          <p:nvPr/>
        </p:nvSpPr>
        <p:spPr>
          <a:xfrm>
            <a:off x="2212848" y="4087368"/>
            <a:ext cx="115214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OCR • parse • classify</a:t>
            </a:r>
          </a:p>
        </p:txBody>
      </p:sp>
      <p:cxnSp>
        <p:nvCxnSpPr>
          <p:cNvPr id="20" name="Connector 19"/>
          <p:cNvCxnSpPr/>
          <p:nvPr/>
        </p:nvCxnSpPr>
        <p:spPr>
          <a:xfrm>
            <a:off x="1755648" y="2423160"/>
            <a:ext cx="301752" cy="0"/>
          </a:xfrm>
          <a:prstGeom prst="line">
            <a:avLst/>
          </a:prstGeom>
          <a:ln w="2032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55648" y="4041648"/>
            <a:ext cx="301752" cy="0"/>
          </a:xfrm>
          <a:prstGeom prst="line">
            <a:avLst/>
          </a:prstGeom>
          <a:ln w="20320">
            <a:solidFill>
              <a:srgbClr val="FF9F43"/>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886200" y="1481328"/>
            <a:ext cx="1508760" cy="777240"/>
          </a:xfrm>
          <a:prstGeom prst="roundRect">
            <a:avLst/>
          </a:prstGeom>
          <a:solidFill>
            <a:srgbClr val="FFFFFF"/>
          </a:solidFill>
          <a:ln w="1524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995928" y="1591056"/>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Bronze</a:t>
            </a:r>
          </a:p>
        </p:txBody>
      </p:sp>
      <p:sp>
        <p:nvSpPr>
          <p:cNvPr id="24" name="TextBox 23"/>
          <p:cNvSpPr txBox="1"/>
          <p:nvPr/>
        </p:nvSpPr>
        <p:spPr>
          <a:xfrm>
            <a:off x="3995928" y="1911095"/>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immutable tenant data</a:t>
            </a:r>
          </a:p>
        </p:txBody>
      </p:sp>
      <p:sp>
        <p:nvSpPr>
          <p:cNvPr id="25" name="Rounded Rectangle 24"/>
          <p:cNvSpPr/>
          <p:nvPr/>
        </p:nvSpPr>
        <p:spPr>
          <a:xfrm>
            <a:off x="3886200" y="2606040"/>
            <a:ext cx="1508760" cy="777240"/>
          </a:xfrm>
          <a:prstGeom prst="roundRect">
            <a:avLst/>
          </a:prstGeom>
          <a:solidFill>
            <a:srgbClr val="FFFFFF"/>
          </a:solidFill>
          <a:ln w="1524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995928" y="2715768"/>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Silver</a:t>
            </a:r>
          </a:p>
        </p:txBody>
      </p:sp>
      <p:sp>
        <p:nvSpPr>
          <p:cNvPr id="27" name="TextBox 26"/>
          <p:cNvSpPr txBox="1"/>
          <p:nvPr/>
        </p:nvSpPr>
        <p:spPr>
          <a:xfrm>
            <a:off x="3995928" y="3035808"/>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canonical ERP entities</a:t>
            </a:r>
          </a:p>
        </p:txBody>
      </p:sp>
      <p:sp>
        <p:nvSpPr>
          <p:cNvPr id="28" name="Rounded Rectangle 27"/>
          <p:cNvSpPr/>
          <p:nvPr/>
        </p:nvSpPr>
        <p:spPr>
          <a:xfrm>
            <a:off x="3886200" y="3730752"/>
            <a:ext cx="1508760" cy="777240"/>
          </a:xfrm>
          <a:prstGeom prst="roundRect">
            <a:avLst/>
          </a:prstGeom>
          <a:solidFill>
            <a:srgbClr val="FFFFFF"/>
          </a:solidFill>
          <a:ln w="1524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95928" y="3840480"/>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Gold</a:t>
            </a:r>
          </a:p>
        </p:txBody>
      </p:sp>
      <p:sp>
        <p:nvSpPr>
          <p:cNvPr id="30" name="TextBox 29"/>
          <p:cNvSpPr txBox="1"/>
          <p:nvPr/>
        </p:nvSpPr>
        <p:spPr>
          <a:xfrm>
            <a:off x="3995928" y="4160520"/>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metrics + features</a:t>
            </a:r>
          </a:p>
        </p:txBody>
      </p:sp>
      <p:cxnSp>
        <p:nvCxnSpPr>
          <p:cNvPr id="31" name="Connector 30"/>
          <p:cNvCxnSpPr/>
          <p:nvPr/>
        </p:nvCxnSpPr>
        <p:spPr>
          <a:xfrm flipV="1">
            <a:off x="3493008" y="1874519"/>
            <a:ext cx="347472" cy="548641"/>
          </a:xfrm>
          <a:prstGeom prst="line">
            <a:avLst/>
          </a:prstGeom>
          <a:ln w="1905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493008" y="4041648"/>
            <a:ext cx="347472" cy="73152"/>
          </a:xfrm>
          <a:prstGeom prst="line">
            <a:avLst/>
          </a:prstGeom>
          <a:ln w="1905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645152" y="2286000"/>
            <a:ext cx="0" cy="274320"/>
          </a:xfrm>
          <a:prstGeom prst="line">
            <a:avLst/>
          </a:prstGeom>
          <a:ln w="16510">
            <a:solidFill>
              <a:srgbClr val="74849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645152" y="3410712"/>
            <a:ext cx="0" cy="274320"/>
          </a:xfrm>
          <a:prstGeom prst="line">
            <a:avLst/>
          </a:prstGeom>
          <a:ln w="16510">
            <a:solidFill>
              <a:srgbClr val="74849A"/>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5897880" y="1417320"/>
            <a:ext cx="150876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007608" y="1527048"/>
            <a:ext cx="12893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Semantic layer</a:t>
            </a:r>
          </a:p>
        </p:txBody>
      </p:sp>
      <p:sp>
        <p:nvSpPr>
          <p:cNvPr id="37" name="TextBox 36"/>
          <p:cNvSpPr txBox="1"/>
          <p:nvPr/>
        </p:nvSpPr>
        <p:spPr>
          <a:xfrm>
            <a:off x="6007608" y="1847088"/>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governed measures</a:t>
            </a:r>
          </a:p>
        </p:txBody>
      </p:sp>
      <p:sp>
        <p:nvSpPr>
          <p:cNvPr id="38" name="Rounded Rectangle 37"/>
          <p:cNvSpPr/>
          <p:nvPr/>
        </p:nvSpPr>
        <p:spPr>
          <a:xfrm>
            <a:off x="5897880" y="2542032"/>
            <a:ext cx="150876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007608" y="2651760"/>
            <a:ext cx="12893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Feature store</a:t>
            </a:r>
          </a:p>
        </p:txBody>
      </p:sp>
      <p:sp>
        <p:nvSpPr>
          <p:cNvPr id="40" name="TextBox 39"/>
          <p:cNvSpPr txBox="1"/>
          <p:nvPr/>
        </p:nvSpPr>
        <p:spPr>
          <a:xfrm>
            <a:off x="6007608" y="2971800"/>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point-in-time</a:t>
            </a:r>
          </a:p>
        </p:txBody>
      </p:sp>
      <p:sp>
        <p:nvSpPr>
          <p:cNvPr id="41" name="Rounded Rectangle 40"/>
          <p:cNvSpPr/>
          <p:nvPr/>
        </p:nvSpPr>
        <p:spPr>
          <a:xfrm>
            <a:off x="5897880" y="3666744"/>
            <a:ext cx="150876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007608" y="3776472"/>
            <a:ext cx="12893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Vector index</a:t>
            </a:r>
          </a:p>
        </p:txBody>
      </p:sp>
      <p:sp>
        <p:nvSpPr>
          <p:cNvPr id="43" name="TextBox 42"/>
          <p:cNvSpPr txBox="1"/>
          <p:nvPr/>
        </p:nvSpPr>
        <p:spPr>
          <a:xfrm>
            <a:off x="6007608" y="4096511"/>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tenant + ACL filters</a:t>
            </a:r>
          </a:p>
        </p:txBody>
      </p:sp>
      <p:cxnSp>
        <p:nvCxnSpPr>
          <p:cNvPr id="44" name="Connector 43"/>
          <p:cNvCxnSpPr/>
          <p:nvPr/>
        </p:nvCxnSpPr>
        <p:spPr>
          <a:xfrm flipV="1">
            <a:off x="5413248" y="1801368"/>
            <a:ext cx="438912" cy="73151"/>
          </a:xfrm>
          <a:prstGeom prst="line">
            <a:avLst/>
          </a:prstGeom>
          <a:ln w="17780">
            <a:solidFill>
              <a:srgbClr val="D6A22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5413248" y="2926080"/>
            <a:ext cx="438912" cy="73152"/>
          </a:xfrm>
          <a:prstGeom prst="line">
            <a:avLst/>
          </a:prstGeom>
          <a:ln w="17780">
            <a:solidFill>
              <a:srgbClr val="9AA4B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5413248" y="4050791"/>
            <a:ext cx="438912" cy="64009"/>
          </a:xfrm>
          <a:prstGeom prst="line">
            <a:avLst/>
          </a:prstGeom>
          <a:ln w="17780">
            <a:solidFill>
              <a:srgbClr val="FF9F43"/>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7909560" y="1417320"/>
            <a:ext cx="1554480" cy="777240"/>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019288" y="1527048"/>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Warehouse / BI</a:t>
            </a:r>
          </a:p>
        </p:txBody>
      </p:sp>
      <p:sp>
        <p:nvSpPr>
          <p:cNvPr id="49" name="TextBox 48"/>
          <p:cNvSpPr txBox="1"/>
          <p:nvPr/>
        </p:nvSpPr>
        <p:spPr>
          <a:xfrm>
            <a:off x="8019288" y="1847088"/>
            <a:ext cx="13350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finance + operations</a:t>
            </a:r>
          </a:p>
        </p:txBody>
      </p:sp>
      <p:sp>
        <p:nvSpPr>
          <p:cNvPr id="50" name="Rounded Rectangle 49"/>
          <p:cNvSpPr/>
          <p:nvPr/>
        </p:nvSpPr>
        <p:spPr>
          <a:xfrm>
            <a:off x="7909560" y="2542032"/>
            <a:ext cx="1554480" cy="777240"/>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019288" y="2651760"/>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ML platform</a:t>
            </a:r>
          </a:p>
        </p:txBody>
      </p:sp>
      <p:sp>
        <p:nvSpPr>
          <p:cNvPr id="52" name="TextBox 51"/>
          <p:cNvSpPr txBox="1"/>
          <p:nvPr/>
        </p:nvSpPr>
        <p:spPr>
          <a:xfrm>
            <a:off x="8019288" y="2971800"/>
            <a:ext cx="13350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train • registry • score</a:t>
            </a:r>
          </a:p>
        </p:txBody>
      </p:sp>
      <p:sp>
        <p:nvSpPr>
          <p:cNvPr id="53" name="Rounded Rectangle 52"/>
          <p:cNvSpPr/>
          <p:nvPr/>
        </p:nvSpPr>
        <p:spPr>
          <a:xfrm>
            <a:off x="7909560" y="3666744"/>
            <a:ext cx="1554480" cy="777240"/>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019288" y="3776472"/>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AI gateway</a:t>
            </a:r>
          </a:p>
        </p:txBody>
      </p:sp>
      <p:sp>
        <p:nvSpPr>
          <p:cNvPr id="55" name="TextBox 54"/>
          <p:cNvSpPr txBox="1"/>
          <p:nvPr/>
        </p:nvSpPr>
        <p:spPr>
          <a:xfrm>
            <a:off x="8019288" y="4096511"/>
            <a:ext cx="13350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retrieve • policy • cite</a:t>
            </a:r>
          </a:p>
        </p:txBody>
      </p:sp>
      <p:cxnSp>
        <p:nvCxnSpPr>
          <p:cNvPr id="56" name="Connector 55"/>
          <p:cNvCxnSpPr/>
          <p:nvPr/>
        </p:nvCxnSpPr>
        <p:spPr>
          <a:xfrm>
            <a:off x="7424927" y="1801368"/>
            <a:ext cx="438913" cy="0"/>
          </a:xfrm>
          <a:prstGeom prst="line">
            <a:avLst/>
          </a:prstGeom>
          <a:ln w="1778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424927" y="2926080"/>
            <a:ext cx="438913" cy="0"/>
          </a:xfrm>
          <a:prstGeom prst="line">
            <a:avLst/>
          </a:prstGeom>
          <a:ln w="1778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424927" y="4050791"/>
            <a:ext cx="438913" cy="0"/>
          </a:xfrm>
          <a:prstGeom prst="line">
            <a:avLst/>
          </a:prstGeom>
          <a:ln w="17780">
            <a:solidFill>
              <a:srgbClr val="855CF8"/>
            </a:solidFill>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9966960" y="1417320"/>
            <a:ext cx="1783080" cy="7772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0076688" y="1527048"/>
            <a:ext cx="15636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Dashboards</a:t>
            </a:r>
          </a:p>
        </p:txBody>
      </p:sp>
      <p:sp>
        <p:nvSpPr>
          <p:cNvPr id="61" name="TextBox 60"/>
          <p:cNvSpPr txBox="1"/>
          <p:nvPr/>
        </p:nvSpPr>
        <p:spPr>
          <a:xfrm>
            <a:off x="10076688" y="1847088"/>
            <a:ext cx="15636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tenant analytics</a:t>
            </a:r>
          </a:p>
        </p:txBody>
      </p:sp>
      <p:sp>
        <p:nvSpPr>
          <p:cNvPr id="62" name="Rounded Rectangle 61"/>
          <p:cNvSpPr/>
          <p:nvPr/>
        </p:nvSpPr>
        <p:spPr>
          <a:xfrm>
            <a:off x="9966960" y="2542032"/>
            <a:ext cx="1783080" cy="7772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076688" y="2651760"/>
            <a:ext cx="15636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Predictions</a:t>
            </a:r>
          </a:p>
        </p:txBody>
      </p:sp>
      <p:sp>
        <p:nvSpPr>
          <p:cNvPr id="64" name="TextBox 63"/>
          <p:cNvSpPr txBox="1"/>
          <p:nvPr/>
        </p:nvSpPr>
        <p:spPr>
          <a:xfrm>
            <a:off x="10076688" y="2971800"/>
            <a:ext cx="15636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forecast • anomaly</a:t>
            </a:r>
          </a:p>
        </p:txBody>
      </p:sp>
      <p:sp>
        <p:nvSpPr>
          <p:cNvPr id="65" name="Rounded Rectangle 64"/>
          <p:cNvSpPr/>
          <p:nvPr/>
        </p:nvSpPr>
        <p:spPr>
          <a:xfrm>
            <a:off x="9966960" y="3666744"/>
            <a:ext cx="1783080" cy="7772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0076688" y="3776472"/>
            <a:ext cx="15636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Copilot / actions</a:t>
            </a:r>
          </a:p>
        </p:txBody>
      </p:sp>
      <p:sp>
        <p:nvSpPr>
          <p:cNvPr id="67" name="TextBox 66"/>
          <p:cNvSpPr txBox="1"/>
          <p:nvPr/>
        </p:nvSpPr>
        <p:spPr>
          <a:xfrm>
            <a:off x="10076688" y="4096511"/>
            <a:ext cx="15636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answer • propose • approve</a:t>
            </a:r>
          </a:p>
        </p:txBody>
      </p:sp>
      <p:cxnSp>
        <p:nvCxnSpPr>
          <p:cNvPr id="68" name="Connector 67"/>
          <p:cNvCxnSpPr/>
          <p:nvPr/>
        </p:nvCxnSpPr>
        <p:spPr>
          <a:xfrm>
            <a:off x="9482328" y="1801368"/>
            <a:ext cx="438912" cy="0"/>
          </a:xfrm>
          <a:prstGeom prst="line">
            <a:avLst/>
          </a:prstGeom>
          <a:ln w="17780">
            <a:solidFill>
              <a:srgbClr val="39B54A"/>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482328" y="2926080"/>
            <a:ext cx="438912" cy="0"/>
          </a:xfrm>
          <a:prstGeom prst="line">
            <a:avLst/>
          </a:prstGeom>
          <a:ln w="17780">
            <a:solidFill>
              <a:srgbClr val="39B54A"/>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482328" y="4050791"/>
            <a:ext cx="438912" cy="0"/>
          </a:xfrm>
          <a:prstGeom prst="line">
            <a:avLst/>
          </a:prstGeom>
          <a:ln w="17780">
            <a:solidFill>
              <a:srgbClr val="39B54A"/>
            </a:solidFill>
          </a:ln>
        </p:spPr>
        <p:style>
          <a:lnRef idx="2">
            <a:schemeClr val="accent1"/>
          </a:lnRef>
          <a:fillRef idx="0">
            <a:schemeClr val="accent1"/>
          </a:fillRef>
          <a:effectRef idx="1">
            <a:schemeClr val="accent1"/>
          </a:effectRef>
          <a:fontRef idx="minor">
            <a:schemeClr val="tx1"/>
          </a:fontRef>
        </p:style>
      </p:cxnSp>
      <p:sp>
        <p:nvSpPr>
          <p:cNvPr id="71" name="Rounded Rectangle 70"/>
          <p:cNvSpPr/>
          <p:nvPr/>
        </p:nvSpPr>
        <p:spPr>
          <a:xfrm>
            <a:off x="914400" y="5166360"/>
            <a:ext cx="10332720" cy="566928"/>
          </a:xfrm>
          <a:prstGeom prst="roundRect">
            <a:avLst/>
          </a:prstGeom>
          <a:solidFill>
            <a:srgbClr val="0C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14400" y="5358384"/>
            <a:ext cx="10332720" cy="182880"/>
          </a:xfrm>
          <a:prstGeom prst="rect">
            <a:avLst/>
          </a:prstGeom>
          <a:noFill/>
        </p:spPr>
        <p:txBody>
          <a:bodyPr wrap="none" lIns="45720" rIns="45720" anchor="t">
            <a:spAutoFit/>
          </a:bodyPr>
          <a:lstStyle/>
          <a:p>
            <a:pPr algn="ctr">
              <a:spcAft>
                <a:spcPts val="0"/>
              </a:spcAft>
            </a:pPr>
            <a:r>
              <a:rPr sz="950" b="1" i="0">
                <a:solidFill>
                  <a:srgbClr val="FFFFFF"/>
                </a:solidFill>
                <a:latin typeface="Aptos"/>
              </a:rPr>
              <a:t>Tenant identity • RBAC/ABAC • catalog/lineage • contracts • quality • observability • audit • cost attribution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Multi-tenant isolation is a data-plane decision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Carry tenant identity through every key, partition, policy, cache, vector lookup, and audit event.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40</a:t>
            </a:r>
          </a:p>
        </p:txBody>
      </p:sp>
      <p:graphicFrame>
        <p:nvGraphicFramePr>
          <p:cNvPr id="8" name="Table 7"/>
          <p:cNvGraphicFramePr>
            <a:graphicFrameLocks noGrp="1"/>
          </p:cNvGraphicFramePr>
          <p:nvPr/>
        </p:nvGraphicFramePr>
        <p:xfrm>
          <a:off x="548640" y="1536192"/>
          <a:ext cx="11109960" cy="338328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gridCol w="3429000">
                  <a:extLst>
                    <a:ext uri="{9D8B030D-6E8A-4147-A177-3AD203B41FA5}">
                      <a16:colId xmlns:a16="http://schemas.microsoft.com/office/drawing/2014/main" val="20003"/>
                    </a:ext>
                  </a:extLst>
                </a:gridCol>
              </a:tblGrid>
              <a:tr h="676656">
                <a:tc>
                  <a:txBody>
                    <a:bodyPr/>
                    <a:lstStyle/>
                    <a:p>
                      <a:pPr algn="l"/>
                      <a:r>
                        <a:rPr sz="885" b="1">
                          <a:solidFill>
                            <a:srgbClr val="FFFFFF"/>
                          </a:solidFill>
                          <a:latin typeface="Aptos"/>
                        </a:rPr>
                        <a:t>Pattern</a:t>
                      </a:r>
                    </a:p>
                  </a:txBody>
                  <a:tcPr marL="73152" marR="54864" marB="27432">
                    <a:solidFill>
                      <a:srgbClr val="0C1930"/>
                    </a:solidFill>
                  </a:tcPr>
                </a:tc>
                <a:tc>
                  <a:txBody>
                    <a:bodyPr/>
                    <a:lstStyle/>
                    <a:p>
                      <a:pPr algn="l"/>
                      <a:r>
                        <a:rPr sz="885" b="1">
                          <a:solidFill>
                            <a:srgbClr val="FFFFFF"/>
                          </a:solidFill>
                          <a:latin typeface="Aptos"/>
                        </a:rPr>
                        <a:t>Isolation</a:t>
                      </a:r>
                    </a:p>
                  </a:txBody>
                  <a:tcPr marL="73152" marR="54864" marB="27432">
                    <a:solidFill>
                      <a:srgbClr val="0C1930"/>
                    </a:solidFill>
                  </a:tcPr>
                </a:tc>
                <a:tc>
                  <a:txBody>
                    <a:bodyPr/>
                    <a:lstStyle/>
                    <a:p>
                      <a:pPr algn="l"/>
                      <a:r>
                        <a:rPr sz="885" b="1">
                          <a:solidFill>
                            <a:srgbClr val="FFFFFF"/>
                          </a:solidFill>
                          <a:latin typeface="Aptos"/>
                        </a:rPr>
                        <a:t>Advantages</a:t>
                      </a:r>
                    </a:p>
                  </a:txBody>
                  <a:tcPr marL="73152" marR="54864" marB="27432">
                    <a:solidFill>
                      <a:srgbClr val="0C1930"/>
                    </a:solidFill>
                  </a:tcPr>
                </a:tc>
                <a:tc>
                  <a:txBody>
                    <a:bodyPr/>
                    <a:lstStyle/>
                    <a:p>
                      <a:pPr algn="l"/>
                      <a:r>
                        <a:rPr sz="885" b="1">
                          <a:solidFill>
                            <a:srgbClr val="FFFFFF"/>
                          </a:solidFill>
                          <a:latin typeface="Aptos"/>
                        </a:rPr>
                        <a:t>Trade-offs / fit</a:t>
                      </a:r>
                    </a:p>
                  </a:txBody>
                  <a:tcPr marL="73152" marR="54864" marB="27432">
                    <a:solidFill>
                      <a:srgbClr val="0C1930"/>
                    </a:solidFill>
                  </a:tcPr>
                </a:tc>
                <a:extLst>
                  <a:ext uri="{0D108BD9-81ED-4DB2-BD59-A6C34878D82A}">
                    <a16:rowId xmlns:a16="http://schemas.microsoft.com/office/drawing/2014/main" val="10000"/>
                  </a:ext>
                </a:extLst>
              </a:tr>
              <a:tr h="676656">
                <a:tc>
                  <a:txBody>
                    <a:bodyPr/>
                    <a:lstStyle/>
                    <a:p>
                      <a:pPr algn="l"/>
                      <a:r>
                        <a:rPr sz="935" b="0">
                          <a:solidFill>
                            <a:srgbClr val="253042"/>
                          </a:solidFill>
                          <a:latin typeface="Aptos"/>
                        </a:rPr>
                        <a:t>Shared tables</a:t>
                      </a:r>
                    </a:p>
                  </a:txBody>
                  <a:tcPr marL="73152" marR="54864" marB="27432">
                    <a:solidFill>
                      <a:srgbClr val="FFFFFF"/>
                    </a:solidFill>
                  </a:tcPr>
                </a:tc>
                <a:tc>
                  <a:txBody>
                    <a:bodyPr/>
                    <a:lstStyle/>
                    <a:p>
                      <a:pPr algn="l"/>
                      <a:r>
                        <a:rPr sz="935" b="0">
                          <a:solidFill>
                            <a:srgbClr val="253042"/>
                          </a:solidFill>
                          <a:latin typeface="Aptos"/>
                        </a:rPr>
                        <a:t>tenant_id + row/column policies</a:t>
                      </a:r>
                    </a:p>
                  </a:txBody>
                  <a:tcPr marL="73152" marR="54864" marB="27432">
                    <a:solidFill>
                      <a:srgbClr val="FFFFFF"/>
                    </a:solidFill>
                  </a:tcPr>
                </a:tc>
                <a:tc>
                  <a:txBody>
                    <a:bodyPr/>
                    <a:lstStyle/>
                    <a:p>
                      <a:pPr algn="l"/>
                      <a:r>
                        <a:rPr sz="935" b="0">
                          <a:solidFill>
                            <a:srgbClr val="253042"/>
                          </a:solidFill>
                          <a:latin typeface="Aptos"/>
                        </a:rPr>
                        <a:t>Efficient, simple fleet, good for many small tenants</a:t>
                      </a:r>
                    </a:p>
                  </a:txBody>
                  <a:tcPr marL="73152" marR="54864" marB="27432">
                    <a:solidFill>
                      <a:srgbClr val="FFFFFF"/>
                    </a:solidFill>
                  </a:tcPr>
                </a:tc>
                <a:tc>
                  <a:txBody>
                    <a:bodyPr/>
                    <a:lstStyle/>
                    <a:p>
                      <a:pPr algn="l"/>
                      <a:r>
                        <a:rPr sz="935" b="0">
                          <a:solidFill>
                            <a:srgbClr val="253042"/>
                          </a:solidFill>
                          <a:latin typeface="Aptos"/>
                        </a:rPr>
                        <a:t>Highest policy-test burden; noisy-neighbor controls required</a:t>
                      </a:r>
                    </a:p>
                  </a:txBody>
                  <a:tcPr marL="73152" marR="54864" marB="27432">
                    <a:solidFill>
                      <a:srgbClr val="FFFFFF"/>
                    </a:solidFill>
                  </a:tcPr>
                </a:tc>
                <a:extLst>
                  <a:ext uri="{0D108BD9-81ED-4DB2-BD59-A6C34878D82A}">
                    <a16:rowId xmlns:a16="http://schemas.microsoft.com/office/drawing/2014/main" val="10001"/>
                  </a:ext>
                </a:extLst>
              </a:tr>
              <a:tr h="676656">
                <a:tc>
                  <a:txBody>
                    <a:bodyPr/>
                    <a:lstStyle/>
                    <a:p>
                      <a:pPr algn="l"/>
                      <a:r>
                        <a:rPr sz="935" b="0">
                          <a:solidFill>
                            <a:srgbClr val="253042"/>
                          </a:solidFill>
                          <a:latin typeface="Aptos"/>
                        </a:rPr>
                        <a:t>Schema/database per tenant</a:t>
                      </a:r>
                    </a:p>
                  </a:txBody>
                  <a:tcPr marL="73152" marR="54864" marB="27432">
                    <a:solidFill>
                      <a:srgbClr val="F7F9FC"/>
                    </a:solidFill>
                  </a:tcPr>
                </a:tc>
                <a:tc>
                  <a:txBody>
                    <a:bodyPr/>
                    <a:lstStyle/>
                    <a:p>
                      <a:pPr algn="l"/>
                      <a:r>
                        <a:rPr sz="935" b="0">
                          <a:solidFill>
                            <a:srgbClr val="253042"/>
                          </a:solidFill>
                          <a:latin typeface="Aptos"/>
                        </a:rPr>
                        <a:t>Logical or physical namespace</a:t>
                      </a:r>
                    </a:p>
                  </a:txBody>
                  <a:tcPr marL="73152" marR="54864" marB="27432">
                    <a:solidFill>
                      <a:srgbClr val="F7F9FC"/>
                    </a:solidFill>
                  </a:tcPr>
                </a:tc>
                <a:tc>
                  <a:txBody>
                    <a:bodyPr/>
                    <a:lstStyle/>
                    <a:p>
                      <a:pPr algn="l"/>
                      <a:r>
                        <a:rPr sz="935" b="0">
                          <a:solidFill>
                            <a:srgbClr val="253042"/>
                          </a:solidFill>
                          <a:latin typeface="Aptos"/>
                        </a:rPr>
                        <a:t>Clearer boundaries and restore operations</a:t>
                      </a:r>
                    </a:p>
                  </a:txBody>
                  <a:tcPr marL="73152" marR="54864" marB="27432">
                    <a:solidFill>
                      <a:srgbClr val="F7F9FC"/>
                    </a:solidFill>
                  </a:tcPr>
                </a:tc>
                <a:tc>
                  <a:txBody>
                    <a:bodyPr/>
                    <a:lstStyle/>
                    <a:p>
                      <a:pPr algn="l"/>
                      <a:r>
                        <a:rPr sz="935" b="0">
                          <a:solidFill>
                            <a:srgbClr val="253042"/>
                          </a:solidFill>
                          <a:latin typeface="Aptos"/>
                        </a:rPr>
                        <a:t>Metadata and migration overhead at large tenant counts</a:t>
                      </a:r>
                    </a:p>
                  </a:txBody>
                  <a:tcPr marL="73152" marR="54864" marB="27432">
                    <a:solidFill>
                      <a:srgbClr val="F7F9FC"/>
                    </a:solidFill>
                  </a:tcPr>
                </a:tc>
                <a:extLst>
                  <a:ext uri="{0D108BD9-81ED-4DB2-BD59-A6C34878D82A}">
                    <a16:rowId xmlns:a16="http://schemas.microsoft.com/office/drawing/2014/main" val="10002"/>
                  </a:ext>
                </a:extLst>
              </a:tr>
              <a:tr h="676656">
                <a:tc>
                  <a:txBody>
                    <a:bodyPr/>
                    <a:lstStyle/>
                    <a:p>
                      <a:pPr algn="l"/>
                      <a:r>
                        <a:rPr sz="935" b="0">
                          <a:solidFill>
                            <a:srgbClr val="253042"/>
                          </a:solidFill>
                          <a:latin typeface="Aptos"/>
                        </a:rPr>
                        <a:t>Dedicated stack</a:t>
                      </a:r>
                    </a:p>
                  </a:txBody>
                  <a:tcPr marL="73152" marR="54864" marB="27432">
                    <a:solidFill>
                      <a:srgbClr val="FFFFFF"/>
                    </a:solidFill>
                  </a:tcPr>
                </a:tc>
                <a:tc>
                  <a:txBody>
                    <a:bodyPr/>
                    <a:lstStyle/>
                    <a:p>
                      <a:pPr algn="l"/>
                      <a:r>
                        <a:rPr sz="935" b="0">
                          <a:solidFill>
                            <a:srgbClr val="253042"/>
                          </a:solidFill>
                          <a:latin typeface="Aptos"/>
                        </a:rPr>
                        <a:t>Separate compute/storage/account</a:t>
                      </a:r>
                    </a:p>
                  </a:txBody>
                  <a:tcPr marL="73152" marR="54864" marB="27432">
                    <a:solidFill>
                      <a:srgbClr val="FFFFFF"/>
                    </a:solidFill>
                  </a:tcPr>
                </a:tc>
                <a:tc>
                  <a:txBody>
                    <a:bodyPr/>
                    <a:lstStyle/>
                    <a:p>
                      <a:pPr algn="l"/>
                      <a:r>
                        <a:rPr sz="935" b="0">
                          <a:solidFill>
                            <a:srgbClr val="253042"/>
                          </a:solidFill>
                          <a:latin typeface="Aptos"/>
                        </a:rPr>
                        <a:t>Strongest isolation and custom controls</a:t>
                      </a:r>
                    </a:p>
                  </a:txBody>
                  <a:tcPr marL="73152" marR="54864" marB="27432">
                    <a:solidFill>
                      <a:srgbClr val="FFFFFF"/>
                    </a:solidFill>
                  </a:tcPr>
                </a:tc>
                <a:tc>
                  <a:txBody>
                    <a:bodyPr/>
                    <a:lstStyle/>
                    <a:p>
                      <a:pPr algn="l"/>
                      <a:r>
                        <a:rPr sz="935" b="0">
                          <a:solidFill>
                            <a:srgbClr val="253042"/>
                          </a:solidFill>
                          <a:latin typeface="Aptos"/>
                        </a:rPr>
                        <a:t>Highest cost; use for regulated or very large tenants</a:t>
                      </a:r>
                    </a:p>
                  </a:txBody>
                  <a:tcPr marL="73152" marR="54864" marB="27432">
                    <a:solidFill>
                      <a:srgbClr val="FFFFFF"/>
                    </a:solidFill>
                  </a:tcPr>
                </a:tc>
                <a:extLst>
                  <a:ext uri="{0D108BD9-81ED-4DB2-BD59-A6C34878D82A}">
                    <a16:rowId xmlns:a16="http://schemas.microsoft.com/office/drawing/2014/main" val="10003"/>
                  </a:ext>
                </a:extLst>
              </a:tr>
              <a:tr h="676656">
                <a:tc>
                  <a:txBody>
                    <a:bodyPr/>
                    <a:lstStyle/>
                    <a:p>
                      <a:pPr algn="l"/>
                      <a:r>
                        <a:rPr sz="935" b="0">
                          <a:solidFill>
                            <a:srgbClr val="253042"/>
                          </a:solidFill>
                          <a:latin typeface="Aptos"/>
                        </a:rPr>
                        <a:t>Tiered hybrid</a:t>
                      </a:r>
                    </a:p>
                  </a:txBody>
                  <a:tcPr marL="73152" marR="54864" marB="27432">
                    <a:solidFill>
                      <a:srgbClr val="F7F9FC"/>
                    </a:solidFill>
                  </a:tcPr>
                </a:tc>
                <a:tc>
                  <a:txBody>
                    <a:bodyPr/>
                    <a:lstStyle/>
                    <a:p>
                      <a:pPr algn="l"/>
                      <a:r>
                        <a:rPr sz="935" b="0">
                          <a:solidFill>
                            <a:srgbClr val="253042"/>
                          </a:solidFill>
                          <a:latin typeface="Aptos"/>
                        </a:rPr>
                        <a:t>Route tenant by risk/size/tier</a:t>
                      </a:r>
                    </a:p>
                  </a:txBody>
                  <a:tcPr marL="73152" marR="54864" marB="27432">
                    <a:solidFill>
                      <a:srgbClr val="F7F9FC"/>
                    </a:solidFill>
                  </a:tcPr>
                </a:tc>
                <a:tc>
                  <a:txBody>
                    <a:bodyPr/>
                    <a:lstStyle/>
                    <a:p>
                      <a:pPr algn="l"/>
                      <a:r>
                        <a:rPr sz="935" b="0">
                          <a:solidFill>
                            <a:srgbClr val="253042"/>
                          </a:solidFill>
                          <a:latin typeface="Aptos"/>
                        </a:rPr>
                        <a:t>Balances cost and isolation</a:t>
                      </a:r>
                    </a:p>
                  </a:txBody>
                  <a:tcPr marL="73152" marR="54864" marB="27432">
                    <a:solidFill>
                      <a:srgbClr val="F7F9FC"/>
                    </a:solidFill>
                  </a:tcPr>
                </a:tc>
                <a:tc>
                  <a:txBody>
                    <a:bodyPr/>
                    <a:lstStyle/>
                    <a:p>
                      <a:pPr algn="l"/>
                      <a:r>
                        <a:rPr sz="935" b="0">
                          <a:solidFill>
                            <a:srgbClr val="253042"/>
                          </a:solidFill>
                          <a:latin typeface="Aptos"/>
                        </a:rPr>
                        <a:t>Provisioning, routing, and consistent governance are harder</a:t>
                      </a:r>
                    </a:p>
                  </a:txBody>
                  <a:tcPr marL="73152" marR="54864" marB="27432">
                    <a:solidFill>
                      <a:srgbClr val="F7F9FC"/>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658368" y="5212080"/>
            <a:ext cx="2057400" cy="274320"/>
          </a:xfrm>
          <a:prstGeom prst="rect">
            <a:avLst/>
          </a:prstGeom>
          <a:noFill/>
        </p:spPr>
        <p:txBody>
          <a:bodyPr wrap="none" lIns="45720" rIns="45720" anchor="t">
            <a:spAutoFit/>
          </a:bodyPr>
          <a:lstStyle/>
          <a:p>
            <a:pPr algn="l">
              <a:spcAft>
                <a:spcPts val="0"/>
              </a:spcAft>
            </a:pPr>
            <a:r>
              <a:rPr sz="1400" b="1" i="0">
                <a:solidFill>
                  <a:srgbClr val="0C1930"/>
                </a:solidFill>
                <a:latin typeface="Aptos"/>
              </a:rPr>
              <a:t>Non-negotiable controls</a:t>
            </a:r>
          </a:p>
        </p:txBody>
      </p:sp>
      <p:sp>
        <p:nvSpPr>
          <p:cNvPr id="10" name="Rounded Rectangle 9"/>
          <p:cNvSpPr/>
          <p:nvPr/>
        </p:nvSpPr>
        <p:spPr>
          <a:xfrm>
            <a:off x="685800" y="5632704"/>
            <a:ext cx="1664208" cy="310896"/>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Tenant-scoped encryption</a:t>
            </a:r>
          </a:p>
        </p:txBody>
      </p:sp>
      <p:sp>
        <p:nvSpPr>
          <p:cNvPr id="12" name="Rounded Rectangle 11"/>
          <p:cNvSpPr/>
          <p:nvPr/>
        </p:nvSpPr>
        <p:spPr>
          <a:xfrm>
            <a:off x="2560320" y="5632704"/>
            <a:ext cx="1664208" cy="310896"/>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60320"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Policy tests in CI</a:t>
            </a:r>
          </a:p>
        </p:txBody>
      </p:sp>
      <p:sp>
        <p:nvSpPr>
          <p:cNvPr id="14" name="Rounded Rectangle 13"/>
          <p:cNvSpPr/>
          <p:nvPr/>
        </p:nvSpPr>
        <p:spPr>
          <a:xfrm>
            <a:off x="4434840" y="5632704"/>
            <a:ext cx="1664208" cy="310896"/>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34840"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Per-tenant quotas</a:t>
            </a:r>
          </a:p>
        </p:txBody>
      </p:sp>
      <p:sp>
        <p:nvSpPr>
          <p:cNvPr id="16" name="Rounded Rectangle 15"/>
          <p:cNvSpPr/>
          <p:nvPr/>
        </p:nvSpPr>
        <p:spPr>
          <a:xfrm>
            <a:off x="6309359" y="5632704"/>
            <a:ext cx="1664208" cy="310896"/>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59"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Tenant-aware caches</a:t>
            </a:r>
          </a:p>
        </p:txBody>
      </p:sp>
      <p:sp>
        <p:nvSpPr>
          <p:cNvPr id="18" name="Rounded Rectangle 17"/>
          <p:cNvSpPr/>
          <p:nvPr/>
        </p:nvSpPr>
        <p:spPr>
          <a:xfrm>
            <a:off x="8183879" y="5632704"/>
            <a:ext cx="1664208" cy="310896"/>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83879"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Vector ACL filters</a:t>
            </a:r>
          </a:p>
        </p:txBody>
      </p:sp>
      <p:sp>
        <p:nvSpPr>
          <p:cNvPr id="20" name="Rounded Rectangle 19"/>
          <p:cNvSpPr/>
          <p:nvPr/>
        </p:nvSpPr>
        <p:spPr>
          <a:xfrm>
            <a:off x="10058400" y="5632704"/>
            <a:ext cx="1664208" cy="310896"/>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0"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Break-glass audit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CDC and financial correctness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Capture database changes without confusing technical delivery with business truth.</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41</a:t>
            </a:r>
          </a:p>
        </p:txBody>
      </p:sp>
      <p:sp>
        <p:nvSpPr>
          <p:cNvPr id="8" name="Rounded Rectangle 7"/>
          <p:cNvSpPr/>
          <p:nvPr/>
        </p:nvSpPr>
        <p:spPr>
          <a:xfrm>
            <a:off x="502920" y="1920240"/>
            <a:ext cx="1417320" cy="91440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2648" y="202996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OLTP ledger</a:t>
            </a:r>
          </a:p>
        </p:txBody>
      </p:sp>
      <p:sp>
        <p:nvSpPr>
          <p:cNvPr id="10" name="TextBox 9"/>
          <p:cNvSpPr txBox="1"/>
          <p:nvPr/>
        </p:nvSpPr>
        <p:spPr>
          <a:xfrm>
            <a:off x="612648" y="2350008"/>
            <a:ext cx="119786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ACID journal entries</a:t>
            </a:r>
          </a:p>
        </p:txBody>
      </p:sp>
      <p:sp>
        <p:nvSpPr>
          <p:cNvPr id="11" name="Rounded Rectangle 10"/>
          <p:cNvSpPr/>
          <p:nvPr/>
        </p:nvSpPr>
        <p:spPr>
          <a:xfrm>
            <a:off x="2331720" y="1920240"/>
            <a:ext cx="1417320" cy="91440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41448" y="202996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CDC log</a:t>
            </a:r>
          </a:p>
        </p:txBody>
      </p:sp>
      <p:sp>
        <p:nvSpPr>
          <p:cNvPr id="13" name="TextBox 12"/>
          <p:cNvSpPr txBox="1"/>
          <p:nvPr/>
        </p:nvSpPr>
        <p:spPr>
          <a:xfrm>
            <a:off x="2441448" y="2350008"/>
            <a:ext cx="119786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LSN + transaction ID</a:t>
            </a:r>
          </a:p>
        </p:txBody>
      </p:sp>
      <p:sp>
        <p:nvSpPr>
          <p:cNvPr id="14" name="Rounded Rectangle 13"/>
          <p:cNvSpPr/>
          <p:nvPr/>
        </p:nvSpPr>
        <p:spPr>
          <a:xfrm>
            <a:off x="4160520" y="1920240"/>
            <a:ext cx="1508760" cy="914400"/>
          </a:xfrm>
          <a:prstGeom prst="roundRect">
            <a:avLst/>
          </a:prstGeom>
          <a:solidFill>
            <a:srgbClr val="FFFFFF"/>
          </a:solidFill>
          <a:ln w="1524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70248" y="2029968"/>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Raw change log</a:t>
            </a:r>
          </a:p>
        </p:txBody>
      </p:sp>
      <p:sp>
        <p:nvSpPr>
          <p:cNvPr id="16" name="TextBox 15"/>
          <p:cNvSpPr txBox="1"/>
          <p:nvPr/>
        </p:nvSpPr>
        <p:spPr>
          <a:xfrm>
            <a:off x="4270248" y="2350008"/>
            <a:ext cx="128930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before/after + op</a:t>
            </a:r>
          </a:p>
        </p:txBody>
      </p:sp>
      <p:sp>
        <p:nvSpPr>
          <p:cNvPr id="17" name="Rounded Rectangle 16"/>
          <p:cNvSpPr/>
          <p:nvPr/>
        </p:nvSpPr>
        <p:spPr>
          <a:xfrm>
            <a:off x="6080760" y="1920240"/>
            <a:ext cx="1508760" cy="914400"/>
          </a:xfrm>
          <a:prstGeom prst="roundRect">
            <a:avLst/>
          </a:prstGeom>
          <a:solidFill>
            <a:srgbClr val="FFFFFF"/>
          </a:solidFill>
          <a:ln w="1524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90488" y="2029968"/>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Canonical ledger</a:t>
            </a:r>
          </a:p>
        </p:txBody>
      </p:sp>
      <p:sp>
        <p:nvSpPr>
          <p:cNvPr id="19" name="TextBox 18"/>
          <p:cNvSpPr txBox="1"/>
          <p:nvPr/>
        </p:nvSpPr>
        <p:spPr>
          <a:xfrm>
            <a:off x="6190488" y="2350008"/>
            <a:ext cx="128930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dedupe + sequence</a:t>
            </a:r>
          </a:p>
        </p:txBody>
      </p:sp>
      <p:sp>
        <p:nvSpPr>
          <p:cNvPr id="20" name="Rounded Rectangle 19"/>
          <p:cNvSpPr/>
          <p:nvPr/>
        </p:nvSpPr>
        <p:spPr>
          <a:xfrm>
            <a:off x="8001000" y="1920240"/>
            <a:ext cx="1508760" cy="914400"/>
          </a:xfrm>
          <a:prstGeom prst="roundRect">
            <a:avLst/>
          </a:prstGeom>
          <a:solidFill>
            <a:srgbClr val="FFFFFF"/>
          </a:solidFill>
          <a:ln w="1524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10727" y="2029968"/>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Balanced facts</a:t>
            </a:r>
          </a:p>
        </p:txBody>
      </p:sp>
      <p:sp>
        <p:nvSpPr>
          <p:cNvPr id="22" name="TextBox 21"/>
          <p:cNvSpPr txBox="1"/>
          <p:nvPr/>
        </p:nvSpPr>
        <p:spPr>
          <a:xfrm>
            <a:off x="8110727" y="2350008"/>
            <a:ext cx="128930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debit = credit</a:t>
            </a:r>
          </a:p>
        </p:txBody>
      </p:sp>
      <p:sp>
        <p:nvSpPr>
          <p:cNvPr id="23" name="Rounded Rectangle 22"/>
          <p:cNvSpPr/>
          <p:nvPr/>
        </p:nvSpPr>
        <p:spPr>
          <a:xfrm>
            <a:off x="9921240" y="1920240"/>
            <a:ext cx="1691640" cy="91440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30967" y="2029968"/>
            <a:ext cx="147218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Reports / AI</a:t>
            </a:r>
          </a:p>
        </p:txBody>
      </p:sp>
      <p:sp>
        <p:nvSpPr>
          <p:cNvPr id="25" name="TextBox 24"/>
          <p:cNvSpPr txBox="1"/>
          <p:nvPr/>
        </p:nvSpPr>
        <p:spPr>
          <a:xfrm>
            <a:off x="10030967" y="2350008"/>
            <a:ext cx="147218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as-of view + lineage</a:t>
            </a:r>
          </a:p>
        </p:txBody>
      </p:sp>
      <p:cxnSp>
        <p:nvCxnSpPr>
          <p:cNvPr id="26" name="Connector 25"/>
          <p:cNvCxnSpPr/>
          <p:nvPr/>
        </p:nvCxnSpPr>
        <p:spPr>
          <a:xfrm>
            <a:off x="1938528" y="2377440"/>
            <a:ext cx="347472" cy="0"/>
          </a:xfrm>
          <a:prstGeom prst="line">
            <a:avLst/>
          </a:prstGeom>
          <a:ln w="1905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767328" y="2377440"/>
            <a:ext cx="347472" cy="0"/>
          </a:xfrm>
          <a:prstGeom prst="line">
            <a:avLst/>
          </a:prstGeom>
          <a:ln w="1905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687568" y="2377440"/>
            <a:ext cx="347472" cy="0"/>
          </a:xfrm>
          <a:prstGeom prst="line">
            <a:avLst/>
          </a:prstGeom>
          <a:ln w="19050">
            <a:solidFill>
              <a:srgbClr val="B16F3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607808" y="2377440"/>
            <a:ext cx="347472" cy="0"/>
          </a:xfrm>
          <a:prstGeom prst="line">
            <a:avLst/>
          </a:prstGeom>
          <a:ln w="19050">
            <a:solidFill>
              <a:srgbClr val="9AA4B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528048" y="2377440"/>
            <a:ext cx="347472" cy="0"/>
          </a:xfrm>
          <a:prstGeom prst="line">
            <a:avLst/>
          </a:prstGeom>
          <a:ln w="19050">
            <a:solidFill>
              <a:srgbClr val="D6A22A"/>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40080" y="3429000"/>
            <a:ext cx="52578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40080" y="3429000"/>
            <a:ext cx="64008" cy="86868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50392" y="3557016"/>
            <a:ext cx="4892040" cy="320040"/>
          </a:xfrm>
          <a:prstGeom prst="rect">
            <a:avLst/>
          </a:prstGeom>
          <a:noFill/>
        </p:spPr>
        <p:txBody>
          <a:bodyPr wrap="none" lIns="45720" rIns="45720" anchor="t">
            <a:spAutoFit/>
          </a:bodyPr>
          <a:lstStyle/>
          <a:p>
            <a:pPr algn="l">
              <a:spcAft>
                <a:spcPts val="0"/>
              </a:spcAft>
            </a:pPr>
            <a:r>
              <a:rPr sz="1200" b="1" i="0">
                <a:solidFill>
                  <a:srgbClr val="0C1930"/>
                </a:solidFill>
                <a:latin typeface="Aptos"/>
              </a:rPr>
              <a:t>Order changes</a:t>
            </a:r>
          </a:p>
        </p:txBody>
      </p:sp>
      <p:sp>
        <p:nvSpPr>
          <p:cNvPr id="34" name="TextBox 33"/>
          <p:cNvSpPr txBox="1"/>
          <p:nvPr/>
        </p:nvSpPr>
        <p:spPr>
          <a:xfrm>
            <a:off x="850392" y="4023360"/>
            <a:ext cx="4864608" cy="155447"/>
          </a:xfrm>
          <a:prstGeom prst="rect">
            <a:avLst/>
          </a:prstGeom>
          <a:noFill/>
        </p:spPr>
        <p:txBody>
          <a:bodyPr wrap="none" lIns="45720" rIns="45720" anchor="t">
            <a:spAutoFit/>
          </a:bodyPr>
          <a:lstStyle/>
          <a:p>
            <a:pPr algn="l">
              <a:spcAft>
                <a:spcPts val="0"/>
              </a:spcAft>
            </a:pPr>
            <a:r>
              <a:rPr sz="900" b="0" i="0">
                <a:solidFill>
                  <a:srgbClr val="253042"/>
                </a:solidFill>
                <a:latin typeface="Aptos"/>
              </a:rPr>
              <a:t>Preserve source transaction order; partition by stable aggregate such as company + ledger.</a:t>
            </a:r>
          </a:p>
        </p:txBody>
      </p:sp>
      <p:sp>
        <p:nvSpPr>
          <p:cNvPr id="35" name="Rounded Rectangle 34"/>
          <p:cNvSpPr/>
          <p:nvPr/>
        </p:nvSpPr>
        <p:spPr>
          <a:xfrm>
            <a:off x="6263640" y="3429000"/>
            <a:ext cx="52578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263640" y="3429000"/>
            <a:ext cx="64008" cy="86868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73952" y="3557016"/>
            <a:ext cx="4892040" cy="320040"/>
          </a:xfrm>
          <a:prstGeom prst="rect">
            <a:avLst/>
          </a:prstGeom>
          <a:noFill/>
        </p:spPr>
        <p:txBody>
          <a:bodyPr wrap="none" lIns="45720" rIns="45720" anchor="t">
            <a:spAutoFit/>
          </a:bodyPr>
          <a:lstStyle/>
          <a:p>
            <a:pPr algn="l">
              <a:spcAft>
                <a:spcPts val="0"/>
              </a:spcAft>
            </a:pPr>
            <a:r>
              <a:rPr sz="1200" b="1" i="0">
                <a:solidFill>
                  <a:srgbClr val="0C1930"/>
                </a:solidFill>
                <a:latin typeface="Aptos"/>
              </a:rPr>
              <a:t>Idempotency</a:t>
            </a:r>
          </a:p>
        </p:txBody>
      </p:sp>
      <p:sp>
        <p:nvSpPr>
          <p:cNvPr id="38" name="TextBox 37"/>
          <p:cNvSpPr txBox="1"/>
          <p:nvPr/>
        </p:nvSpPr>
        <p:spPr>
          <a:xfrm>
            <a:off x="6473952" y="4023360"/>
            <a:ext cx="4864608" cy="155447"/>
          </a:xfrm>
          <a:prstGeom prst="rect">
            <a:avLst/>
          </a:prstGeom>
          <a:noFill/>
        </p:spPr>
        <p:txBody>
          <a:bodyPr wrap="none" lIns="45720" rIns="45720" anchor="t">
            <a:spAutoFit/>
          </a:bodyPr>
          <a:lstStyle/>
          <a:p>
            <a:pPr algn="l">
              <a:spcAft>
                <a:spcPts val="0"/>
              </a:spcAft>
            </a:pPr>
            <a:r>
              <a:rPr sz="900" b="0" i="0">
                <a:solidFill>
                  <a:srgbClr val="253042"/>
                </a:solidFill>
                <a:latin typeface="Aptos"/>
              </a:rPr>
              <a:t>Use source transaction/row identity and LSN; record consumed range with target commit.</a:t>
            </a:r>
          </a:p>
        </p:txBody>
      </p:sp>
      <p:sp>
        <p:nvSpPr>
          <p:cNvPr id="39" name="Rounded Rectangle 38"/>
          <p:cNvSpPr/>
          <p:nvPr/>
        </p:nvSpPr>
        <p:spPr>
          <a:xfrm>
            <a:off x="640080" y="4507992"/>
            <a:ext cx="52578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40080" y="4507992"/>
            <a:ext cx="64008" cy="86868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50392" y="4636007"/>
            <a:ext cx="4892040" cy="320040"/>
          </a:xfrm>
          <a:prstGeom prst="rect">
            <a:avLst/>
          </a:prstGeom>
          <a:noFill/>
        </p:spPr>
        <p:txBody>
          <a:bodyPr wrap="none" lIns="45720" rIns="45720" anchor="t">
            <a:spAutoFit/>
          </a:bodyPr>
          <a:lstStyle/>
          <a:p>
            <a:pPr algn="l">
              <a:spcAft>
                <a:spcPts val="0"/>
              </a:spcAft>
            </a:pPr>
            <a:r>
              <a:rPr sz="1200" b="1" i="0">
                <a:solidFill>
                  <a:srgbClr val="0C1930"/>
                </a:solidFill>
                <a:latin typeface="Aptos"/>
              </a:rPr>
              <a:t>Corrections</a:t>
            </a:r>
          </a:p>
        </p:txBody>
      </p:sp>
      <p:sp>
        <p:nvSpPr>
          <p:cNvPr id="42" name="TextBox 41"/>
          <p:cNvSpPr txBox="1"/>
          <p:nvPr/>
        </p:nvSpPr>
        <p:spPr>
          <a:xfrm>
            <a:off x="850392" y="5102352"/>
            <a:ext cx="4864608" cy="155447"/>
          </a:xfrm>
          <a:prstGeom prst="rect">
            <a:avLst/>
          </a:prstGeom>
          <a:noFill/>
        </p:spPr>
        <p:txBody>
          <a:bodyPr wrap="none" lIns="45720" rIns="45720" anchor="t">
            <a:spAutoFit/>
          </a:bodyPr>
          <a:lstStyle/>
          <a:p>
            <a:pPr algn="l">
              <a:spcAft>
                <a:spcPts val="0"/>
              </a:spcAft>
            </a:pPr>
            <a:r>
              <a:rPr sz="900" b="0" i="0">
                <a:solidFill>
                  <a:srgbClr val="253042"/>
                </a:solidFill>
                <a:latin typeface="Aptos"/>
              </a:rPr>
              <a:t>Post reversals or new versions; do not erase closed-period history.</a:t>
            </a:r>
          </a:p>
        </p:txBody>
      </p:sp>
      <p:sp>
        <p:nvSpPr>
          <p:cNvPr id="43" name="Rounded Rectangle 42"/>
          <p:cNvSpPr/>
          <p:nvPr/>
        </p:nvSpPr>
        <p:spPr>
          <a:xfrm>
            <a:off x="6263640" y="4507992"/>
            <a:ext cx="52578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263640" y="4507992"/>
            <a:ext cx="64008" cy="86868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73952" y="4636007"/>
            <a:ext cx="4892040" cy="320040"/>
          </a:xfrm>
          <a:prstGeom prst="rect">
            <a:avLst/>
          </a:prstGeom>
          <a:noFill/>
        </p:spPr>
        <p:txBody>
          <a:bodyPr wrap="none" lIns="45720" rIns="45720" anchor="t">
            <a:spAutoFit/>
          </a:bodyPr>
          <a:lstStyle/>
          <a:p>
            <a:pPr algn="l">
              <a:spcAft>
                <a:spcPts val="0"/>
              </a:spcAft>
            </a:pPr>
            <a:r>
              <a:rPr sz="1200" b="1" i="0">
                <a:solidFill>
                  <a:srgbClr val="0C1930"/>
                </a:solidFill>
                <a:latin typeface="Aptos"/>
              </a:rPr>
              <a:t>Reconciliation</a:t>
            </a:r>
          </a:p>
        </p:txBody>
      </p:sp>
      <p:sp>
        <p:nvSpPr>
          <p:cNvPr id="46" name="TextBox 45"/>
          <p:cNvSpPr txBox="1"/>
          <p:nvPr/>
        </p:nvSpPr>
        <p:spPr>
          <a:xfrm>
            <a:off x="6473952" y="5102352"/>
            <a:ext cx="4864608" cy="155447"/>
          </a:xfrm>
          <a:prstGeom prst="rect">
            <a:avLst/>
          </a:prstGeom>
          <a:noFill/>
        </p:spPr>
        <p:txBody>
          <a:bodyPr wrap="none" lIns="45720" rIns="45720" anchor="t">
            <a:spAutoFit/>
          </a:bodyPr>
          <a:lstStyle/>
          <a:p>
            <a:pPr algn="l">
              <a:spcAft>
                <a:spcPts val="0"/>
              </a:spcAft>
            </a:pPr>
            <a:r>
              <a:rPr sz="900" b="0" i="0">
                <a:solidFill>
                  <a:srgbClr val="253042"/>
                </a:solidFill>
                <a:latin typeface="Aptos"/>
              </a:rPr>
              <a:t>Compare source counts, control totals, debit/credit, and period balances.</a:t>
            </a:r>
          </a:p>
        </p:txBody>
      </p:sp>
      <p:sp>
        <p:nvSpPr>
          <p:cNvPr id="47" name="TextBox 46"/>
          <p:cNvSpPr txBox="1"/>
          <p:nvPr/>
        </p:nvSpPr>
        <p:spPr>
          <a:xfrm>
            <a:off x="914400" y="5907024"/>
            <a:ext cx="10332720" cy="256032"/>
          </a:xfrm>
          <a:prstGeom prst="rect">
            <a:avLst/>
          </a:prstGeom>
          <a:noFill/>
        </p:spPr>
        <p:txBody>
          <a:bodyPr wrap="none" lIns="45720" rIns="45720" anchor="t">
            <a:spAutoFit/>
          </a:bodyPr>
          <a:lstStyle/>
          <a:p>
            <a:pPr algn="ctr">
              <a:spcAft>
                <a:spcPts val="0"/>
              </a:spcAft>
            </a:pPr>
            <a:r>
              <a:rPr sz="1050" b="1" i="0">
                <a:solidFill>
                  <a:srgbClr val="007874"/>
                </a:solidFill>
                <a:latin typeface="Aptos"/>
              </a:rPr>
              <a:t>Exactly-once business outcome = ordered source identity + idempotent target + atomic progress + reconciliation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Canonical ERP semantics and the AI/RAG data plane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AI must use the same governed definitions and permissions as reports and workflows.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42</a:t>
            </a:r>
          </a:p>
        </p:txBody>
      </p:sp>
      <p:sp>
        <p:nvSpPr>
          <p:cNvPr id="8" name="Rounded Rectangle 7"/>
          <p:cNvSpPr/>
          <p:nvPr/>
        </p:nvSpPr>
        <p:spPr>
          <a:xfrm>
            <a:off x="594360" y="1527048"/>
            <a:ext cx="5166360" cy="43434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783080"/>
            <a:ext cx="4709160" cy="274320"/>
          </a:xfrm>
          <a:prstGeom prst="rect">
            <a:avLst/>
          </a:prstGeom>
          <a:noFill/>
        </p:spPr>
        <p:txBody>
          <a:bodyPr wrap="none" lIns="45720" rIns="45720" anchor="t">
            <a:spAutoFit/>
          </a:bodyPr>
          <a:lstStyle/>
          <a:p>
            <a:pPr algn="ctr">
              <a:spcAft>
                <a:spcPts val="0"/>
              </a:spcAft>
            </a:pPr>
            <a:r>
              <a:rPr sz="1600" b="1" i="0">
                <a:solidFill>
                  <a:srgbClr val="0C1930"/>
                </a:solidFill>
                <a:latin typeface="Aptos"/>
              </a:rPr>
              <a:t>Canonical ERP model</a:t>
            </a:r>
          </a:p>
        </p:txBody>
      </p:sp>
      <p:sp>
        <p:nvSpPr>
          <p:cNvPr id="10" name="Rounded Rectangle 9"/>
          <p:cNvSpPr/>
          <p:nvPr/>
        </p:nvSpPr>
        <p:spPr>
          <a:xfrm>
            <a:off x="914400" y="2331720"/>
            <a:ext cx="1965960" cy="658368"/>
          </a:xfrm>
          <a:prstGeom prst="roundRect">
            <a:avLst/>
          </a:prstGeom>
          <a:solidFill>
            <a:srgbClr val="F9FBFE"/>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24128" y="2441448"/>
            <a:ext cx="1746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Party</a:t>
            </a:r>
          </a:p>
        </p:txBody>
      </p:sp>
      <p:sp>
        <p:nvSpPr>
          <p:cNvPr id="12" name="TextBox 11"/>
          <p:cNvSpPr txBox="1"/>
          <p:nvPr/>
        </p:nvSpPr>
        <p:spPr>
          <a:xfrm>
            <a:off x="1024128" y="2761487"/>
            <a:ext cx="1746504" cy="155447"/>
          </a:xfrm>
          <a:prstGeom prst="rect">
            <a:avLst/>
          </a:prstGeom>
          <a:noFill/>
        </p:spPr>
        <p:txBody>
          <a:bodyPr wrap="none" lIns="45720" rIns="45720" anchor="t">
            <a:spAutoFit/>
          </a:bodyPr>
          <a:lstStyle/>
          <a:p>
            <a:pPr algn="ctr">
              <a:spcAft>
                <a:spcPts val="0"/>
              </a:spcAft>
            </a:pPr>
            <a:r>
              <a:rPr sz="900" b="0" i="0">
                <a:solidFill>
                  <a:srgbClr val="253042"/>
                </a:solidFill>
                <a:latin typeface="Aptos"/>
              </a:rPr>
              <a:t>customer • supplier • worker</a:t>
            </a:r>
          </a:p>
        </p:txBody>
      </p:sp>
      <p:sp>
        <p:nvSpPr>
          <p:cNvPr id="13" name="Rounded Rectangle 12"/>
          <p:cNvSpPr/>
          <p:nvPr/>
        </p:nvSpPr>
        <p:spPr>
          <a:xfrm>
            <a:off x="3246120" y="2331720"/>
            <a:ext cx="1965960" cy="658368"/>
          </a:xfrm>
          <a:prstGeom prst="roundRect">
            <a:avLst/>
          </a:prstGeom>
          <a:solidFill>
            <a:srgbClr val="F9FBFE"/>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55848" y="2441448"/>
            <a:ext cx="1746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Legal entity</a:t>
            </a:r>
          </a:p>
        </p:txBody>
      </p:sp>
      <p:sp>
        <p:nvSpPr>
          <p:cNvPr id="15" name="TextBox 14"/>
          <p:cNvSpPr txBox="1"/>
          <p:nvPr/>
        </p:nvSpPr>
        <p:spPr>
          <a:xfrm>
            <a:off x="3355848" y="2761487"/>
            <a:ext cx="1746504" cy="155447"/>
          </a:xfrm>
          <a:prstGeom prst="rect">
            <a:avLst/>
          </a:prstGeom>
          <a:noFill/>
        </p:spPr>
        <p:txBody>
          <a:bodyPr wrap="none" lIns="45720" rIns="45720" anchor="t">
            <a:spAutoFit/>
          </a:bodyPr>
          <a:lstStyle/>
          <a:p>
            <a:pPr algn="ctr">
              <a:spcAft>
                <a:spcPts val="0"/>
              </a:spcAft>
            </a:pPr>
            <a:r>
              <a:rPr sz="900" b="0" i="0">
                <a:solidFill>
                  <a:srgbClr val="253042"/>
                </a:solidFill>
                <a:latin typeface="Aptos"/>
              </a:rPr>
              <a:t>company • book • currency</a:t>
            </a:r>
          </a:p>
        </p:txBody>
      </p:sp>
      <p:sp>
        <p:nvSpPr>
          <p:cNvPr id="16" name="Rounded Rectangle 15"/>
          <p:cNvSpPr/>
          <p:nvPr/>
        </p:nvSpPr>
        <p:spPr>
          <a:xfrm>
            <a:off x="914400" y="3291839"/>
            <a:ext cx="1965960" cy="658368"/>
          </a:xfrm>
          <a:prstGeom prst="roundRect">
            <a:avLst/>
          </a:prstGeom>
          <a:solidFill>
            <a:srgbClr val="F9FBFE"/>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24128" y="3401568"/>
            <a:ext cx="1746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Transaction</a:t>
            </a:r>
          </a:p>
        </p:txBody>
      </p:sp>
      <p:sp>
        <p:nvSpPr>
          <p:cNvPr id="18" name="TextBox 17"/>
          <p:cNvSpPr txBox="1"/>
          <p:nvPr/>
        </p:nvSpPr>
        <p:spPr>
          <a:xfrm>
            <a:off x="1024128" y="3721607"/>
            <a:ext cx="1746504" cy="155447"/>
          </a:xfrm>
          <a:prstGeom prst="rect">
            <a:avLst/>
          </a:prstGeom>
          <a:noFill/>
        </p:spPr>
        <p:txBody>
          <a:bodyPr wrap="none" lIns="45720" rIns="45720" anchor="t">
            <a:spAutoFit/>
          </a:bodyPr>
          <a:lstStyle/>
          <a:p>
            <a:pPr algn="ctr">
              <a:spcAft>
                <a:spcPts val="0"/>
              </a:spcAft>
            </a:pPr>
            <a:r>
              <a:rPr sz="900" b="0" i="0">
                <a:solidFill>
                  <a:srgbClr val="253042"/>
                </a:solidFill>
                <a:latin typeface="Aptos"/>
              </a:rPr>
              <a:t>order • invoice • payment</a:t>
            </a:r>
          </a:p>
        </p:txBody>
      </p:sp>
      <p:sp>
        <p:nvSpPr>
          <p:cNvPr id="19" name="Rounded Rectangle 18"/>
          <p:cNvSpPr/>
          <p:nvPr/>
        </p:nvSpPr>
        <p:spPr>
          <a:xfrm>
            <a:off x="3246120" y="3291839"/>
            <a:ext cx="1965960" cy="658368"/>
          </a:xfrm>
          <a:prstGeom prst="roundRect">
            <a:avLst/>
          </a:prstGeom>
          <a:solidFill>
            <a:srgbClr val="F9FBFE"/>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55848" y="3401568"/>
            <a:ext cx="1746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Resource</a:t>
            </a:r>
          </a:p>
        </p:txBody>
      </p:sp>
      <p:sp>
        <p:nvSpPr>
          <p:cNvPr id="21" name="TextBox 20"/>
          <p:cNvSpPr txBox="1"/>
          <p:nvPr/>
        </p:nvSpPr>
        <p:spPr>
          <a:xfrm>
            <a:off x="3355848" y="3721607"/>
            <a:ext cx="1746504" cy="155447"/>
          </a:xfrm>
          <a:prstGeom prst="rect">
            <a:avLst/>
          </a:prstGeom>
          <a:noFill/>
        </p:spPr>
        <p:txBody>
          <a:bodyPr wrap="none" lIns="45720" rIns="45720" anchor="t">
            <a:spAutoFit/>
          </a:bodyPr>
          <a:lstStyle/>
          <a:p>
            <a:pPr algn="ctr">
              <a:spcAft>
                <a:spcPts val="0"/>
              </a:spcAft>
            </a:pPr>
            <a:r>
              <a:rPr sz="900" b="0" i="0">
                <a:solidFill>
                  <a:srgbClr val="253042"/>
                </a:solidFill>
                <a:latin typeface="Aptos"/>
              </a:rPr>
              <a:t>item • asset • inventory</a:t>
            </a:r>
          </a:p>
        </p:txBody>
      </p:sp>
      <p:sp>
        <p:nvSpPr>
          <p:cNvPr id="22" name="Rounded Rectangle 21"/>
          <p:cNvSpPr/>
          <p:nvPr/>
        </p:nvSpPr>
        <p:spPr>
          <a:xfrm>
            <a:off x="914400" y="4251960"/>
            <a:ext cx="1965960" cy="658368"/>
          </a:xfrm>
          <a:prstGeom prst="roundRect">
            <a:avLst/>
          </a:prstGeom>
          <a:solidFill>
            <a:srgbClr val="F9FBFE"/>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24128" y="4361688"/>
            <a:ext cx="1746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Accounting</a:t>
            </a:r>
          </a:p>
        </p:txBody>
      </p:sp>
      <p:sp>
        <p:nvSpPr>
          <p:cNvPr id="24" name="TextBox 23"/>
          <p:cNvSpPr txBox="1"/>
          <p:nvPr/>
        </p:nvSpPr>
        <p:spPr>
          <a:xfrm>
            <a:off x="1024128" y="4681728"/>
            <a:ext cx="1746504" cy="155447"/>
          </a:xfrm>
          <a:prstGeom prst="rect">
            <a:avLst/>
          </a:prstGeom>
          <a:noFill/>
        </p:spPr>
        <p:txBody>
          <a:bodyPr wrap="none" lIns="45720" rIns="45720" anchor="t">
            <a:spAutoFit/>
          </a:bodyPr>
          <a:lstStyle/>
          <a:p>
            <a:pPr algn="ctr">
              <a:spcAft>
                <a:spcPts val="0"/>
              </a:spcAft>
            </a:pPr>
            <a:r>
              <a:rPr sz="900" b="0" i="0">
                <a:solidFill>
                  <a:srgbClr val="253042"/>
                </a:solidFill>
                <a:latin typeface="Aptos"/>
              </a:rPr>
              <a:t>journal • account • period</a:t>
            </a:r>
          </a:p>
        </p:txBody>
      </p:sp>
      <p:sp>
        <p:nvSpPr>
          <p:cNvPr id="25" name="Rounded Rectangle 24"/>
          <p:cNvSpPr/>
          <p:nvPr/>
        </p:nvSpPr>
        <p:spPr>
          <a:xfrm>
            <a:off x="6080760" y="1527048"/>
            <a:ext cx="5532120" cy="43434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9360" y="1783080"/>
            <a:ext cx="5074920" cy="274320"/>
          </a:xfrm>
          <a:prstGeom prst="rect">
            <a:avLst/>
          </a:prstGeom>
          <a:noFill/>
        </p:spPr>
        <p:txBody>
          <a:bodyPr wrap="none" lIns="45720" rIns="45720" anchor="t">
            <a:spAutoFit/>
          </a:bodyPr>
          <a:lstStyle/>
          <a:p>
            <a:pPr algn="ctr">
              <a:spcAft>
                <a:spcPts val="0"/>
              </a:spcAft>
            </a:pPr>
            <a:r>
              <a:rPr sz="1600" b="1" i="0">
                <a:solidFill>
                  <a:srgbClr val="0C1930"/>
                </a:solidFill>
                <a:latin typeface="Aptos"/>
              </a:rPr>
              <a:t>Permission-aware AI retrieval</a:t>
            </a:r>
          </a:p>
        </p:txBody>
      </p:sp>
      <p:sp>
        <p:nvSpPr>
          <p:cNvPr id="27" name="Rounded Rectangle 26"/>
          <p:cNvSpPr/>
          <p:nvPr/>
        </p:nvSpPr>
        <p:spPr>
          <a:xfrm>
            <a:off x="6400800" y="2377440"/>
            <a:ext cx="1234440" cy="749808"/>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10528" y="2487168"/>
            <a:ext cx="101498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User question</a:t>
            </a:r>
          </a:p>
        </p:txBody>
      </p:sp>
      <p:sp>
        <p:nvSpPr>
          <p:cNvPr id="29" name="TextBox 28"/>
          <p:cNvSpPr txBox="1"/>
          <p:nvPr/>
        </p:nvSpPr>
        <p:spPr>
          <a:xfrm>
            <a:off x="6510528" y="2807208"/>
            <a:ext cx="101498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tenant + role</a:t>
            </a:r>
          </a:p>
        </p:txBody>
      </p:sp>
      <p:sp>
        <p:nvSpPr>
          <p:cNvPr id="30" name="Rounded Rectangle 29"/>
          <p:cNvSpPr/>
          <p:nvPr/>
        </p:nvSpPr>
        <p:spPr>
          <a:xfrm>
            <a:off x="7973568" y="2377440"/>
            <a:ext cx="1234440" cy="749808"/>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083296" y="2487168"/>
            <a:ext cx="101498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Policy check</a:t>
            </a:r>
          </a:p>
        </p:txBody>
      </p:sp>
      <p:sp>
        <p:nvSpPr>
          <p:cNvPr id="32" name="TextBox 31"/>
          <p:cNvSpPr txBox="1"/>
          <p:nvPr/>
        </p:nvSpPr>
        <p:spPr>
          <a:xfrm>
            <a:off x="8083296" y="2807208"/>
            <a:ext cx="101498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row + field ACL</a:t>
            </a:r>
          </a:p>
        </p:txBody>
      </p:sp>
      <p:sp>
        <p:nvSpPr>
          <p:cNvPr id="33" name="Rounded Rectangle 32"/>
          <p:cNvSpPr/>
          <p:nvPr/>
        </p:nvSpPr>
        <p:spPr>
          <a:xfrm>
            <a:off x="9546336" y="2377440"/>
            <a:ext cx="1600200" cy="749808"/>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656063" y="2487168"/>
            <a:ext cx="138074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Hybrid retrieval</a:t>
            </a:r>
          </a:p>
        </p:txBody>
      </p:sp>
      <p:sp>
        <p:nvSpPr>
          <p:cNvPr id="35" name="TextBox 34"/>
          <p:cNvSpPr txBox="1"/>
          <p:nvPr/>
        </p:nvSpPr>
        <p:spPr>
          <a:xfrm>
            <a:off x="9656063" y="2807208"/>
            <a:ext cx="138074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SQL + vector + metadata</a:t>
            </a:r>
          </a:p>
        </p:txBody>
      </p:sp>
      <p:cxnSp>
        <p:nvCxnSpPr>
          <p:cNvPr id="36" name="Connector 35"/>
          <p:cNvCxnSpPr/>
          <p:nvPr/>
        </p:nvCxnSpPr>
        <p:spPr>
          <a:xfrm>
            <a:off x="7653527" y="2752344"/>
            <a:ext cx="274321" cy="0"/>
          </a:xfrm>
          <a:prstGeom prst="line">
            <a:avLst/>
          </a:prstGeom>
          <a:ln w="1651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226296" y="2752344"/>
            <a:ext cx="274320" cy="0"/>
          </a:xfrm>
          <a:prstGeom prst="line">
            <a:avLst/>
          </a:prstGeom>
          <a:ln w="16510">
            <a:solidFill>
              <a:srgbClr val="4385F5"/>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400800" y="3794760"/>
            <a:ext cx="1463040" cy="749808"/>
          </a:xfrm>
          <a:prstGeom prst="roundRect">
            <a:avLst/>
          </a:prstGeom>
          <a:solidFill>
            <a:srgbClr val="FFFFFF"/>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510528" y="3904488"/>
            <a:ext cx="124358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Grounded context</a:t>
            </a:r>
          </a:p>
        </p:txBody>
      </p:sp>
      <p:sp>
        <p:nvSpPr>
          <p:cNvPr id="40" name="TextBox 39"/>
          <p:cNvSpPr txBox="1"/>
          <p:nvPr/>
        </p:nvSpPr>
        <p:spPr>
          <a:xfrm>
            <a:off x="6510528" y="4224528"/>
            <a:ext cx="124358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freshness + citations</a:t>
            </a:r>
          </a:p>
        </p:txBody>
      </p:sp>
      <p:sp>
        <p:nvSpPr>
          <p:cNvPr id="41" name="Rounded Rectangle 40"/>
          <p:cNvSpPr/>
          <p:nvPr/>
        </p:nvSpPr>
        <p:spPr>
          <a:xfrm>
            <a:off x="8275320" y="3794760"/>
            <a:ext cx="1371600" cy="749808"/>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385048" y="3904488"/>
            <a:ext cx="115214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LLM gateway</a:t>
            </a:r>
          </a:p>
        </p:txBody>
      </p:sp>
      <p:sp>
        <p:nvSpPr>
          <p:cNvPr id="43" name="TextBox 42"/>
          <p:cNvSpPr txBox="1"/>
          <p:nvPr/>
        </p:nvSpPr>
        <p:spPr>
          <a:xfrm>
            <a:off x="8385048" y="4224528"/>
            <a:ext cx="115214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prompt + guardrails</a:t>
            </a:r>
          </a:p>
        </p:txBody>
      </p:sp>
      <p:sp>
        <p:nvSpPr>
          <p:cNvPr id="44" name="Rounded Rectangle 43"/>
          <p:cNvSpPr/>
          <p:nvPr/>
        </p:nvSpPr>
        <p:spPr>
          <a:xfrm>
            <a:off x="10058400" y="3794760"/>
            <a:ext cx="1097280" cy="749808"/>
          </a:xfrm>
          <a:prstGeom prst="roundRect">
            <a:avLst/>
          </a:prstGeom>
          <a:solidFill>
            <a:srgbClr val="FFFFFF"/>
          </a:solidFill>
          <a:ln w="15240">
            <a:solidFill>
              <a:srgbClr val="E34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168128" y="3904488"/>
            <a:ext cx="8778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Answer</a:t>
            </a:r>
          </a:p>
        </p:txBody>
      </p:sp>
      <p:sp>
        <p:nvSpPr>
          <p:cNvPr id="46" name="TextBox 45"/>
          <p:cNvSpPr txBox="1"/>
          <p:nvPr/>
        </p:nvSpPr>
        <p:spPr>
          <a:xfrm>
            <a:off x="10168128" y="4224528"/>
            <a:ext cx="87782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cite or abstain</a:t>
            </a:r>
          </a:p>
        </p:txBody>
      </p:sp>
      <p:cxnSp>
        <p:nvCxnSpPr>
          <p:cNvPr id="47" name="Connector 46"/>
          <p:cNvCxnSpPr/>
          <p:nvPr/>
        </p:nvCxnSpPr>
        <p:spPr>
          <a:xfrm flipH="1">
            <a:off x="7315200" y="3154680"/>
            <a:ext cx="3017520" cy="594359"/>
          </a:xfrm>
          <a:prstGeom prst="line">
            <a:avLst/>
          </a:prstGeom>
          <a:ln w="1651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882127" y="4169663"/>
            <a:ext cx="347473" cy="0"/>
          </a:xfrm>
          <a:prstGeom prst="line">
            <a:avLst/>
          </a:prstGeom>
          <a:ln w="16510">
            <a:solidFill>
              <a:srgbClr val="FF9F4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665208" y="4169663"/>
            <a:ext cx="347472" cy="0"/>
          </a:xfrm>
          <a:prstGeom prst="line">
            <a:avLst/>
          </a:prstGeom>
          <a:ln w="16510">
            <a:solidFill>
              <a:srgbClr val="39B54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400800" y="5074920"/>
            <a:ext cx="4800600" cy="320040"/>
          </a:xfrm>
          <a:prstGeom prst="rect">
            <a:avLst/>
          </a:prstGeom>
          <a:noFill/>
        </p:spPr>
        <p:txBody>
          <a:bodyPr wrap="none" lIns="45720" rIns="45720" anchor="t">
            <a:spAutoFit/>
          </a:bodyPr>
          <a:lstStyle/>
          <a:p>
            <a:pPr algn="ctr">
              <a:spcAft>
                <a:spcPts val="0"/>
              </a:spcAft>
            </a:pPr>
            <a:r>
              <a:rPr sz="1050" b="1" i="0">
                <a:solidFill>
                  <a:srgbClr val="E34C59"/>
                </a:solidFill>
                <a:latin typeface="Aptos"/>
              </a:rPr>
              <a:t>Never put unrestricted tenant data into prompts, caches, traces, or vector indexes.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Govern the AI lifecycle like a data product</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Trace every answer and prediction to authorized data, model version, policy, and evaluation result.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43</a:t>
            </a:r>
          </a:p>
        </p:txBody>
      </p:sp>
      <p:sp>
        <p:nvSpPr>
          <p:cNvPr id="8" name="Rounded Rectangle 7"/>
          <p:cNvSpPr/>
          <p:nvPr/>
        </p:nvSpPr>
        <p:spPr>
          <a:xfrm>
            <a:off x="502920" y="1645920"/>
            <a:ext cx="1600200" cy="3063240"/>
          </a:xfrm>
          <a:prstGeom prst="roundRect">
            <a:avLst/>
          </a:prstGeom>
          <a:solidFill>
            <a:srgbClr val="FFFFFF"/>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02920" y="1645920"/>
            <a:ext cx="1600200" cy="521207"/>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INGEST</a:t>
            </a:r>
          </a:p>
        </p:txBody>
      </p:sp>
      <p:sp>
        <p:nvSpPr>
          <p:cNvPr id="11" name="TextBox 10"/>
          <p:cNvSpPr txBox="1"/>
          <p:nvPr/>
        </p:nvSpPr>
        <p:spPr>
          <a:xfrm>
            <a:off x="658368" y="2487168"/>
            <a:ext cx="1289304" cy="118872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contract • consent • classification</a:t>
            </a:r>
          </a:p>
        </p:txBody>
      </p:sp>
      <p:sp>
        <p:nvSpPr>
          <p:cNvPr id="12" name="Rounded Rectangle 11"/>
          <p:cNvSpPr/>
          <p:nvPr/>
        </p:nvSpPr>
        <p:spPr>
          <a:xfrm>
            <a:off x="1069848" y="4087368"/>
            <a:ext cx="457200" cy="310896"/>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6984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1</a:t>
            </a:r>
          </a:p>
        </p:txBody>
      </p:sp>
      <p:cxnSp>
        <p:nvCxnSpPr>
          <p:cNvPr id="14" name="Connector 13"/>
          <p:cNvCxnSpPr/>
          <p:nvPr/>
        </p:nvCxnSpPr>
        <p:spPr>
          <a:xfrm>
            <a:off x="2112264" y="3163824"/>
            <a:ext cx="246888" cy="0"/>
          </a:xfrm>
          <a:prstGeom prst="line">
            <a:avLst/>
          </a:prstGeom>
          <a:ln w="15240">
            <a:solidFill>
              <a:srgbClr val="74849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3160" y="1645920"/>
            <a:ext cx="1600200" cy="3063240"/>
          </a:xfrm>
          <a:prstGeom prst="roundRect">
            <a:avLst/>
          </a:prstGeom>
          <a:solidFill>
            <a:srgbClr val="FFFFFF"/>
          </a:solidFill>
          <a:ln w="1270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423160" y="1645920"/>
            <a:ext cx="1600200" cy="521207"/>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2316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CURATE</a:t>
            </a:r>
          </a:p>
        </p:txBody>
      </p:sp>
      <p:sp>
        <p:nvSpPr>
          <p:cNvPr id="18" name="TextBox 17"/>
          <p:cNvSpPr txBox="1"/>
          <p:nvPr/>
        </p:nvSpPr>
        <p:spPr>
          <a:xfrm>
            <a:off x="2578608" y="2487168"/>
            <a:ext cx="1289304" cy="118872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quality • lineage • point-in-time</a:t>
            </a:r>
          </a:p>
        </p:txBody>
      </p:sp>
      <p:sp>
        <p:nvSpPr>
          <p:cNvPr id="19" name="Rounded Rectangle 18"/>
          <p:cNvSpPr/>
          <p:nvPr/>
        </p:nvSpPr>
        <p:spPr>
          <a:xfrm>
            <a:off x="2990088" y="4087368"/>
            <a:ext cx="457200" cy="310896"/>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9008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2</a:t>
            </a:r>
          </a:p>
        </p:txBody>
      </p:sp>
      <p:cxnSp>
        <p:nvCxnSpPr>
          <p:cNvPr id="21" name="Connector 20"/>
          <p:cNvCxnSpPr/>
          <p:nvPr/>
        </p:nvCxnSpPr>
        <p:spPr>
          <a:xfrm>
            <a:off x="4032504" y="3163824"/>
            <a:ext cx="246888" cy="0"/>
          </a:xfrm>
          <a:prstGeom prst="line">
            <a:avLst/>
          </a:prstGeom>
          <a:ln w="15240">
            <a:solidFill>
              <a:srgbClr val="74849A"/>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343400" y="1645920"/>
            <a:ext cx="1600200" cy="3063240"/>
          </a:xfrm>
          <a:prstGeom prst="roundRect">
            <a:avLst/>
          </a:prstGeom>
          <a:solidFill>
            <a:srgbClr val="FFFFFF"/>
          </a:solidFill>
          <a:ln w="1270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4343400" y="1645920"/>
            <a:ext cx="1600200" cy="521207"/>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4340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TRAIN / INDEX</a:t>
            </a:r>
          </a:p>
        </p:txBody>
      </p:sp>
      <p:sp>
        <p:nvSpPr>
          <p:cNvPr id="25" name="TextBox 24"/>
          <p:cNvSpPr txBox="1"/>
          <p:nvPr/>
        </p:nvSpPr>
        <p:spPr>
          <a:xfrm>
            <a:off x="4498848" y="2487168"/>
            <a:ext cx="1289304" cy="118872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dataset snapshot • model/embed version</a:t>
            </a:r>
          </a:p>
        </p:txBody>
      </p:sp>
      <p:sp>
        <p:nvSpPr>
          <p:cNvPr id="26" name="Rounded Rectangle 25"/>
          <p:cNvSpPr/>
          <p:nvPr/>
        </p:nvSpPr>
        <p:spPr>
          <a:xfrm>
            <a:off x="4910328" y="4087368"/>
            <a:ext cx="457200" cy="310896"/>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91032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3</a:t>
            </a:r>
          </a:p>
        </p:txBody>
      </p:sp>
      <p:cxnSp>
        <p:nvCxnSpPr>
          <p:cNvPr id="28" name="Connector 27"/>
          <p:cNvCxnSpPr/>
          <p:nvPr/>
        </p:nvCxnSpPr>
        <p:spPr>
          <a:xfrm>
            <a:off x="5952744" y="3163824"/>
            <a:ext cx="246887" cy="0"/>
          </a:xfrm>
          <a:prstGeom prst="line">
            <a:avLst/>
          </a:prstGeom>
          <a:ln w="15240">
            <a:solidFill>
              <a:srgbClr val="74849A"/>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263640" y="1645920"/>
            <a:ext cx="1600200" cy="3063240"/>
          </a:xfrm>
          <a:prstGeom prst="roundRect">
            <a:avLst/>
          </a:prstGeom>
          <a:solidFill>
            <a:srgbClr val="FFFFFF"/>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263640" y="1645920"/>
            <a:ext cx="1600200" cy="521207"/>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6364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SERVE</a:t>
            </a:r>
          </a:p>
        </p:txBody>
      </p:sp>
      <p:sp>
        <p:nvSpPr>
          <p:cNvPr id="32" name="TextBox 31"/>
          <p:cNvSpPr txBox="1"/>
          <p:nvPr/>
        </p:nvSpPr>
        <p:spPr>
          <a:xfrm>
            <a:off x="6419088" y="2487168"/>
            <a:ext cx="1289304" cy="118872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tenant policy • prompt • retrieval • cache</a:t>
            </a:r>
          </a:p>
        </p:txBody>
      </p:sp>
      <p:sp>
        <p:nvSpPr>
          <p:cNvPr id="33" name="Rounded Rectangle 32"/>
          <p:cNvSpPr/>
          <p:nvPr/>
        </p:nvSpPr>
        <p:spPr>
          <a:xfrm>
            <a:off x="6830568" y="4087368"/>
            <a:ext cx="457200" cy="310896"/>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3056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4</a:t>
            </a:r>
          </a:p>
        </p:txBody>
      </p:sp>
      <p:cxnSp>
        <p:nvCxnSpPr>
          <p:cNvPr id="35" name="Connector 34"/>
          <p:cNvCxnSpPr/>
          <p:nvPr/>
        </p:nvCxnSpPr>
        <p:spPr>
          <a:xfrm>
            <a:off x="7872984" y="3163824"/>
            <a:ext cx="246888" cy="0"/>
          </a:xfrm>
          <a:prstGeom prst="line">
            <a:avLst/>
          </a:prstGeom>
          <a:ln w="15240">
            <a:solidFill>
              <a:srgbClr val="74849A"/>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183880" y="1645920"/>
            <a:ext cx="1600200" cy="3063240"/>
          </a:xfrm>
          <a:prstGeom prst="roundRect">
            <a:avLst/>
          </a:prstGeom>
          <a:solidFill>
            <a:srgbClr val="FFFFFF"/>
          </a:solidFill>
          <a:ln w="1270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8183880" y="1645920"/>
            <a:ext cx="1600200" cy="521207"/>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18388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EVALUATE</a:t>
            </a:r>
          </a:p>
        </p:txBody>
      </p:sp>
      <p:sp>
        <p:nvSpPr>
          <p:cNvPr id="39" name="TextBox 38"/>
          <p:cNvSpPr txBox="1"/>
          <p:nvPr/>
        </p:nvSpPr>
        <p:spPr>
          <a:xfrm>
            <a:off x="8339328" y="2487168"/>
            <a:ext cx="1289304" cy="118872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groundedness • accuracy • fairness • drift</a:t>
            </a:r>
          </a:p>
        </p:txBody>
      </p:sp>
      <p:sp>
        <p:nvSpPr>
          <p:cNvPr id="40" name="Rounded Rectangle 39"/>
          <p:cNvSpPr/>
          <p:nvPr/>
        </p:nvSpPr>
        <p:spPr>
          <a:xfrm>
            <a:off x="8750808" y="4087368"/>
            <a:ext cx="457200" cy="310896"/>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75080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5</a:t>
            </a:r>
          </a:p>
        </p:txBody>
      </p:sp>
      <p:cxnSp>
        <p:nvCxnSpPr>
          <p:cNvPr id="42" name="Connector 41"/>
          <p:cNvCxnSpPr/>
          <p:nvPr/>
        </p:nvCxnSpPr>
        <p:spPr>
          <a:xfrm>
            <a:off x="9793224" y="3163824"/>
            <a:ext cx="246888" cy="0"/>
          </a:xfrm>
          <a:prstGeom prst="line">
            <a:avLst/>
          </a:prstGeom>
          <a:ln w="15240">
            <a:solidFill>
              <a:srgbClr val="74849A"/>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10104120" y="1645920"/>
            <a:ext cx="1600200" cy="3063240"/>
          </a:xfrm>
          <a:prstGeom prst="roundRect">
            <a:avLst/>
          </a:prstGeom>
          <a:solidFill>
            <a:srgbClr val="FFFFFF"/>
          </a:solidFill>
          <a:ln w="12700">
            <a:solidFill>
              <a:srgbClr val="E34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10104120" y="1645920"/>
            <a:ext cx="1600200" cy="521207"/>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10412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ACT</a:t>
            </a:r>
          </a:p>
        </p:txBody>
      </p:sp>
      <p:sp>
        <p:nvSpPr>
          <p:cNvPr id="46" name="TextBox 45"/>
          <p:cNvSpPr txBox="1"/>
          <p:nvPr/>
        </p:nvSpPr>
        <p:spPr>
          <a:xfrm>
            <a:off x="10259568" y="2487168"/>
            <a:ext cx="1289304" cy="118872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approval • idempotency • audit • rollback</a:t>
            </a:r>
          </a:p>
        </p:txBody>
      </p:sp>
      <p:sp>
        <p:nvSpPr>
          <p:cNvPr id="47" name="Rounded Rectangle 46"/>
          <p:cNvSpPr/>
          <p:nvPr/>
        </p:nvSpPr>
        <p:spPr>
          <a:xfrm>
            <a:off x="10671048" y="4087368"/>
            <a:ext cx="457200" cy="310896"/>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67104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6</a:t>
            </a:r>
          </a:p>
        </p:txBody>
      </p:sp>
      <p:sp>
        <p:nvSpPr>
          <p:cNvPr id="49" name="Rounded Rectangle 48"/>
          <p:cNvSpPr/>
          <p:nvPr/>
        </p:nvSpPr>
        <p:spPr>
          <a:xfrm>
            <a:off x="822960" y="5138928"/>
            <a:ext cx="10515600" cy="804672"/>
          </a:xfrm>
          <a:prstGeom prst="roundRect">
            <a:avLst/>
          </a:prstGeom>
          <a:solidFill>
            <a:srgbClr val="FFF6EA"/>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69264" y="5257800"/>
            <a:ext cx="10241280" cy="621792"/>
          </a:xfrm>
          <a:prstGeom prst="rect">
            <a:avLst/>
          </a:prstGeom>
          <a:noFill/>
        </p:spPr>
        <p:txBody>
          <a:bodyPr wrap="none" lIns="45720" rIns="45720" anchor="t">
            <a:spAutoFit/>
          </a:bodyPr>
          <a:lstStyle/>
          <a:p>
            <a:pPr algn="l">
              <a:spcAft>
                <a:spcPts val="0"/>
              </a:spcAft>
            </a:pPr>
            <a:r>
              <a:rPr sz="1100" b="1" i="0">
                <a:solidFill>
                  <a:srgbClr val="0C1930"/>
                </a:solidFill>
                <a:latin typeface="Aptos"/>
              </a:rPr>
              <a:t>For write-back automation, treat the LLM as an untrusted planner: validate against ERP rules, require approval by risk tier, use an idempotency key, and log before/after state.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Tenant-aware sizing, month-end scale, and resilience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Capacity planning must consider both fleet totals and the largest tenant or legal entity.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44</a:t>
            </a:r>
          </a:p>
        </p:txBody>
      </p:sp>
      <p:sp>
        <p:nvSpPr>
          <p:cNvPr id="8" name="Rounded Rectangle 7"/>
          <p:cNvSpPr/>
          <p:nvPr/>
        </p:nvSpPr>
        <p:spPr>
          <a:xfrm>
            <a:off x="594360" y="1536192"/>
            <a:ext cx="5669280" cy="42519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783080"/>
            <a:ext cx="5120640" cy="274320"/>
          </a:xfrm>
          <a:prstGeom prst="rect">
            <a:avLst/>
          </a:prstGeom>
          <a:noFill/>
        </p:spPr>
        <p:txBody>
          <a:bodyPr wrap="none" lIns="45720" rIns="45720" anchor="t">
            <a:spAutoFit/>
          </a:bodyPr>
          <a:lstStyle/>
          <a:p>
            <a:pPr algn="l">
              <a:spcAft>
                <a:spcPts val="0"/>
              </a:spcAft>
            </a:pPr>
            <a:r>
              <a:rPr sz="1500" b="1" i="0">
                <a:solidFill>
                  <a:srgbClr val="0C1930"/>
                </a:solidFill>
                <a:latin typeface="Aptos"/>
              </a:rPr>
              <a:t>Illustrative sizing</a:t>
            </a:r>
          </a:p>
        </p:txBody>
      </p:sp>
      <p:sp>
        <p:nvSpPr>
          <p:cNvPr id="10" name="TextBox 9"/>
          <p:cNvSpPr txBox="1"/>
          <p:nvPr/>
        </p:nvSpPr>
        <p:spPr>
          <a:xfrm>
            <a:off x="896112" y="2304288"/>
            <a:ext cx="5074920" cy="2697480"/>
          </a:xfrm>
          <a:prstGeom prst="rect">
            <a:avLst/>
          </a:prstGeom>
          <a:noFill/>
        </p:spPr>
        <p:txBody>
          <a:bodyPr wrap="none" lIns="64008" tIns="27432" rIns="36576" bIns="27432">
            <a:spAutoFit/>
          </a:bodyPr>
          <a:lstStyle/>
          <a:p>
            <a:pPr>
              <a:lnSpc>
                <a:spcPct val="105000"/>
              </a:lnSpc>
              <a:spcAft>
                <a:spcPts val="1000"/>
              </a:spcAft>
            </a:pPr>
            <a:r>
              <a:rPr b="1">
                <a:solidFill>
                  <a:srgbClr val="00AAA0"/>
                </a:solidFill>
              </a:rPr>
              <a:t>• </a:t>
            </a:r>
            <a:r>
              <a:rPr sz="1300" b="1">
                <a:solidFill>
                  <a:srgbClr val="253042"/>
                </a:solidFill>
                <a:latin typeface="Aptos"/>
              </a:rPr>
              <a:t>Fleet events/day: </a:t>
            </a:r>
            <a:r>
              <a:rPr sz="1300">
                <a:solidFill>
                  <a:srgbClr val="253042"/>
                </a:solidFill>
                <a:latin typeface="Aptos"/>
              </a:rPr>
              <a:t>8,000 tenants × 250K changes ≈ 2B changes/day</a:t>
            </a:r>
          </a:p>
          <a:p>
            <a:pPr>
              <a:lnSpc>
                <a:spcPct val="105000"/>
              </a:lnSpc>
              <a:spcAft>
                <a:spcPts val="1000"/>
              </a:spcAft>
            </a:pPr>
            <a:r>
              <a:rPr b="1">
                <a:solidFill>
                  <a:srgbClr val="00AAA0"/>
                </a:solidFill>
              </a:rPr>
              <a:t>• </a:t>
            </a:r>
            <a:r>
              <a:rPr sz="1300" b="1">
                <a:solidFill>
                  <a:srgbClr val="253042"/>
                </a:solidFill>
                <a:latin typeface="Aptos"/>
              </a:rPr>
              <a:t>Average ingest: </a:t>
            </a:r>
            <a:r>
              <a:rPr sz="1300">
                <a:solidFill>
                  <a:srgbClr val="253042"/>
                </a:solidFill>
                <a:latin typeface="Aptos"/>
              </a:rPr>
              <a:t>2B ÷ 86,400 ≈ 23K changes/sec</a:t>
            </a:r>
          </a:p>
          <a:p>
            <a:pPr>
              <a:lnSpc>
                <a:spcPct val="105000"/>
              </a:lnSpc>
              <a:spcAft>
                <a:spcPts val="1000"/>
              </a:spcAft>
            </a:pPr>
            <a:r>
              <a:rPr b="1">
                <a:solidFill>
                  <a:srgbClr val="00AAA0"/>
                </a:solidFill>
              </a:rPr>
              <a:t>• </a:t>
            </a:r>
            <a:r>
              <a:rPr sz="1300" b="1">
                <a:solidFill>
                  <a:srgbClr val="253042"/>
                </a:solidFill>
                <a:latin typeface="Aptos"/>
              </a:rPr>
              <a:t>Month-end peak: </a:t>
            </a:r>
            <a:r>
              <a:rPr sz="1300">
                <a:solidFill>
                  <a:srgbClr val="253042"/>
                </a:solidFill>
                <a:latin typeface="Aptos"/>
              </a:rPr>
              <a:t>assume 6× ≈ 139K changes/sec</a:t>
            </a:r>
          </a:p>
          <a:p>
            <a:pPr>
              <a:lnSpc>
                <a:spcPct val="105000"/>
              </a:lnSpc>
              <a:spcAft>
                <a:spcPts val="1000"/>
              </a:spcAft>
            </a:pPr>
            <a:r>
              <a:rPr b="1">
                <a:solidFill>
                  <a:srgbClr val="00AAA0"/>
                </a:solidFill>
              </a:rPr>
              <a:t>• </a:t>
            </a:r>
            <a:r>
              <a:rPr sz="1300" b="1">
                <a:solidFill>
                  <a:srgbClr val="253042"/>
                </a:solidFill>
                <a:latin typeface="Aptos"/>
              </a:rPr>
              <a:t>Raw storage: </a:t>
            </a:r>
            <a:r>
              <a:rPr sz="1300">
                <a:solidFill>
                  <a:srgbClr val="253042"/>
                </a:solidFill>
                <a:latin typeface="Aptos"/>
              </a:rPr>
              <a:t>2B × 1.2 KB ≈ 2.4 TB/day before compression</a:t>
            </a:r>
          </a:p>
          <a:p>
            <a:pPr>
              <a:lnSpc>
                <a:spcPct val="105000"/>
              </a:lnSpc>
              <a:spcAft>
                <a:spcPts val="1000"/>
              </a:spcAft>
            </a:pPr>
            <a:r>
              <a:rPr b="1">
                <a:solidFill>
                  <a:srgbClr val="00AAA0"/>
                </a:solidFill>
              </a:rPr>
              <a:t>• </a:t>
            </a:r>
            <a:r>
              <a:rPr sz="1300" b="1">
                <a:solidFill>
                  <a:srgbClr val="253042"/>
                </a:solidFill>
                <a:latin typeface="Aptos"/>
              </a:rPr>
              <a:t>Largest tenant: </a:t>
            </a:r>
            <a:r>
              <a:rPr sz="1300">
                <a:solidFill>
                  <a:srgbClr val="253042"/>
                </a:solidFill>
                <a:latin typeface="Aptos"/>
              </a:rPr>
              <a:t>may be 10–20% of peak; isolate hot keys and quotas</a:t>
            </a:r>
          </a:p>
        </p:txBody>
      </p:sp>
      <p:sp>
        <p:nvSpPr>
          <p:cNvPr id="11" name="TextBox 10"/>
          <p:cNvSpPr txBox="1"/>
          <p:nvPr/>
        </p:nvSpPr>
        <p:spPr>
          <a:xfrm>
            <a:off x="6629400" y="1783080"/>
            <a:ext cx="4709160" cy="274320"/>
          </a:xfrm>
          <a:prstGeom prst="rect">
            <a:avLst/>
          </a:prstGeom>
          <a:noFill/>
        </p:spPr>
        <p:txBody>
          <a:bodyPr wrap="none" lIns="45720" rIns="45720" anchor="t">
            <a:spAutoFit/>
          </a:bodyPr>
          <a:lstStyle/>
          <a:p>
            <a:pPr algn="l">
              <a:spcAft>
                <a:spcPts val="0"/>
              </a:spcAft>
            </a:pPr>
            <a:r>
              <a:rPr sz="1500" b="1" i="0">
                <a:solidFill>
                  <a:srgbClr val="0C1930"/>
                </a:solidFill>
                <a:latin typeface="Aptos"/>
              </a:rPr>
              <a:t>Resilience decisions</a:t>
            </a:r>
          </a:p>
        </p:txBody>
      </p:sp>
      <p:sp>
        <p:nvSpPr>
          <p:cNvPr id="12" name="Rounded Rectangle 11"/>
          <p:cNvSpPr/>
          <p:nvPr/>
        </p:nvSpPr>
        <p:spPr>
          <a:xfrm>
            <a:off x="6583680" y="2267712"/>
            <a:ext cx="4709160" cy="6858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583680" y="2267712"/>
            <a:ext cx="64008" cy="68580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93992" y="2395728"/>
            <a:ext cx="4343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Burst control</a:t>
            </a:r>
          </a:p>
        </p:txBody>
      </p:sp>
      <p:sp>
        <p:nvSpPr>
          <p:cNvPr id="15" name="TextBox 14"/>
          <p:cNvSpPr txBox="1"/>
          <p:nvPr/>
        </p:nvSpPr>
        <p:spPr>
          <a:xfrm>
            <a:off x="6793992" y="2862072"/>
            <a:ext cx="4315968" cy="0"/>
          </a:xfrm>
          <a:prstGeom prst="rect">
            <a:avLst/>
          </a:prstGeom>
          <a:noFill/>
        </p:spPr>
        <p:txBody>
          <a:bodyPr wrap="none" lIns="45720" rIns="45720" anchor="t">
            <a:spAutoFit/>
          </a:bodyPr>
          <a:lstStyle/>
          <a:p>
            <a:pPr algn="l">
              <a:spcAft>
                <a:spcPts val="0"/>
              </a:spcAft>
            </a:pPr>
            <a:r>
              <a:rPr sz="840" b="0" i="0">
                <a:solidFill>
                  <a:srgbClr val="253042"/>
                </a:solidFill>
                <a:latin typeface="Aptos"/>
              </a:rPr>
              <a:t>buffer in log; autoscale consumers; reserve month-end capacity</a:t>
            </a:r>
          </a:p>
        </p:txBody>
      </p:sp>
      <p:sp>
        <p:nvSpPr>
          <p:cNvPr id="16" name="Rounded Rectangle 15"/>
          <p:cNvSpPr/>
          <p:nvPr/>
        </p:nvSpPr>
        <p:spPr>
          <a:xfrm>
            <a:off x="6583680" y="3118104"/>
            <a:ext cx="4709160" cy="6858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583680" y="3118104"/>
            <a:ext cx="64008" cy="68580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93992" y="3246120"/>
            <a:ext cx="4343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Fairness</a:t>
            </a:r>
          </a:p>
        </p:txBody>
      </p:sp>
      <p:sp>
        <p:nvSpPr>
          <p:cNvPr id="19" name="TextBox 18"/>
          <p:cNvSpPr txBox="1"/>
          <p:nvPr/>
        </p:nvSpPr>
        <p:spPr>
          <a:xfrm>
            <a:off x="6793992" y="3712464"/>
            <a:ext cx="4315968" cy="0"/>
          </a:xfrm>
          <a:prstGeom prst="rect">
            <a:avLst/>
          </a:prstGeom>
          <a:noFill/>
        </p:spPr>
        <p:txBody>
          <a:bodyPr wrap="none" lIns="45720" rIns="45720" anchor="t">
            <a:spAutoFit/>
          </a:bodyPr>
          <a:lstStyle/>
          <a:p>
            <a:pPr algn="l">
              <a:spcAft>
                <a:spcPts val="0"/>
              </a:spcAft>
            </a:pPr>
            <a:r>
              <a:rPr sz="840" b="0" i="0">
                <a:solidFill>
                  <a:srgbClr val="253042"/>
                </a:solidFill>
                <a:latin typeface="Aptos"/>
              </a:rPr>
              <a:t>tenant quotas and weighted scheduling prevent noisy neighbors</a:t>
            </a:r>
          </a:p>
        </p:txBody>
      </p:sp>
      <p:sp>
        <p:nvSpPr>
          <p:cNvPr id="20" name="Rounded Rectangle 19"/>
          <p:cNvSpPr/>
          <p:nvPr/>
        </p:nvSpPr>
        <p:spPr>
          <a:xfrm>
            <a:off x="6583680" y="3968496"/>
            <a:ext cx="4709160" cy="6858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583680" y="3968496"/>
            <a:ext cx="64008" cy="68580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93992" y="4096511"/>
            <a:ext cx="4343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Regional design</a:t>
            </a:r>
          </a:p>
        </p:txBody>
      </p:sp>
      <p:sp>
        <p:nvSpPr>
          <p:cNvPr id="23" name="TextBox 22"/>
          <p:cNvSpPr txBox="1"/>
          <p:nvPr/>
        </p:nvSpPr>
        <p:spPr>
          <a:xfrm>
            <a:off x="6793992" y="4562856"/>
            <a:ext cx="4315968" cy="0"/>
          </a:xfrm>
          <a:prstGeom prst="rect">
            <a:avLst/>
          </a:prstGeom>
          <a:noFill/>
        </p:spPr>
        <p:txBody>
          <a:bodyPr wrap="none" lIns="45720" rIns="45720" anchor="t">
            <a:spAutoFit/>
          </a:bodyPr>
          <a:lstStyle/>
          <a:p>
            <a:pPr algn="l">
              <a:spcAft>
                <a:spcPts val="0"/>
              </a:spcAft>
            </a:pPr>
            <a:r>
              <a:rPr sz="840" b="0" i="0">
                <a:solidFill>
                  <a:srgbClr val="253042"/>
                </a:solidFill>
                <a:latin typeface="Aptos"/>
              </a:rPr>
              <a:t>respect data residency; replicate metadata and allowed data</a:t>
            </a:r>
          </a:p>
        </p:txBody>
      </p:sp>
      <p:sp>
        <p:nvSpPr>
          <p:cNvPr id="24" name="Rounded Rectangle 23"/>
          <p:cNvSpPr/>
          <p:nvPr/>
        </p:nvSpPr>
        <p:spPr>
          <a:xfrm>
            <a:off x="6583680" y="4818888"/>
            <a:ext cx="4709160" cy="6858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583680" y="4818888"/>
            <a:ext cx="64008" cy="68580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93992" y="4946903"/>
            <a:ext cx="4343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Recovery</a:t>
            </a:r>
          </a:p>
        </p:txBody>
      </p:sp>
      <p:sp>
        <p:nvSpPr>
          <p:cNvPr id="27" name="TextBox 26"/>
          <p:cNvSpPr txBox="1"/>
          <p:nvPr/>
        </p:nvSpPr>
        <p:spPr>
          <a:xfrm>
            <a:off x="6793992" y="5413248"/>
            <a:ext cx="4315968" cy="0"/>
          </a:xfrm>
          <a:prstGeom prst="rect">
            <a:avLst/>
          </a:prstGeom>
          <a:noFill/>
        </p:spPr>
        <p:txBody>
          <a:bodyPr wrap="none" lIns="45720" rIns="45720" anchor="t">
            <a:spAutoFit/>
          </a:bodyPr>
          <a:lstStyle/>
          <a:p>
            <a:pPr algn="l">
              <a:spcAft>
                <a:spcPts val="0"/>
              </a:spcAft>
            </a:pPr>
            <a:r>
              <a:rPr sz="840" b="0" i="0">
                <a:solidFill>
                  <a:srgbClr val="253042"/>
                </a:solidFill>
                <a:latin typeface="Aptos"/>
              </a:rPr>
              <a:t>tier RPO/RTO for ledger, analytics, indexes, and derived AI outputs</a:t>
            </a:r>
          </a:p>
        </p:txBody>
      </p:sp>
      <p:sp>
        <p:nvSpPr>
          <p:cNvPr id="28" name="Rounded Rectangle 27"/>
          <p:cNvSpPr/>
          <p:nvPr/>
        </p:nvSpPr>
        <p:spPr>
          <a:xfrm>
            <a:off x="1097280" y="5925312"/>
            <a:ext cx="9966960" cy="438912"/>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243584" y="6044184"/>
            <a:ext cx="9692640" cy="256031"/>
          </a:xfrm>
          <a:prstGeom prst="rect">
            <a:avLst/>
          </a:prstGeom>
          <a:noFill/>
        </p:spPr>
        <p:txBody>
          <a:bodyPr wrap="none" lIns="45720" rIns="45720" anchor="t">
            <a:spAutoFit/>
          </a:bodyPr>
          <a:lstStyle/>
          <a:p>
            <a:pPr algn="l">
              <a:spcAft>
                <a:spcPts val="0"/>
              </a:spcAft>
            </a:pPr>
            <a:r>
              <a:rPr sz="1100" b="1" i="0">
                <a:solidFill>
                  <a:srgbClr val="0C1930"/>
                </a:solidFill>
                <a:latin typeface="Aptos"/>
              </a:rPr>
              <a:t>Derived embeddings and predictions can usually be rebuilt; source transactions, audit evidence, and policy history require stronger protection.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INTERVIEW</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How to answer an AI ERP system-design prompt</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Lead with business invariants, then connect data and AI choices to tenant and financial risk.</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45</a:t>
            </a:r>
          </a:p>
        </p:txBody>
      </p:sp>
      <p:sp>
        <p:nvSpPr>
          <p:cNvPr id="8" name="Rounded Rectangle 7"/>
          <p:cNvSpPr/>
          <p:nvPr/>
        </p:nvSpPr>
        <p:spPr>
          <a:xfrm>
            <a:off x="594360" y="1417320"/>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58952" y="1600200"/>
            <a:ext cx="457200" cy="45720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1746504"/>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1</a:t>
            </a:r>
          </a:p>
        </p:txBody>
      </p:sp>
      <p:sp>
        <p:nvSpPr>
          <p:cNvPr id="11" name="TextBox 10"/>
          <p:cNvSpPr txBox="1"/>
          <p:nvPr/>
        </p:nvSpPr>
        <p:spPr>
          <a:xfrm>
            <a:off x="1417320" y="1527048"/>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Clarify modules + users</a:t>
            </a:r>
          </a:p>
        </p:txBody>
      </p:sp>
      <p:sp>
        <p:nvSpPr>
          <p:cNvPr id="12" name="TextBox 11"/>
          <p:cNvSpPr txBox="1"/>
          <p:nvPr/>
        </p:nvSpPr>
        <p:spPr>
          <a:xfrm>
            <a:off x="3246120" y="1572768"/>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Finance, HR, SCM, planners, auditors, copilots</a:t>
            </a:r>
          </a:p>
        </p:txBody>
      </p:sp>
      <p:sp>
        <p:nvSpPr>
          <p:cNvPr id="13" name="Rounded Rectangle 12"/>
          <p:cNvSpPr/>
          <p:nvPr/>
        </p:nvSpPr>
        <p:spPr>
          <a:xfrm>
            <a:off x="6263640" y="1417320"/>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28232" y="1600200"/>
            <a:ext cx="457200" cy="45720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28232" y="1746504"/>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2</a:t>
            </a:r>
          </a:p>
        </p:txBody>
      </p:sp>
      <p:sp>
        <p:nvSpPr>
          <p:cNvPr id="16" name="TextBox 15"/>
          <p:cNvSpPr txBox="1"/>
          <p:nvPr/>
        </p:nvSpPr>
        <p:spPr>
          <a:xfrm>
            <a:off x="7086600" y="1527048"/>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State invariants</a:t>
            </a:r>
          </a:p>
        </p:txBody>
      </p:sp>
      <p:sp>
        <p:nvSpPr>
          <p:cNvPr id="17" name="TextBox 16"/>
          <p:cNvSpPr txBox="1"/>
          <p:nvPr/>
        </p:nvSpPr>
        <p:spPr>
          <a:xfrm>
            <a:off x="8915400" y="1572768"/>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Tenant isolation, balanced ledger, as-of accuracy</a:t>
            </a:r>
          </a:p>
        </p:txBody>
      </p:sp>
      <p:sp>
        <p:nvSpPr>
          <p:cNvPr id="18" name="Rounded Rectangle 17"/>
          <p:cNvSpPr/>
          <p:nvPr/>
        </p:nvSpPr>
        <p:spPr>
          <a:xfrm>
            <a:off x="594360" y="2587752"/>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58952" y="2770632"/>
            <a:ext cx="457200" cy="45720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8952" y="2916936"/>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3</a:t>
            </a:r>
          </a:p>
        </p:txBody>
      </p:sp>
      <p:sp>
        <p:nvSpPr>
          <p:cNvPr id="21" name="TextBox 20"/>
          <p:cNvSpPr txBox="1"/>
          <p:nvPr/>
        </p:nvSpPr>
        <p:spPr>
          <a:xfrm>
            <a:off x="1417320" y="2697480"/>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Set SLOs</a:t>
            </a:r>
          </a:p>
        </p:txBody>
      </p:sp>
      <p:sp>
        <p:nvSpPr>
          <p:cNvPr id="22" name="TextBox 21"/>
          <p:cNvSpPr txBox="1"/>
          <p:nvPr/>
        </p:nvSpPr>
        <p:spPr>
          <a:xfrm>
            <a:off x="3246120" y="2743200"/>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CDC lag, report finality, AI response, RPO/RTO</a:t>
            </a:r>
          </a:p>
        </p:txBody>
      </p:sp>
      <p:sp>
        <p:nvSpPr>
          <p:cNvPr id="23" name="Rounded Rectangle 22"/>
          <p:cNvSpPr/>
          <p:nvPr/>
        </p:nvSpPr>
        <p:spPr>
          <a:xfrm>
            <a:off x="6263640" y="2587752"/>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428232" y="2770632"/>
            <a:ext cx="457200" cy="45720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28232" y="2916936"/>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4</a:t>
            </a:r>
          </a:p>
        </p:txBody>
      </p:sp>
      <p:sp>
        <p:nvSpPr>
          <p:cNvPr id="26" name="TextBox 25"/>
          <p:cNvSpPr txBox="1"/>
          <p:nvPr/>
        </p:nvSpPr>
        <p:spPr>
          <a:xfrm>
            <a:off x="7086600" y="2697480"/>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Size fleet + tenant</a:t>
            </a:r>
          </a:p>
        </p:txBody>
      </p:sp>
      <p:sp>
        <p:nvSpPr>
          <p:cNvPr id="27" name="TextBox 26"/>
          <p:cNvSpPr txBox="1"/>
          <p:nvPr/>
        </p:nvSpPr>
        <p:spPr>
          <a:xfrm>
            <a:off x="8915400" y="2743200"/>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Average, month-end peak, largest tenant, documents</a:t>
            </a:r>
          </a:p>
        </p:txBody>
      </p:sp>
      <p:sp>
        <p:nvSpPr>
          <p:cNvPr id="28" name="Rounded Rectangle 27"/>
          <p:cNvSpPr/>
          <p:nvPr/>
        </p:nvSpPr>
        <p:spPr>
          <a:xfrm>
            <a:off x="594360" y="3758184"/>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758952" y="3941064"/>
            <a:ext cx="457200" cy="457200"/>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58952" y="4087368"/>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5</a:t>
            </a:r>
          </a:p>
        </p:txBody>
      </p:sp>
      <p:sp>
        <p:nvSpPr>
          <p:cNvPr id="31" name="TextBox 30"/>
          <p:cNvSpPr txBox="1"/>
          <p:nvPr/>
        </p:nvSpPr>
        <p:spPr>
          <a:xfrm>
            <a:off x="1417320" y="3867912"/>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Draw 3 planes</a:t>
            </a:r>
          </a:p>
        </p:txBody>
      </p:sp>
      <p:sp>
        <p:nvSpPr>
          <p:cNvPr id="32" name="TextBox 31"/>
          <p:cNvSpPr txBox="1"/>
          <p:nvPr/>
        </p:nvSpPr>
        <p:spPr>
          <a:xfrm>
            <a:off x="3246120" y="3913632"/>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Transactional, analytical, and AI serving</a:t>
            </a:r>
          </a:p>
        </p:txBody>
      </p:sp>
      <p:sp>
        <p:nvSpPr>
          <p:cNvPr id="33" name="Rounded Rectangle 32"/>
          <p:cNvSpPr/>
          <p:nvPr/>
        </p:nvSpPr>
        <p:spPr>
          <a:xfrm>
            <a:off x="6263640" y="3758184"/>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428232" y="3941064"/>
            <a:ext cx="457200" cy="457200"/>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28232" y="4087368"/>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6</a:t>
            </a:r>
          </a:p>
        </p:txBody>
      </p:sp>
      <p:sp>
        <p:nvSpPr>
          <p:cNvPr id="36" name="TextBox 35"/>
          <p:cNvSpPr txBox="1"/>
          <p:nvPr/>
        </p:nvSpPr>
        <p:spPr>
          <a:xfrm>
            <a:off x="7086600" y="3867912"/>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Explain semantics</a:t>
            </a:r>
          </a:p>
        </p:txBody>
      </p:sp>
      <p:sp>
        <p:nvSpPr>
          <p:cNvPr id="37" name="TextBox 36"/>
          <p:cNvSpPr txBox="1"/>
          <p:nvPr/>
        </p:nvSpPr>
        <p:spPr>
          <a:xfrm>
            <a:off x="8915400" y="3913632"/>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Canonical entities, dimensions, metric definitions</a:t>
            </a:r>
          </a:p>
        </p:txBody>
      </p:sp>
      <p:sp>
        <p:nvSpPr>
          <p:cNvPr id="38" name="Rounded Rectangle 37"/>
          <p:cNvSpPr/>
          <p:nvPr/>
        </p:nvSpPr>
        <p:spPr>
          <a:xfrm>
            <a:off x="594360" y="4928616"/>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758952" y="5111496"/>
            <a:ext cx="457200" cy="457200"/>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58952" y="5257800"/>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7</a:t>
            </a:r>
          </a:p>
        </p:txBody>
      </p:sp>
      <p:sp>
        <p:nvSpPr>
          <p:cNvPr id="41" name="TextBox 40"/>
          <p:cNvSpPr txBox="1"/>
          <p:nvPr/>
        </p:nvSpPr>
        <p:spPr>
          <a:xfrm>
            <a:off x="1417320" y="5038344"/>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Prove recovery</a:t>
            </a:r>
          </a:p>
        </p:txBody>
      </p:sp>
      <p:sp>
        <p:nvSpPr>
          <p:cNvPr id="42" name="TextBox 41"/>
          <p:cNvSpPr txBox="1"/>
          <p:nvPr/>
        </p:nvSpPr>
        <p:spPr>
          <a:xfrm>
            <a:off x="3246120" y="5084064"/>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Replay, reconciliation, backfill, schema migration</a:t>
            </a:r>
          </a:p>
        </p:txBody>
      </p:sp>
      <p:sp>
        <p:nvSpPr>
          <p:cNvPr id="43" name="Rounded Rectangle 42"/>
          <p:cNvSpPr/>
          <p:nvPr/>
        </p:nvSpPr>
        <p:spPr>
          <a:xfrm>
            <a:off x="6263640" y="4928616"/>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6428232" y="5111496"/>
            <a:ext cx="457200" cy="457200"/>
          </a:xfrm>
          <a:prstGeom prst="roundRect">
            <a:avLst/>
          </a:prstGeom>
          <a:solidFill>
            <a:srgbClr val="14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28232" y="5257800"/>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8</a:t>
            </a:r>
          </a:p>
        </p:txBody>
      </p:sp>
      <p:sp>
        <p:nvSpPr>
          <p:cNvPr id="46" name="TextBox 45"/>
          <p:cNvSpPr txBox="1"/>
          <p:nvPr/>
        </p:nvSpPr>
        <p:spPr>
          <a:xfrm>
            <a:off x="7086600" y="5038344"/>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Prove AI safety</a:t>
            </a:r>
          </a:p>
        </p:txBody>
      </p:sp>
      <p:sp>
        <p:nvSpPr>
          <p:cNvPr id="47" name="TextBox 46"/>
          <p:cNvSpPr txBox="1"/>
          <p:nvPr/>
        </p:nvSpPr>
        <p:spPr>
          <a:xfrm>
            <a:off x="8915400" y="5084064"/>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Authorization, grounding, evaluation, approval, audit</a:t>
            </a:r>
          </a:p>
        </p:txBody>
      </p:sp>
      <p:sp>
        <p:nvSpPr>
          <p:cNvPr id="48" name="TextBox 47"/>
          <p:cNvSpPr txBox="1"/>
          <p:nvPr/>
        </p:nvSpPr>
        <p:spPr>
          <a:xfrm>
            <a:off x="914400" y="6080760"/>
            <a:ext cx="10332720" cy="256032"/>
          </a:xfrm>
          <a:prstGeom prst="rect">
            <a:avLst/>
          </a:prstGeom>
          <a:noFill/>
        </p:spPr>
        <p:txBody>
          <a:bodyPr wrap="none" lIns="45720" rIns="45720" anchor="t">
            <a:spAutoFit/>
          </a:bodyPr>
          <a:lstStyle/>
          <a:p>
            <a:pPr algn="ctr">
              <a:spcAft>
                <a:spcPts val="0"/>
              </a:spcAft>
            </a:pPr>
            <a:r>
              <a:rPr sz="1050" b="1" i="0">
                <a:solidFill>
                  <a:srgbClr val="007874"/>
                </a:solidFill>
                <a:latin typeface="Aptos"/>
              </a:rPr>
              <a:t>Close with the highest-risk trade-off: correctness vs. freshness, isolation vs. cost, or automation vs. control.</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INTERVIEW</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Complex AI ERP interview Q&amp;A — 1 to 4</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Use the short answer on the slide; use speaker notes for a deeper model response.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46</a:t>
            </a:r>
          </a:p>
        </p:txBody>
      </p:sp>
      <p:sp>
        <p:nvSpPr>
          <p:cNvPr id="8" name="Rounded Rectangle 7"/>
          <p:cNvSpPr/>
          <p:nvPr/>
        </p:nvSpPr>
        <p:spPr>
          <a:xfrm>
            <a:off x="59436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417320"/>
            <a:ext cx="64008" cy="173736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1. Design near-real-time analytics for 10K tenants</a:t>
            </a:r>
          </a:p>
        </p:txBody>
      </p:sp>
      <p:sp>
        <p:nvSpPr>
          <p:cNvPr id="11" name="TextBox 10"/>
          <p:cNvSpPr txBox="1"/>
          <p:nvPr/>
        </p:nvSpPr>
        <p:spPr>
          <a:xfrm>
            <a:off x="80467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Shared CDC + lakehouse with tenant-keyed records, policy enforcement, per-tenant lag/SLOs, workload isolation, and optional dedicated tiers.</a:t>
            </a:r>
          </a:p>
        </p:txBody>
      </p:sp>
      <p:sp>
        <p:nvSpPr>
          <p:cNvPr id="12" name="Rounded Rectangle 11"/>
          <p:cNvSpPr/>
          <p:nvPr/>
        </p:nvSpPr>
        <p:spPr>
          <a:xfrm>
            <a:off x="626364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417320"/>
            <a:ext cx="64008" cy="173736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7395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2. Guarantee exactly-once financial reporting</a:t>
            </a:r>
          </a:p>
        </p:txBody>
      </p:sp>
      <p:sp>
        <p:nvSpPr>
          <p:cNvPr id="15" name="TextBox 14"/>
          <p:cNvSpPr txBox="1"/>
          <p:nvPr/>
        </p:nvSpPr>
        <p:spPr>
          <a:xfrm>
            <a:off x="647395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Preserve source transaction identity/order, idempotently merge, atomically track progress, enforce accounting invariants, and reconcile control totals.</a:t>
            </a:r>
          </a:p>
        </p:txBody>
      </p:sp>
      <p:sp>
        <p:nvSpPr>
          <p:cNvPr id="16" name="Rounded Rectangle 15"/>
          <p:cNvSpPr/>
          <p:nvPr/>
        </p:nvSpPr>
        <p:spPr>
          <a:xfrm>
            <a:off x="59436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4360" y="3593591"/>
            <a:ext cx="64008" cy="173736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467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3. Support tenant custom fields at scale</a:t>
            </a:r>
          </a:p>
        </p:txBody>
      </p:sp>
      <p:sp>
        <p:nvSpPr>
          <p:cNvPr id="19" name="TextBox 18"/>
          <p:cNvSpPr txBox="1"/>
          <p:nvPr/>
        </p:nvSpPr>
        <p:spPr>
          <a:xfrm>
            <a:off x="80467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Stable core schema plus typed extension/JSON map in Bronze-Silver; promote governed fields selectively; never create uncontrolled columns per tenant.</a:t>
            </a:r>
          </a:p>
        </p:txBody>
      </p:sp>
      <p:sp>
        <p:nvSpPr>
          <p:cNvPr id="20" name="Rounded Rectangle 19"/>
          <p:cNvSpPr/>
          <p:nvPr/>
        </p:nvSpPr>
        <p:spPr>
          <a:xfrm>
            <a:off x="626364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3593591"/>
            <a:ext cx="64008" cy="173736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7395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4. Handle closed-period corrections</a:t>
            </a:r>
          </a:p>
        </p:txBody>
      </p:sp>
      <p:sp>
        <p:nvSpPr>
          <p:cNvPr id="23" name="TextBox 22"/>
          <p:cNvSpPr txBox="1"/>
          <p:nvPr/>
        </p:nvSpPr>
        <p:spPr>
          <a:xfrm>
            <a:off x="647395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Retain immutable history, post reversal/adjustment entries, version as-of facts, rebuild affected aggregates, and expose restatement lineage.</a:t>
            </a:r>
          </a:p>
        </p:txBody>
      </p:sp>
      <p:sp>
        <p:nvSpPr>
          <p:cNvPr id="24" name="TextBox 23"/>
          <p:cNvSpPr txBox="1"/>
          <p:nvPr/>
        </p:nvSpPr>
        <p:spPr>
          <a:xfrm>
            <a:off x="914400" y="5989320"/>
            <a:ext cx="10332720" cy="256032"/>
          </a:xfrm>
          <a:prstGeom prst="rect">
            <a:avLst/>
          </a:prstGeom>
          <a:noFill/>
        </p:spPr>
        <p:txBody>
          <a:bodyPr wrap="none" lIns="45720" rIns="45720" anchor="t">
            <a:spAutoFit/>
          </a:bodyPr>
          <a:lstStyle/>
          <a:p>
            <a:pPr algn="ctr">
              <a:spcAft>
                <a:spcPts val="0"/>
              </a:spcAft>
            </a:pPr>
            <a:r>
              <a:rPr sz="1000" b="1" i="0">
                <a:solidFill>
                  <a:srgbClr val="007874"/>
                </a:solidFill>
                <a:latin typeface="Aptos"/>
              </a:rPr>
              <a:t>What interviewers are testing: tenant isolation • ordering • idempotency • extensibility • auditability</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INTERVIEW</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Complex AI ERP interview Q&amp;A — 5 to 8</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AI features add authorization, point-in-time correctness, grounding, and evaluation requirements.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47</a:t>
            </a:r>
          </a:p>
        </p:txBody>
      </p:sp>
      <p:sp>
        <p:nvSpPr>
          <p:cNvPr id="8" name="Rounded Rectangle 7"/>
          <p:cNvSpPr/>
          <p:nvPr/>
        </p:nvSpPr>
        <p:spPr>
          <a:xfrm>
            <a:off x="59436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417320"/>
            <a:ext cx="64008" cy="173736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5. Build an ERP copilot over tables and documents</a:t>
            </a:r>
          </a:p>
        </p:txBody>
      </p:sp>
      <p:sp>
        <p:nvSpPr>
          <p:cNvPr id="11" name="TextBox 10"/>
          <p:cNvSpPr txBox="1"/>
          <p:nvPr/>
        </p:nvSpPr>
        <p:spPr>
          <a:xfrm>
            <a:off x="80467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Use governed SQL plus permission-filtered hybrid retrieval, freshness metadata, citations, an AI gateway, and abstention when evidence is weak.</a:t>
            </a:r>
          </a:p>
        </p:txBody>
      </p:sp>
      <p:sp>
        <p:nvSpPr>
          <p:cNvPr id="12" name="Rounded Rectangle 11"/>
          <p:cNvSpPr/>
          <p:nvPr/>
        </p:nvSpPr>
        <p:spPr>
          <a:xfrm>
            <a:off x="626364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417320"/>
            <a:ext cx="64008" cy="173736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7395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6. Prevent cross-tenant leakage in RAG</a:t>
            </a:r>
          </a:p>
        </p:txBody>
      </p:sp>
      <p:sp>
        <p:nvSpPr>
          <p:cNvPr id="15" name="TextBox 14"/>
          <p:cNvSpPr txBox="1"/>
          <p:nvPr/>
        </p:nvSpPr>
        <p:spPr>
          <a:xfrm>
            <a:off x="647395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Separate namespaces or mandatory tenant filters, propagate ACLs to chunks, tenant-aware caches, adversarial tests, and audited policy decisions.</a:t>
            </a:r>
          </a:p>
        </p:txBody>
      </p:sp>
      <p:sp>
        <p:nvSpPr>
          <p:cNvPr id="16" name="Rounded Rectangle 15"/>
          <p:cNvSpPr/>
          <p:nvPr/>
        </p:nvSpPr>
        <p:spPr>
          <a:xfrm>
            <a:off x="59436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4360" y="3593591"/>
            <a:ext cx="64008" cy="173736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467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7. Create forecasting features without leakage</a:t>
            </a:r>
          </a:p>
        </p:txBody>
      </p:sp>
      <p:sp>
        <p:nvSpPr>
          <p:cNvPr id="19" name="TextBox 18"/>
          <p:cNvSpPr txBox="1"/>
          <p:nvPr/>
        </p:nvSpPr>
        <p:spPr>
          <a:xfrm>
            <a:off x="80467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Event-time snapshots, point-in-time joins, versioned feature definitions, reproducible training sets, and online/offline consistency checks.</a:t>
            </a:r>
          </a:p>
        </p:txBody>
      </p:sp>
      <p:sp>
        <p:nvSpPr>
          <p:cNvPr id="20" name="Rounded Rectangle 19"/>
          <p:cNvSpPr/>
          <p:nvPr/>
        </p:nvSpPr>
        <p:spPr>
          <a:xfrm>
            <a:off x="626364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3593591"/>
            <a:ext cx="64008" cy="173736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7395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8. Measure whether AI answers are trustworthy</a:t>
            </a:r>
          </a:p>
        </p:txBody>
      </p:sp>
      <p:sp>
        <p:nvSpPr>
          <p:cNvPr id="23" name="TextBox 22"/>
          <p:cNvSpPr txBox="1"/>
          <p:nvPr/>
        </p:nvSpPr>
        <p:spPr>
          <a:xfrm>
            <a:off x="647395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Evaluate retrieval recall, citation correctness, groundedness, business-rule accuracy, freshness, abstention, and outcome quality by tenant/use case.</a:t>
            </a:r>
          </a:p>
        </p:txBody>
      </p:sp>
      <p:sp>
        <p:nvSpPr>
          <p:cNvPr id="24" name="TextBox 23"/>
          <p:cNvSpPr txBox="1"/>
          <p:nvPr/>
        </p:nvSpPr>
        <p:spPr>
          <a:xfrm>
            <a:off x="914400" y="5989320"/>
            <a:ext cx="10332720" cy="256032"/>
          </a:xfrm>
          <a:prstGeom prst="rect">
            <a:avLst/>
          </a:prstGeom>
          <a:noFill/>
        </p:spPr>
        <p:txBody>
          <a:bodyPr wrap="none" lIns="45720" rIns="45720" anchor="t">
            <a:spAutoFit/>
          </a:bodyPr>
          <a:lstStyle/>
          <a:p>
            <a:pPr algn="ctr">
              <a:spcAft>
                <a:spcPts val="0"/>
              </a:spcAft>
            </a:pPr>
            <a:r>
              <a:rPr sz="1000" b="1" i="0">
                <a:solidFill>
                  <a:srgbClr val="007874"/>
                </a:solidFill>
                <a:latin typeface="Aptos"/>
              </a:rPr>
              <a:t>What interviewers are testing: secure retrieval • data/ML lineage • evaluation • semantic correctness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INTERVIEW</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Complex AI ERP interview Q&amp;A — 9 to 12</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The strongest answers explain deletion, backfill, month-end scaling, and regional recovery together.</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48</a:t>
            </a:r>
          </a:p>
        </p:txBody>
      </p:sp>
      <p:sp>
        <p:nvSpPr>
          <p:cNvPr id="8" name="Rounded Rectangle 7"/>
          <p:cNvSpPr/>
          <p:nvPr/>
        </p:nvSpPr>
        <p:spPr>
          <a:xfrm>
            <a:off x="59436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417320"/>
            <a:ext cx="64008" cy="173736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9. Delete personal data but retain required audit evidence</a:t>
            </a:r>
          </a:p>
        </p:txBody>
      </p:sp>
      <p:sp>
        <p:nvSpPr>
          <p:cNvPr id="11" name="TextBox 10"/>
          <p:cNvSpPr txBox="1"/>
          <p:nvPr/>
        </p:nvSpPr>
        <p:spPr>
          <a:xfrm>
            <a:off x="80467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Classify fields, tokenize identities, apply purpose-specific retention, delete from derived stores/indexes, and preserve legally required non-PII evidence with approval.</a:t>
            </a:r>
          </a:p>
        </p:txBody>
      </p:sp>
      <p:sp>
        <p:nvSpPr>
          <p:cNvPr id="12" name="Rounded Rectangle 11"/>
          <p:cNvSpPr/>
          <p:nvPr/>
        </p:nvSpPr>
        <p:spPr>
          <a:xfrm>
            <a:off x="626364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63640" y="1417320"/>
            <a:ext cx="64008" cy="173736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7395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10. Backfill two years without hurting live workloads</a:t>
            </a:r>
          </a:p>
        </p:txBody>
      </p:sp>
      <p:sp>
        <p:nvSpPr>
          <p:cNvPr id="15" name="TextBox 14"/>
          <p:cNvSpPr txBox="1"/>
          <p:nvPr/>
        </p:nvSpPr>
        <p:spPr>
          <a:xfrm>
            <a:off x="647395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Use immutable snapshots, isolated compute and quotas, partitioned incremental publication, validation/control totals, and resumable audited run manifests.</a:t>
            </a:r>
          </a:p>
        </p:txBody>
      </p:sp>
      <p:sp>
        <p:nvSpPr>
          <p:cNvPr id="16" name="Rounded Rectangle 15"/>
          <p:cNvSpPr/>
          <p:nvPr/>
        </p:nvSpPr>
        <p:spPr>
          <a:xfrm>
            <a:off x="59436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4360" y="3593591"/>
            <a:ext cx="64008" cy="173736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467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11. Survive a 10× month-end close spike</a:t>
            </a:r>
          </a:p>
        </p:txBody>
      </p:sp>
      <p:sp>
        <p:nvSpPr>
          <p:cNvPr id="19" name="TextBox 18"/>
          <p:cNvSpPr txBox="1"/>
          <p:nvPr/>
        </p:nvSpPr>
        <p:spPr>
          <a:xfrm>
            <a:off x="80467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Buffer CDC, pre-scale, isolate hot tenants/legal entities, prioritize critical ledgers, use fair scheduling, and serve labeled stale analytics if necessary.</a:t>
            </a:r>
          </a:p>
        </p:txBody>
      </p:sp>
      <p:sp>
        <p:nvSpPr>
          <p:cNvPr id="20" name="Rounded Rectangle 19"/>
          <p:cNvSpPr/>
          <p:nvPr/>
        </p:nvSpPr>
        <p:spPr>
          <a:xfrm>
            <a:off x="626364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3593591"/>
            <a:ext cx="64008" cy="173736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7395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12. Recover from a region outage with residency rules</a:t>
            </a:r>
          </a:p>
        </p:txBody>
      </p:sp>
      <p:sp>
        <p:nvSpPr>
          <p:cNvPr id="23" name="TextBox 22"/>
          <p:cNvSpPr txBox="1"/>
          <p:nvPr/>
        </p:nvSpPr>
        <p:spPr>
          <a:xfrm>
            <a:off x="647395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Define data-class RPO/RTO, keep allowed regional copies, replicate catalog/code/checkpoints, rebuild derived AI indexes, and regularly exercise failover.</a:t>
            </a:r>
          </a:p>
        </p:txBody>
      </p:sp>
      <p:sp>
        <p:nvSpPr>
          <p:cNvPr id="24" name="TextBox 23"/>
          <p:cNvSpPr txBox="1"/>
          <p:nvPr/>
        </p:nvSpPr>
        <p:spPr>
          <a:xfrm>
            <a:off x="914400" y="5989320"/>
            <a:ext cx="10332720" cy="256032"/>
          </a:xfrm>
          <a:prstGeom prst="rect">
            <a:avLst/>
          </a:prstGeom>
          <a:noFill/>
        </p:spPr>
        <p:txBody>
          <a:bodyPr wrap="none" lIns="45720" rIns="45720" anchor="t">
            <a:spAutoFit/>
          </a:bodyPr>
          <a:lstStyle/>
          <a:p>
            <a:pPr algn="ctr">
              <a:spcAft>
                <a:spcPts val="0"/>
              </a:spcAft>
            </a:pPr>
            <a:r>
              <a:rPr sz="1000" b="1" i="0">
                <a:solidFill>
                  <a:srgbClr val="007874"/>
                </a:solidFill>
                <a:latin typeface="Aptos"/>
              </a:rPr>
              <a:t>What interviewers are testing: privacy • operability • capacity planning • disaster recovery • compliance trade-offs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REFERENCES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Sources, scope, and implementation notes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This deck is an educational synthesis of the material supplied in the prompt.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49</a:t>
            </a:r>
          </a:p>
        </p:txBody>
      </p:sp>
      <p:sp>
        <p:nvSpPr>
          <p:cNvPr id="8" name="TextBox 7"/>
          <p:cNvSpPr txBox="1"/>
          <p:nvPr/>
        </p:nvSpPr>
        <p:spPr>
          <a:xfrm>
            <a:off x="685800" y="1508760"/>
            <a:ext cx="2011680" cy="274320"/>
          </a:xfrm>
          <a:prstGeom prst="rect">
            <a:avLst/>
          </a:prstGeom>
          <a:noFill/>
        </p:spPr>
        <p:txBody>
          <a:bodyPr wrap="none" lIns="45720" rIns="45720" anchor="t">
            <a:spAutoFit/>
          </a:bodyPr>
          <a:lstStyle/>
          <a:p>
            <a:pPr algn="l">
              <a:spcAft>
                <a:spcPts val="0"/>
              </a:spcAft>
            </a:pPr>
            <a:r>
              <a:rPr sz="1500" b="1" i="0">
                <a:solidFill>
                  <a:srgbClr val="0C1930"/>
                </a:solidFill>
                <a:latin typeface="Aptos"/>
              </a:rPr>
              <a:t>Primary source</a:t>
            </a:r>
          </a:p>
        </p:txBody>
      </p:sp>
      <p:sp>
        <p:nvSpPr>
          <p:cNvPr id="9" name="TextBox 8"/>
          <p:cNvSpPr txBox="1"/>
          <p:nvPr/>
        </p:nvSpPr>
        <p:spPr>
          <a:xfrm>
            <a:off x="713232" y="1874519"/>
            <a:ext cx="10698480" cy="640080"/>
          </a:xfrm>
          <a:prstGeom prst="rect">
            <a:avLst/>
          </a:prstGeom>
          <a:noFill/>
        </p:spPr>
        <p:txBody>
          <a:bodyPr wrap="none" lIns="45720" rIns="45720" anchor="t">
            <a:spAutoFit/>
          </a:bodyPr>
          <a:lstStyle/>
          <a:p>
            <a:pPr algn="l">
              <a:spcAft>
                <a:spcPts val="0"/>
              </a:spcAft>
            </a:pPr>
            <a:r>
              <a:rPr sz="1300" b="0" i="0">
                <a:solidFill>
                  <a:srgbClr val="253042"/>
                </a:solidFill>
                <a:latin typeface="Aptos"/>
              </a:rPr>
              <a:t>Afaque Ahmad, “How I Mastered System Design Interviews”
https://www.youtube.com/watch?v=r58Cf_kc_bY</a:t>
            </a:r>
          </a:p>
        </p:txBody>
      </p:sp>
      <p:sp>
        <p:nvSpPr>
          <p:cNvPr id="10" name="TextBox 9"/>
          <p:cNvSpPr txBox="1"/>
          <p:nvPr/>
        </p:nvSpPr>
        <p:spPr>
          <a:xfrm>
            <a:off x="685800" y="2788920"/>
            <a:ext cx="2011680" cy="274320"/>
          </a:xfrm>
          <a:prstGeom prst="rect">
            <a:avLst/>
          </a:prstGeom>
          <a:noFill/>
        </p:spPr>
        <p:txBody>
          <a:bodyPr wrap="none" lIns="45720" rIns="45720" anchor="t">
            <a:spAutoFit/>
          </a:bodyPr>
          <a:lstStyle/>
          <a:p>
            <a:pPr algn="l">
              <a:spcAft>
                <a:spcPts val="0"/>
              </a:spcAft>
            </a:pPr>
            <a:r>
              <a:rPr sz="1500" b="1" i="0">
                <a:solidFill>
                  <a:srgbClr val="0C1930"/>
                </a:solidFill>
                <a:latin typeface="Aptos"/>
              </a:rPr>
              <a:t>Scope</a:t>
            </a:r>
          </a:p>
        </p:txBody>
      </p:sp>
      <p:sp>
        <p:nvSpPr>
          <p:cNvPr id="11" name="TextBox 10"/>
          <p:cNvSpPr txBox="1"/>
          <p:nvPr/>
        </p:nvSpPr>
        <p:spPr>
          <a:xfrm>
            <a:off x="713232" y="3182112"/>
            <a:ext cx="10652760" cy="2057400"/>
          </a:xfrm>
          <a:prstGeom prst="rect">
            <a:avLst/>
          </a:prstGeom>
          <a:noFill/>
        </p:spPr>
        <p:txBody>
          <a:bodyPr wrap="none" lIns="64008" tIns="27432" rIns="36576" bIns="27432">
            <a:spAutoFit/>
          </a:bodyPr>
          <a:lstStyle/>
          <a:p>
            <a:pPr>
              <a:lnSpc>
                <a:spcPct val="105000"/>
              </a:lnSpc>
              <a:spcAft>
                <a:spcPts val="900"/>
              </a:spcAft>
            </a:pPr>
            <a:r>
              <a:rPr b="1">
                <a:solidFill>
                  <a:srgbClr val="00AAA0"/>
                </a:solidFill>
              </a:rPr>
              <a:t>• </a:t>
            </a:r>
            <a:r>
              <a:rPr sz="1100">
                <a:solidFill>
                  <a:srgbClr val="253042"/>
                </a:solidFill>
                <a:latin typeface="Aptos"/>
              </a:rPr>
              <a:t>Framework, examples, timestamps, scale estimates, and initial Delta Lake/Spark snippets were provided by the user.</a:t>
            </a:r>
          </a:p>
          <a:p>
            <a:pPr>
              <a:lnSpc>
                <a:spcPct val="105000"/>
              </a:lnSpc>
              <a:spcAft>
                <a:spcPts val="900"/>
              </a:spcAft>
            </a:pPr>
            <a:r>
              <a:rPr b="1">
                <a:solidFill>
                  <a:srgbClr val="00AAA0"/>
                </a:solidFill>
              </a:rPr>
              <a:t>• </a:t>
            </a:r>
            <a:r>
              <a:rPr sz="1100">
                <a:solidFill>
                  <a:srgbClr val="253042"/>
                </a:solidFill>
                <a:latin typeface="Aptos"/>
              </a:rPr>
              <a:t>The presentation reorganizes and expands those ideas into a reusable system-design method and interview narrative.</a:t>
            </a:r>
          </a:p>
          <a:p>
            <a:pPr>
              <a:lnSpc>
                <a:spcPct val="105000"/>
              </a:lnSpc>
              <a:spcAft>
                <a:spcPts val="900"/>
              </a:spcAft>
            </a:pPr>
            <a:r>
              <a:rPr b="1">
                <a:solidFill>
                  <a:srgbClr val="00AAA0"/>
                </a:solidFill>
              </a:rPr>
              <a:t>• </a:t>
            </a:r>
            <a:r>
              <a:rPr sz="1100">
                <a:solidFill>
                  <a:srgbClr val="253042"/>
                </a:solidFill>
                <a:latin typeface="Aptos"/>
              </a:rPr>
              <a:t>Technology names are examples, not universal recommendations; validate runtime/version behavior in your environment.</a:t>
            </a:r>
          </a:p>
          <a:p>
            <a:pPr>
              <a:lnSpc>
                <a:spcPct val="105000"/>
              </a:lnSpc>
              <a:spcAft>
                <a:spcPts val="900"/>
              </a:spcAft>
            </a:pPr>
            <a:r>
              <a:rPr b="1">
                <a:solidFill>
                  <a:srgbClr val="00AAA0"/>
                </a:solidFill>
              </a:rPr>
              <a:t>• </a:t>
            </a:r>
            <a:r>
              <a:rPr sz="1100">
                <a:solidFill>
                  <a:srgbClr val="253042"/>
                </a:solidFill>
                <a:latin typeface="Aptos"/>
              </a:rPr>
              <a:t>The streaming idempotency slide corrects the supplied MERGE-builder transaction-option pattern and emphasizes deterministic MERGE plus checkpointed progress.</a:t>
            </a:r>
          </a:p>
        </p:txBody>
      </p:sp>
      <p:sp>
        <p:nvSpPr>
          <p:cNvPr id="12" name="Rounded Rectangle 11"/>
          <p:cNvSpPr/>
          <p:nvPr/>
        </p:nvSpPr>
        <p:spPr>
          <a:xfrm>
            <a:off x="914400" y="5623560"/>
            <a:ext cx="10332720" cy="64008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60704" y="5742432"/>
            <a:ext cx="10058400" cy="457199"/>
          </a:xfrm>
          <a:prstGeom prst="rect">
            <a:avLst/>
          </a:prstGeom>
          <a:noFill/>
        </p:spPr>
        <p:txBody>
          <a:bodyPr wrap="none" lIns="45720" rIns="45720" anchor="t">
            <a:spAutoFit/>
          </a:bodyPr>
          <a:lstStyle/>
          <a:p>
            <a:pPr algn="l">
              <a:spcAft>
                <a:spcPts val="0"/>
              </a:spcAft>
            </a:pPr>
            <a:r>
              <a:rPr sz="1100" b="1" i="0">
                <a:solidFill>
                  <a:srgbClr val="0C1930"/>
                </a:solidFill>
                <a:latin typeface="Aptos"/>
              </a:rPr>
              <a:t>Use the deck as a framework: replace assumptions and components based on the exact prompt, organization, cloud, team, and compliance context.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15892</Words>
  <Application>Microsoft Office PowerPoint</Application>
  <PresentationFormat>Widescreen</PresentationFormat>
  <Paragraphs>1712</Paragraphs>
  <Slides>49</Slides>
  <Notes>49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Aptos</vt:lpstr>
      <vt:lpstr>Arial</vt:lpstr>
      <vt:lpstr>Calibri</vt:lpstr>
      <vt:lpstr>Cascadia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Engineering System Design Interview Playbook</dc:title>
  <dc:subject>Six-step framework for requirements, pipelines, modeling, storage, quality, and operations</dc:subject>
  <dc:creator>Kiro</dc:creator>
  <cp:keywords>data engineering, system design, Delta Lake, Spark, interview, lakehouse</cp:keywords>
  <dc:description>Includes plain-language speaker notes on every slide. Based on the user-provided summary of Afaque Ahmad's video.</dc:description>
  <cp:lastModifiedBy>Ruddarraju, Ganesh</cp:lastModifiedBy>
  <cp:revision>2</cp:revision>
  <dcterms:created xsi:type="dcterms:W3CDTF">2013-01-27T09:14:16Z</dcterms:created>
  <dcterms:modified xsi:type="dcterms:W3CDTF">2026-09-24T15:59:26Z</dcterms:modified>
  <cp:category/>
</cp:coreProperties>
</file>